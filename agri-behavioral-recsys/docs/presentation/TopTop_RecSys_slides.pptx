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2.xml" ContentType="application/vnd.openxmlformats-officedocument.drawingml.chart+xml"/>
  <Override PartName="/ppt/notesSlides/notesSlide17.xml" ContentType="application/vnd.openxmlformats-officedocument.presentationml.notesSlide+xml"/>
  <Override PartName="/ppt/charts/chart3.xml" ContentType="application/vnd.openxmlformats-officedocument.drawingml.chart+xml"/>
  <Override PartName="/ppt/notesSlides/notesSlide18.xml" ContentType="application/vnd.openxmlformats-officedocument.presentationml.notesSlide+xml"/>
  <Override PartName="/ppt/charts/chart4.xml" ContentType="application/vnd.openxmlformats-officedocument.drawingml.chart+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 Mở đầu" id="{21EA2C76-32D0-05F3-989A-556C3059427C}">
          <p14:sldIdLst>
            <p14:sldId id="256"/>
            <p14:sldId id="257"/>
            <p14:sldId id="258"/>
            <p14:sldId id="259"/>
          </p14:sldIdLst>
        </p14:section>
        <p14:section name="B. Dữ liệu" id="{1E234650-81D5-2357-C474-B79A749248E2}">
          <p14:sldIdLst>
            <p14:sldId id="260"/>
            <p14:sldId id="261"/>
            <p14:sldId id="262"/>
          </p14:sldIdLst>
        </p14:section>
        <p14:section name="C. Công cụ và đánh giá" id="{2DE27C33-36BF-4BB3-9320-41C65961FB0D}">
          <p14:sldIdLst>
            <p14:sldId id="263"/>
            <p14:sldId id="264"/>
          </p14:sldIdLst>
        </p14:section>
        <p14:section name="D. Ba mô hình" id="{16E8C5A2-6394-5FD3-CBEE-3B502163FF14}">
          <p14:sldIdLst>
            <p14:sldId id="265"/>
            <p14:sldId id="266"/>
            <p14:sldId id="267"/>
            <p14:sldId id="268"/>
            <p14:sldId id="269"/>
            <p14:sldId id="270"/>
          </p14:sldIdLst>
        </p14:section>
        <p14:section name="E. Kết quả" id="{901253C3-8214-14B7-547C-1FA6BDD0E5A5}">
          <p14:sldIdLst>
            <p14:sldId id="271"/>
            <p14:sldId id="272"/>
            <p14:sldId id="273"/>
          </p14:sldIdLst>
        </p14:section>
        <p14:section name="F. Hệ thống và kết luận" id="{0DCF1E69-1441-9F24-1552-C27240618D8D}">
          <p14:sldIdLst>
            <p14:sldId id="274"/>
            <p14:sldId id="275"/>
          </p14:sldIdLst>
        </p14:section>
        <p14:section name="Phụ lục (dự phòng)" id="{8CB3E1B1-52DF-A6B8-D680-0EDB32735D03}">
          <p14:sldIdLst>
            <p14:sldId id="276"/>
            <p14:sldId id="277"/>
            <p14:sldId id="278"/>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5" d="100"/>
          <a:sy n="85" d="100"/>
        </p:scale>
        <p:origin x="562"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F4D2B"/>
                </a:solidFill>
                <a:latin typeface="Calibri"/>
              </a:defRPr>
            </a:pPr>
            <a:r>
              <a:rPr lang="en-US" sz="1400" b="0" i="0" u="none" strike="noStrike">
                <a:solidFill>
                  <a:srgbClr val="1F4D2B"/>
                </a:solidFill>
                <a:latin typeface="Calibri"/>
              </a:rPr>
              <a:t>Coat: phân phối rating (% số đánh giá)</a:t>
            </a:r>
          </a:p>
        </c:rich>
      </c:tx>
      <c:overlay val="0"/>
    </c:title>
    <c:autoTitleDeleted val="0"/>
    <c:plotArea>
      <c:layout/>
      <c:barChart>
        <c:barDir val="col"/>
        <c:grouping val="clustered"/>
        <c:varyColors val="0"/>
        <c:ser>
          <c:idx val="0"/>
          <c:order val="0"/>
          <c:tx>
            <c:strRef>
              <c:f>Sheet1!$B$1</c:f>
              <c:strCache>
                <c:ptCount val="1"/>
                <c:pt idx="0">
                  <c:v>Train (tự chọn)</c:v>
                </c:pt>
              </c:strCache>
            </c:strRef>
          </c:tx>
          <c:spPr>
            <a:solidFill>
              <a:srgbClr val="3E7D3A"/>
            </a:solidFill>
            <a:effectLst/>
          </c:spPr>
          <c:invertIfNegative val="0"/>
          <c:dLbls>
            <c:numFmt formatCode="0.0" sourceLinked="0"/>
            <c:spPr>
              <a:noFill/>
              <a:ln>
                <a:noFill/>
              </a:ln>
              <a:effectLst/>
            </c:spPr>
            <c:txPr>
              <a:bodyPr/>
              <a:lstStyle/>
              <a:p>
                <a:pPr>
                  <a:defRPr sz="1200" b="0" i="0" u="none" strike="noStrike">
                    <a:solidFill>
                      <a:srgbClr val="1B2A1F"/>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1★</c:v>
                </c:pt>
                <c:pt idx="1">
                  <c:v>2★</c:v>
                </c:pt>
                <c:pt idx="2">
                  <c:v>3★</c:v>
                </c:pt>
                <c:pt idx="3">
                  <c:v>4★</c:v>
                </c:pt>
                <c:pt idx="4">
                  <c:v>5★</c:v>
                </c:pt>
              </c:strCache>
            </c:strRef>
          </c:cat>
          <c:val>
            <c:numRef>
              <c:f>Sheet1!$B$2:$B$6</c:f>
              <c:numCache>
                <c:formatCode>General</c:formatCode>
                <c:ptCount val="5"/>
                <c:pt idx="0">
                  <c:v>27.3</c:v>
                </c:pt>
                <c:pt idx="1">
                  <c:v>20.6</c:v>
                </c:pt>
                <c:pt idx="2">
                  <c:v>24.7</c:v>
                </c:pt>
                <c:pt idx="3">
                  <c:v>18.3</c:v>
                </c:pt>
                <c:pt idx="4">
                  <c:v>9.1</c:v>
                </c:pt>
              </c:numCache>
            </c:numRef>
          </c:val>
          <c:extLst>
            <c:ext xmlns:c16="http://schemas.microsoft.com/office/drawing/2014/chart" uri="{C3380CC4-5D6E-409C-BE32-E72D297353CC}">
              <c16:uniqueId val="{00000000-854B-43FF-8DF1-7991F0457AB7}"/>
            </c:ext>
          </c:extLst>
        </c:ser>
        <c:ser>
          <c:idx val="1"/>
          <c:order val="1"/>
          <c:tx>
            <c:strRef>
              <c:f>Sheet1!$C$1</c:f>
              <c:strCache>
                <c:ptCount val="1"/>
                <c:pt idx="0">
                  <c:v>Test (hiển thị ngẫu nhiên)</c:v>
                </c:pt>
              </c:strCache>
            </c:strRef>
          </c:tx>
          <c:spPr>
            <a:solidFill>
              <a:srgbClr val="E07B1F"/>
            </a:solidFill>
            <a:effectLst/>
          </c:spPr>
          <c:invertIfNegative val="0"/>
          <c:dLbls>
            <c:numFmt formatCode="0.0" sourceLinked="0"/>
            <c:spPr>
              <a:noFill/>
              <a:ln>
                <a:noFill/>
              </a:ln>
              <a:effectLst/>
            </c:spPr>
            <c:txPr>
              <a:bodyPr/>
              <a:lstStyle/>
              <a:p>
                <a:pPr>
                  <a:defRPr sz="1200" b="0" i="0" u="none" strike="noStrike">
                    <a:solidFill>
                      <a:srgbClr val="1B2A1F"/>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1★</c:v>
                </c:pt>
                <c:pt idx="1">
                  <c:v>2★</c:v>
                </c:pt>
                <c:pt idx="2">
                  <c:v>3★</c:v>
                </c:pt>
                <c:pt idx="3">
                  <c:v>4★</c:v>
                </c:pt>
                <c:pt idx="4">
                  <c:v>5★</c:v>
                </c:pt>
              </c:strCache>
            </c:strRef>
          </c:cat>
          <c:val>
            <c:numRef>
              <c:f>Sheet1!$C$2:$C$6</c:f>
              <c:numCache>
                <c:formatCode>General</c:formatCode>
                <c:ptCount val="5"/>
                <c:pt idx="0">
                  <c:v>40.5</c:v>
                </c:pt>
                <c:pt idx="1">
                  <c:v>19.399999999999999</c:v>
                </c:pt>
                <c:pt idx="2">
                  <c:v>21.6</c:v>
                </c:pt>
                <c:pt idx="3">
                  <c:v>13.8</c:v>
                </c:pt>
                <c:pt idx="4">
                  <c:v>4.7</c:v>
                </c:pt>
              </c:numCache>
            </c:numRef>
          </c:val>
          <c:extLst>
            <c:ext xmlns:c16="http://schemas.microsoft.com/office/drawing/2014/chart" uri="{C3380CC4-5D6E-409C-BE32-E72D297353CC}">
              <c16:uniqueId val="{00000001-854B-43FF-8DF1-7991F0457AB7}"/>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A1F"/>
                </a:solidFill>
                <a:latin typeface="Calibri"/>
              </a:defRPr>
            </a:pPr>
            <a:endParaRPr lang="en-US"/>
          </a:p>
        </c:txPr>
        <c:crossAx val="2094734552"/>
        <c:crosses val="autoZero"/>
        <c:auto val="1"/>
        <c:lblAlgn val="ctr"/>
        <c:lblOffset val="100"/>
        <c:noMultiLvlLbl val="1"/>
      </c:catAx>
      <c:valAx>
        <c:axId val="2094734552"/>
        <c:scaling>
          <c:orientation val="minMax"/>
          <c:max val="50"/>
          <c:min val="0"/>
        </c:scaling>
        <c:delete val="0"/>
        <c:axPos val="l"/>
        <c:majorGridlines>
          <c:spPr>
            <a:ln w="6350" cap="flat">
              <a:solidFill>
                <a:srgbClr val="D9E2D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C6B5F"/>
                </a:solidFill>
                <a:latin typeface="Calibri"/>
              </a:defRPr>
            </a:pPr>
            <a:endParaRPr lang="en-US"/>
          </a:p>
        </c:txPr>
        <c:crossAx val="2094734554"/>
        <c:crosses val="autoZero"/>
        <c:crossBetween val="between"/>
      </c:valAx>
      <c:spPr>
        <a:noFill/>
        <a:ln>
          <a:noFill/>
        </a:ln>
        <a:effectLst/>
      </c:spPr>
    </c:plotArea>
    <c:legend>
      <c:legendPos val="b"/>
      <c:layout>
        <c:manualLayout>
          <c:xMode val="edge"/>
          <c:yMode val="edge"/>
          <c:x val="0.25093406560481307"/>
          <c:y val="0.92921062150884981"/>
          <c:w val="0.5057422188664773"/>
          <c:h val="5.4763737465509117E-2"/>
        </c:manualLayout>
      </c:layout>
      <c:overlay val="0"/>
      <c:txPr>
        <a:bodyPr/>
        <a:lstStyle/>
        <a:p>
          <a:pPr>
            <a:defRPr sz="1200">
              <a:solidFill>
                <a:srgbClr val="1B2A1F"/>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F4D2B"/>
                </a:solidFill>
                <a:latin typeface="Calibri"/>
              </a:defRPr>
            </a:pPr>
            <a:r>
              <a:rPr lang="en-US" sz="1400" b="0" i="0" u="none" strike="noStrike">
                <a:solidFill>
                  <a:srgbClr val="1F4D2B"/>
                </a:solidFill>
                <a:latin typeface="Calibri"/>
              </a:rPr>
              <a:t>NDCG@5 trên Coat</a:t>
            </a:r>
          </a:p>
        </c:rich>
      </c:tx>
      <c:overlay val="0"/>
    </c:title>
    <c:autoTitleDeleted val="0"/>
    <c:plotArea>
      <c:layout/>
      <c:barChart>
        <c:barDir val="col"/>
        <c:grouping val="clustered"/>
        <c:varyColors val="0"/>
        <c:ser>
          <c:idx val="0"/>
          <c:order val="0"/>
          <c:tx>
            <c:strRef>
              <c:f>Sheet1!$B$1</c:f>
              <c:strCache>
                <c:ptCount val="1"/>
                <c:pt idx="0">
                  <c:v>Local (10 seed)</c:v>
                </c:pt>
              </c:strCache>
            </c:strRef>
          </c:tx>
          <c:spPr>
            <a:solidFill>
              <a:srgbClr val="3E7D3A"/>
            </a:solidFill>
            <a:effectLst/>
          </c:spPr>
          <c:invertIfNegative val="0"/>
          <c:dLbls>
            <c:numFmt formatCode="0.000" sourceLinked="0"/>
            <c:spPr>
              <a:noFill/>
              <a:ln>
                <a:noFill/>
              </a:ln>
              <a:effectLst/>
            </c:spPr>
            <c:txPr>
              <a:bodyPr/>
              <a:lstStyle/>
              <a:p>
                <a:pPr>
                  <a:defRPr sz="1100" b="0" i="0" u="none" strike="noStrike">
                    <a:solidFill>
                      <a:srgbClr val="1B2A1F"/>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MF</c:v>
                </c:pt>
                <c:pt idx="1">
                  <c:v>DR-BIAS + CDR</c:v>
                </c:pt>
                <c:pt idx="2">
                  <c:v>IViDR joint (cũ)</c:v>
                </c:pt>
                <c:pt idx="3">
                  <c:v>IViDR 2 giai đoạn</c:v>
                </c:pt>
                <c:pt idx="4">
                  <c:v>iDCF (tham chiếu)</c:v>
                </c:pt>
              </c:strCache>
            </c:strRef>
          </c:cat>
          <c:val>
            <c:numRef>
              <c:f>Sheet1!$B$2:$B$6</c:f>
              <c:numCache>
                <c:formatCode>General</c:formatCode>
                <c:ptCount val="5"/>
                <c:pt idx="0">
                  <c:v>0.54020000000000001</c:v>
                </c:pt>
                <c:pt idx="1">
                  <c:v>0.50870000000000004</c:v>
                </c:pt>
                <c:pt idx="2">
                  <c:v>0.54400000000000004</c:v>
                </c:pt>
                <c:pt idx="3">
                  <c:v>0.57120000000000004</c:v>
                </c:pt>
                <c:pt idx="4">
                  <c:v>0.57040000000000002</c:v>
                </c:pt>
              </c:numCache>
            </c:numRef>
          </c:val>
          <c:extLst>
            <c:ext xmlns:c16="http://schemas.microsoft.com/office/drawing/2014/chart" uri="{C3380CC4-5D6E-409C-BE32-E72D297353CC}">
              <c16:uniqueId val="{00000000-9C5A-4986-95C6-4B8F2465F09E}"/>
            </c:ext>
          </c:extLst>
        </c:ser>
        <c:ser>
          <c:idx val="1"/>
          <c:order val="1"/>
          <c:tx>
            <c:strRef>
              <c:f>Sheet1!$C$1</c:f>
              <c:strCache>
                <c:ptCount val="1"/>
                <c:pt idx="0">
                  <c:v>Bài báo</c:v>
                </c:pt>
              </c:strCache>
            </c:strRef>
          </c:tx>
          <c:spPr>
            <a:solidFill>
              <a:srgbClr val="B9C4B0"/>
            </a:solidFill>
            <a:effectLst/>
          </c:spPr>
          <c:invertIfNegative val="0"/>
          <c:dLbls>
            <c:numFmt formatCode="0.000" sourceLinked="0"/>
            <c:spPr>
              <a:noFill/>
              <a:ln>
                <a:noFill/>
              </a:ln>
              <a:effectLst/>
            </c:spPr>
            <c:txPr>
              <a:bodyPr/>
              <a:lstStyle/>
              <a:p>
                <a:pPr>
                  <a:defRPr sz="1100" b="0" i="0" u="none" strike="noStrike">
                    <a:solidFill>
                      <a:srgbClr val="1B2A1F"/>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MF</c:v>
                </c:pt>
                <c:pt idx="1">
                  <c:v>DR-BIAS + CDR</c:v>
                </c:pt>
                <c:pt idx="2">
                  <c:v>IViDR joint (cũ)</c:v>
                </c:pt>
                <c:pt idx="3">
                  <c:v>IViDR 2 giai đoạn</c:v>
                </c:pt>
                <c:pt idx="4">
                  <c:v>iDCF (tham chiếu)</c:v>
                </c:pt>
              </c:strCache>
            </c:strRef>
          </c:cat>
          <c:val>
            <c:numRef>
              <c:f>Sheet1!$C$2:$C$6</c:f>
              <c:numCache>
                <c:formatCode>General</c:formatCode>
                <c:ptCount val="5"/>
                <c:pt idx="0">
                  <c:v>0.5524</c:v>
                </c:pt>
                <c:pt idx="1">
                  <c:v>0.65669999999999995</c:v>
                </c:pt>
                <c:pt idx="2">
                  <c:v>0.59030000000000005</c:v>
                </c:pt>
                <c:pt idx="3">
                  <c:v>0.59030000000000005</c:v>
                </c:pt>
                <c:pt idx="4">
                  <c:v>0.57440000000000002</c:v>
                </c:pt>
              </c:numCache>
            </c:numRef>
          </c:val>
          <c:extLst>
            <c:ext xmlns:c16="http://schemas.microsoft.com/office/drawing/2014/chart" uri="{C3380CC4-5D6E-409C-BE32-E72D297353CC}">
              <c16:uniqueId val="{00000001-9C5A-4986-95C6-4B8F2465F09E}"/>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B2A1F"/>
                </a:solidFill>
                <a:latin typeface="Calibri"/>
              </a:defRPr>
            </a:pPr>
            <a:endParaRPr lang="en-US"/>
          </a:p>
        </c:txPr>
        <c:crossAx val="2094734552"/>
        <c:crosses val="autoZero"/>
        <c:auto val="1"/>
        <c:lblAlgn val="ctr"/>
        <c:lblOffset val="100"/>
        <c:noMultiLvlLbl val="1"/>
      </c:catAx>
      <c:valAx>
        <c:axId val="2094734552"/>
        <c:scaling>
          <c:orientation val="minMax"/>
          <c:max val="0.8"/>
          <c:min val="0"/>
        </c:scaling>
        <c:delete val="0"/>
        <c:axPos val="l"/>
        <c:majorGridlines>
          <c:spPr>
            <a:ln w="6350" cap="flat">
              <a:solidFill>
                <a:srgbClr val="D9E2D0"/>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C6B5F"/>
                </a:solidFill>
                <a:latin typeface="Calibri"/>
              </a:defRPr>
            </a:pPr>
            <a:endParaRPr lang="en-US"/>
          </a:p>
        </c:txPr>
        <c:crossAx val="2094734554"/>
        <c:crosses val="autoZero"/>
        <c:crossBetween val="between"/>
        <c:majorUnit val="0.2"/>
      </c:valAx>
      <c:spPr>
        <a:noFill/>
        <a:ln>
          <a:noFill/>
        </a:ln>
        <a:effectLst/>
      </c:spPr>
    </c:plotArea>
    <c:legend>
      <c:legendPos val="b"/>
      <c:overlay val="0"/>
      <c:txPr>
        <a:bodyPr/>
        <a:lstStyle/>
        <a:p>
          <a:pPr>
            <a:defRPr sz="1200">
              <a:solidFill>
                <a:srgbClr val="1B2A1F"/>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F4D2B"/>
                </a:solidFill>
                <a:latin typeface="Calibri"/>
              </a:defRPr>
            </a:pPr>
            <a:r>
              <a:rPr lang="en-US" sz="1400" b="0" i="0" u="none" strike="noStrike">
                <a:solidFill>
                  <a:srgbClr val="1F4D2B"/>
                </a:solidFill>
                <a:latin typeface="Calibri"/>
              </a:rPr>
              <a:t>NDCG@5 trên KuaiRand (log ngẫu nhiên, 1 seed)</a:t>
            </a:r>
          </a:p>
        </c:rich>
      </c:tx>
      <c:overlay val="0"/>
    </c:title>
    <c:autoTitleDeleted val="0"/>
    <c:plotArea>
      <c:layout/>
      <c:barChart>
        <c:barDir val="col"/>
        <c:grouping val="clustered"/>
        <c:varyColors val="0"/>
        <c:ser>
          <c:idx val="0"/>
          <c:order val="0"/>
          <c:tx>
            <c:strRef>
              <c:f>Sheet1!$B$1</c:f>
              <c:strCache>
                <c:ptCount val="1"/>
                <c:pt idx="0">
                  <c:v>NDCG@5</c:v>
                </c:pt>
              </c:strCache>
            </c:strRef>
          </c:tx>
          <c:spPr>
            <a:solidFill>
              <a:srgbClr val="B9C4B0"/>
            </a:solidFill>
            <a:effectLst/>
          </c:spPr>
          <c:invertIfNegative val="0"/>
          <c:dPt>
            <c:idx val="0"/>
            <c:invertIfNegative val="0"/>
            <c:bubble3D val="0"/>
            <c:spPr>
              <a:solidFill>
                <a:srgbClr val="B9C4B0"/>
              </a:solidFill>
              <a:effectLst/>
            </c:spPr>
            <c:extLst>
              <c:ext xmlns:c16="http://schemas.microsoft.com/office/drawing/2014/chart" uri="{C3380CC4-5D6E-409C-BE32-E72D297353CC}">
                <c16:uniqueId val="{00000001-4C4B-46B6-B54D-C5CB157C82A3}"/>
              </c:ext>
            </c:extLst>
          </c:dPt>
          <c:dPt>
            <c:idx val="1"/>
            <c:invertIfNegative val="0"/>
            <c:bubble3D val="0"/>
            <c:spPr>
              <a:solidFill>
                <a:srgbClr val="8E9A88"/>
              </a:solidFill>
              <a:effectLst/>
            </c:spPr>
            <c:extLst>
              <c:ext xmlns:c16="http://schemas.microsoft.com/office/drawing/2014/chart" uri="{C3380CC4-5D6E-409C-BE32-E72D297353CC}">
                <c16:uniqueId val="{00000003-4C4B-46B6-B54D-C5CB157C82A3}"/>
              </c:ext>
            </c:extLst>
          </c:dPt>
          <c:dPt>
            <c:idx val="2"/>
            <c:invertIfNegative val="0"/>
            <c:bubble3D val="0"/>
            <c:spPr>
              <a:solidFill>
                <a:srgbClr val="E07B1F"/>
              </a:solidFill>
              <a:effectLst/>
            </c:spPr>
            <c:extLst>
              <c:ext xmlns:c16="http://schemas.microsoft.com/office/drawing/2014/chart" uri="{C3380CC4-5D6E-409C-BE32-E72D297353CC}">
                <c16:uniqueId val="{00000005-4C4B-46B6-B54D-C5CB157C82A3}"/>
              </c:ext>
            </c:extLst>
          </c:dPt>
          <c:dPt>
            <c:idx val="3"/>
            <c:invertIfNegative val="0"/>
            <c:bubble3D val="0"/>
            <c:spPr>
              <a:solidFill>
                <a:srgbClr val="6B4FA0"/>
              </a:solidFill>
              <a:effectLst/>
            </c:spPr>
            <c:extLst>
              <c:ext xmlns:c16="http://schemas.microsoft.com/office/drawing/2014/chart" uri="{C3380CC4-5D6E-409C-BE32-E72D297353CC}">
                <c16:uniqueId val="{00000007-4C4B-46B6-B54D-C5CB157C82A3}"/>
              </c:ext>
            </c:extLst>
          </c:dPt>
          <c:dPt>
            <c:idx val="4"/>
            <c:invertIfNegative val="0"/>
            <c:bubble3D val="0"/>
            <c:spPr>
              <a:solidFill>
                <a:srgbClr val="2E6FA3"/>
              </a:solidFill>
              <a:effectLst/>
            </c:spPr>
            <c:extLst>
              <c:ext xmlns:c16="http://schemas.microsoft.com/office/drawing/2014/chart" uri="{C3380CC4-5D6E-409C-BE32-E72D297353CC}">
                <c16:uniqueId val="{00000009-4C4B-46B6-B54D-C5CB157C82A3}"/>
              </c:ext>
            </c:extLst>
          </c:dPt>
          <c:dLbls>
            <c:numFmt formatCode="0.0000" sourceLinked="0"/>
            <c:spPr>
              <a:noFill/>
              <a:ln>
                <a:noFill/>
              </a:ln>
              <a:effectLst/>
            </c:spPr>
            <c:txPr>
              <a:bodyPr/>
              <a:lstStyle/>
              <a:p>
                <a:pPr>
                  <a:defRPr sz="1200" b="0" i="0" u="none" strike="noStrike">
                    <a:solidFill>
                      <a:srgbClr val="1B2A1F"/>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Random</c:v>
                </c:pt>
                <c:pt idx="1">
                  <c:v>Popularity</c:v>
                </c:pt>
                <c:pt idx="2">
                  <c:v>DR-BIAS + CDR</c:v>
                </c:pt>
                <c:pt idx="3">
                  <c:v>IViDR (joint)</c:v>
                </c:pt>
                <c:pt idx="4">
                  <c:v>MF (MSE)</c:v>
                </c:pt>
              </c:strCache>
            </c:strRef>
          </c:cat>
          <c:val>
            <c:numRef>
              <c:f>Sheet1!$B$2:$B$6</c:f>
              <c:numCache>
                <c:formatCode>General</c:formatCode>
                <c:ptCount val="5"/>
                <c:pt idx="0">
                  <c:v>0.25950000000000001</c:v>
                </c:pt>
                <c:pt idx="1">
                  <c:v>0.35780000000000001</c:v>
                </c:pt>
                <c:pt idx="2">
                  <c:v>0.34589999999999999</c:v>
                </c:pt>
                <c:pt idx="3">
                  <c:v>0.36299999999999999</c:v>
                </c:pt>
                <c:pt idx="4">
                  <c:v>0.37440000000000001</c:v>
                </c:pt>
              </c:numCache>
            </c:numRef>
          </c:val>
          <c:extLst>
            <c:ext xmlns:c16="http://schemas.microsoft.com/office/drawing/2014/chart" uri="{C3380CC4-5D6E-409C-BE32-E72D297353CC}">
              <c16:uniqueId val="{0000000A-4C4B-46B6-B54D-C5CB157C82A3}"/>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A1F"/>
                </a:solidFill>
                <a:latin typeface="Calibri"/>
              </a:defRPr>
            </a:pPr>
            <a:endParaRPr lang="en-US"/>
          </a:p>
        </c:txPr>
        <c:crossAx val="2094734552"/>
        <c:crosses val="autoZero"/>
        <c:auto val="1"/>
        <c:lblAlgn val="ctr"/>
        <c:lblOffset val="100"/>
        <c:noMultiLvlLbl val="1"/>
      </c:catAx>
      <c:valAx>
        <c:axId val="2094734552"/>
        <c:scaling>
          <c:orientation val="minMax"/>
          <c:max val="0.5"/>
          <c:min val="0"/>
        </c:scaling>
        <c:delete val="0"/>
        <c:axPos val="l"/>
        <c:majorGridlines>
          <c:spPr>
            <a:ln w="6350" cap="flat">
              <a:solidFill>
                <a:srgbClr val="D9E2D0"/>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C6B5F"/>
                </a:solidFill>
                <a:latin typeface="Calibri"/>
              </a:defRPr>
            </a:pPr>
            <a:endParaRPr lang="en-US"/>
          </a:p>
        </c:txPr>
        <c:crossAx val="2094734554"/>
        <c:crosses val="autoZero"/>
        <c:crossBetween val="between"/>
        <c:majorUnit val="0.1"/>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F4D2B"/>
                </a:solidFill>
                <a:latin typeface="Calibri"/>
              </a:defRPr>
            </a:pPr>
            <a:r>
              <a:rPr lang="vi-VN" sz="1400" b="0" i="0" u="none" strike="noStrike">
                <a:solidFill>
                  <a:srgbClr val="1F4D2B"/>
                </a:solidFill>
                <a:latin typeface="Calibri"/>
              </a:rPr>
              <a:t>MF trên Coat (10 seed): ảnh hưởng của loss</a:t>
            </a:r>
          </a:p>
        </c:rich>
      </c:tx>
      <c:overlay val="0"/>
    </c:title>
    <c:autoTitleDeleted val="0"/>
    <c:plotArea>
      <c:layout/>
      <c:barChart>
        <c:barDir val="col"/>
        <c:grouping val="clustered"/>
        <c:varyColors val="0"/>
        <c:ser>
          <c:idx val="0"/>
          <c:order val="0"/>
          <c:tx>
            <c:strRef>
              <c:f>Sheet1!$B$1</c:f>
              <c:strCache>
                <c:ptCount val="1"/>
                <c:pt idx="0">
                  <c:v>NDCG@5</c:v>
                </c:pt>
              </c:strCache>
            </c:strRef>
          </c:tx>
          <c:spPr>
            <a:solidFill>
              <a:srgbClr val="B9C4B0"/>
            </a:solidFill>
            <a:effectLst/>
          </c:spPr>
          <c:invertIfNegative val="0"/>
          <c:dPt>
            <c:idx val="0"/>
            <c:invertIfNegative val="0"/>
            <c:bubble3D val="0"/>
            <c:spPr>
              <a:solidFill>
                <a:srgbClr val="B9C4B0"/>
              </a:solidFill>
              <a:effectLst/>
            </c:spPr>
            <c:extLst>
              <c:ext xmlns:c16="http://schemas.microsoft.com/office/drawing/2014/chart" uri="{C3380CC4-5D6E-409C-BE32-E72D297353CC}">
                <c16:uniqueId val="{00000001-1050-4795-89C2-F77DD447E48D}"/>
              </c:ext>
            </c:extLst>
          </c:dPt>
          <c:dPt>
            <c:idx val="1"/>
            <c:invertIfNegative val="0"/>
            <c:bubble3D val="0"/>
            <c:spPr>
              <a:solidFill>
                <a:srgbClr val="3E7D3A"/>
              </a:solidFill>
              <a:effectLst/>
            </c:spPr>
            <c:extLst>
              <c:ext xmlns:c16="http://schemas.microsoft.com/office/drawing/2014/chart" uri="{C3380CC4-5D6E-409C-BE32-E72D297353CC}">
                <c16:uniqueId val="{00000003-1050-4795-89C2-F77DD447E48D}"/>
              </c:ext>
            </c:extLst>
          </c:dPt>
          <c:dPt>
            <c:idx val="2"/>
            <c:invertIfNegative val="0"/>
            <c:bubble3D val="0"/>
            <c:spPr>
              <a:solidFill>
                <a:srgbClr val="B9C4B0"/>
              </a:solidFill>
              <a:effectLst/>
            </c:spPr>
            <c:extLst>
              <c:ext xmlns:c16="http://schemas.microsoft.com/office/drawing/2014/chart" uri="{C3380CC4-5D6E-409C-BE32-E72D297353CC}">
                <c16:uniqueId val="{00000005-1050-4795-89C2-F77DD447E48D}"/>
              </c:ext>
            </c:extLst>
          </c:dPt>
          <c:dPt>
            <c:idx val="3"/>
            <c:invertIfNegative val="0"/>
            <c:bubble3D val="0"/>
            <c:spPr>
              <a:solidFill>
                <a:srgbClr val="B9C4B0"/>
              </a:solidFill>
              <a:effectLst/>
            </c:spPr>
            <c:extLst>
              <c:ext xmlns:c16="http://schemas.microsoft.com/office/drawing/2014/chart" uri="{C3380CC4-5D6E-409C-BE32-E72D297353CC}">
                <c16:uniqueId val="{00000007-1050-4795-89C2-F77DD447E48D}"/>
              </c:ext>
            </c:extLst>
          </c:dPt>
          <c:dLbls>
            <c:numFmt formatCode="0.0000" sourceLinked="0"/>
            <c:spPr>
              <a:noFill/>
              <a:ln>
                <a:noFill/>
              </a:ln>
              <a:effectLst/>
            </c:spPr>
            <c:txPr>
              <a:bodyPr/>
              <a:lstStyle/>
              <a:p>
                <a:pPr>
                  <a:defRPr sz="1200" b="0" i="0" u="none" strike="noStrike">
                    <a:solidFill>
                      <a:srgbClr val="1B2A1F"/>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BCE, lr 1e-3 (cũ)</c:v>
                </c:pt>
                <c:pt idx="1">
                  <c:v>MSE, cấu hình tác giả</c:v>
                </c:pt>
                <c:pt idx="2">
                  <c:v>Cấu hình tác giả + BCE</c:v>
                </c:pt>
                <c:pt idx="3">
                  <c:v>BCE cũ + lr/wd tác giả</c:v>
                </c:pt>
              </c:strCache>
            </c:strRef>
          </c:cat>
          <c:val>
            <c:numRef>
              <c:f>Sheet1!$B$2:$B$5</c:f>
              <c:numCache>
                <c:formatCode>General</c:formatCode>
                <c:ptCount val="4"/>
                <c:pt idx="0">
                  <c:v>0.46460000000000001</c:v>
                </c:pt>
                <c:pt idx="1">
                  <c:v>0.54020000000000001</c:v>
                </c:pt>
                <c:pt idx="2">
                  <c:v>0.45329999999999998</c:v>
                </c:pt>
                <c:pt idx="3">
                  <c:v>0.45469999999999999</c:v>
                </c:pt>
              </c:numCache>
            </c:numRef>
          </c:val>
          <c:extLst>
            <c:ext xmlns:c16="http://schemas.microsoft.com/office/drawing/2014/chart" uri="{C3380CC4-5D6E-409C-BE32-E72D297353CC}">
              <c16:uniqueId val="{00000008-1050-4795-89C2-F77DD447E48D}"/>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B2A1F"/>
                </a:solidFill>
                <a:latin typeface="Calibri"/>
              </a:defRPr>
            </a:pPr>
            <a:endParaRPr lang="en-US"/>
          </a:p>
        </c:txPr>
        <c:crossAx val="2094734552"/>
        <c:crosses val="autoZero"/>
        <c:auto val="1"/>
        <c:lblAlgn val="ctr"/>
        <c:lblOffset val="100"/>
        <c:noMultiLvlLbl val="1"/>
      </c:catAx>
      <c:valAx>
        <c:axId val="2094734552"/>
        <c:scaling>
          <c:orientation val="minMax"/>
          <c:max val="0.7"/>
          <c:min val="0"/>
        </c:scaling>
        <c:delete val="0"/>
        <c:axPos val="l"/>
        <c:majorGridlines>
          <c:spPr>
            <a:ln w="6350" cap="flat">
              <a:solidFill>
                <a:srgbClr val="D9E2D0"/>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C6B5F"/>
                </a:solidFill>
                <a:latin typeface="Calibri"/>
              </a:defRPr>
            </a:pPr>
            <a:endParaRPr lang="en-US"/>
          </a:p>
        </c:txPr>
        <c:crossAx val="2094734554"/>
        <c:crosses val="autoZero"/>
        <c:crossBetween val="between"/>
        <c:majorUnit val="0.1"/>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324572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Chào thầy cô và các bạn. Nhóm trình bày đề tài nghiên cứu học máy khử thiên lệch cho hệ gợi ý video ngắn nông sản trên app TopTop. Phần 1 (CF) do Huỳnh phụ trách, Phần 2 (học sâu) do Bo phụ trách; hôm nay trình bày chung phần so sánh 3 mô hình.</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TopTop là app video ngắn quảng bá nông sản. Video mới ít được hiển thị nên ít dữ liệu tương tác; hệ gợi ý lại học từ chính dữ liệu đã bị lệch đó, tạo vòng lặp khép kín: exposure bias và filter bubble.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Đồ thị nhân quả: U là confounder ẩn (sở thích, xu hướng) vừa ảnh hưởng việc video được hiển thị A vừa ảnh hưởng phản hồi Y. CF chỉ học P(Y|O=1) trên mẫu đã hiển thị nên bị tương quan giả. Biến công cụ Z chỉ tác động Y thông qua A nên giúp tách hiệu ứng nhân quả.</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Bốn mục tiêu từ đề cương: thu thập chuẩn hóa dữ liệu, xây dựng mô hình, so sánh đánh giá công bằng, và đóng gói FastAPI cho app TopTop. Câu hỏi chính: mô hình khử thiên lệch có thật sự tốt hơn MF khi đánh giá công bằng?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Coat: 290 user, 300 áo khoác; train 6.960 đánh giá tự chọn (có thiên lệch), test 4.640 đánh giá trên item hiển thị ngẫu nhiên. KuaiRand-Pure của Kuaishou: sau lọc còn 23.533 user, 6.712 video; train là log thường, test là log ngẫu nhiên. Nhãn dương Coat là rating &gt;= 4, KuaiRand là is_click.</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Quy trình theo iDCF: nối hai log thường làm train có thiên lệch; lọc user và video có ít nhất 10 exposure; lọc log ngẫu nhiên theo cùng tập user/video; chia user ngẫu nhiên 30/70 (seed 1234) làm validation và test; đánh lại ID, gộp cặp trùng, lưu cache pkl.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Ở Coat, phân phối rating của train (user tự chọn) khác rõ phân phối trên item hiển thị ngẫu nhiên: người dùng tự chọn thường chọn item họ thích nên train có nhiều 4-5 sao hơn. Ở KuaiRand, tỷ lệ click trên log thường là 0.46 và 0.45 nhưng trên log ngẫu nhiên chỉ 0.18.</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Mô hình viết bằng PyTorch chạy CPU. Dịch vụ gợi ý dùng FastAPI, chạy trên Colab và public qua Cloudflare Quick Tunnel; URL được ghi vào Firebase RTDB để app Flutter đọc. Có 78 test bằng unittest/pytest và một CLI duy nhất experiments/run.py.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Cả ba mô hình dùng chung dữ liệu, candidate pool và evaluator. Xếp hạng lại (re-rank) trên đúng các candidate đã log, không negative sampling. Chọn mô hình theo NDCG@5 trên validation, chỉ chấm test một lần. Chạy 10 seed từ 42 đến 51 và kiểm định Wilcoxon theo cặp. Lưu ý: điểm số không so trực tiếp được với bài báo.</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MF: mỗi user và item là một vector 64 chiều; điểm là tích vô hướng cộng bias. Cấu hình tác giả dùng loss MSE, Adam lr 5e-4, weight decay 1e-6. Đây là baseline đơn giản nhưng khi tối ưu đúng thì khá mạnh. Hạn chế: học tương quan trên mẫu đã hiển thị nên thừa hưởng thiên lệch.</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CDR là doubly-robust kết hợp IPS và mô hình imputation. Imputation model dùng MC-dropout p=0.5 để đo độ bất định; chỉ giữ ước lượng bảo thủ khi phương sai nhỏ hơn ngưỡng tau bằng 10. Propensity có sẵn ở Coat, ở KuaiRand chỉ là proxy tần suất item. Lưu ý: trên Coat điểm tốt nhất đến từ khởi tạo MF-MSE, epoch tốt nhất luôn là epoch 1; huấn luyện CDR theo BCE từ epoch 2 chỉ làm validation giảm. Giả thuyết trước đây cho rằng bộ lọc loại 99 phần trăm mẫu gây lỗi đã bị bác bỏ bằng ablation.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IViDR bản 2 giai đoạn theo thuật toán 1 của bài báo. Giai đoạn 1: lấy embedding item T từ MF-MSE, hồi quy 2SLS theo item với biến công cụ là đặc trưng trung bình của các user đã thấy item để tái dựng X_re; iVAE thứ hai học trên vector exposure A, iVAE thứ nhất học trên A ghép X_re; C bằng 0.9 C1 cộng 0.9 C2. Giai đoạn 2: điểm bằng MF cộng tích vô hướng giữa embedding item và C của user, huấn luyện MSE với C cố định. Bản joint trước đây chỉ ngang MF. Lưu ý: tác giả bài báo không công bố code nên nhánh IV là giả định.</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Điểm khác biệt cốt lõi: MF không xử lý thiên lệch; CDR xử lý ở hàm mất mát dựa trên propensity; IViDR xử lý ở biểu diễn bằng cách suy ra latent confounder qua biến công cụ. Trên Coat IViDR 2 giai đoạn vượt MF, CDR kém MF; trên KuaiRand MF mạnh nhất.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Hình này tóm tắt ba mô hình theo chuỗi Dữ liệu, Biểu diễn, Hàm mất mát, Điểm số. MF không can thiệp ở đâu cả. CDR can thiệp chủ yếu ở loss. IViDR can thiệp ở biểu diễn bằng latent confounder và ở điểm số.</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gian mỗi trial trên KuaiRand, chạy CPU vì máy không có CUDA. MF vài chục giây đến vài phút, CDR từ 22 đến 45 phút, IViDR từ khoảng 55 đến 95 phút. Vì chi phí cao nên các thử nghiệm đa seed trên KuaiRand chưa thực hiện.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NDCG@5 trung bình 10 seed. Bản IViDR 2 giai đoạn đạt 0.5712, hơn MF +0.031 với p = 0.002 và thắng ở cả 10 seed, nhưng chỉ hơn iDCF +0.0009 (p = 0.28) nên nhánh IV địa phương chưa đóng góp thêm. IViDR joint cũ chỉ ngang MF (p = 0.49). CDR kém MF 0.032 (p = 0.004). Cột bài báo chỉ để tham chiếu: giao thức khác, đặc biệt với CDR.</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Benchmark một seed trên KuaiRand sau khi sửa cấu hình MF (MSE, theo tác giả). MF đạt 0.3744, gần bài báo 0.3748 và hơn Popularity 0.0166 (p = 5e-21). IViDR bản joint đạt 0.3630: hơn Popularity một chút (p = 0.02) nhưng kém MF 0.0114 (p = 2e-9). CDR đạt 0.3459, kém cả Popularity lẫn MF. Chưa chạy iDCF và IViDR 2 giai đoạn trên KuaiRand, và mới có một seed.</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nguyên nhân chính. Một: hàm loss của MF, chuyển từ BCE sang MSE theo cấu hình tác giả nâng NDCG@5 trên Coat từ 0.4646 lên 0.5402. Hai: bài báo CDR dùng giao thức chấm khác, rating &gt;= 3 là dương, user không có dương tính 1, ngẫu nhiên đã đạt 0.46; chạy đúng giao thức đó bản port đạt 0.666. Ba: IViDR, kiến trúc joint chỉ ngang MF, chuyển sang 2 giai đoạn như iDCF lên 0.5712, còn thiếu khoảng 0.02 so với bài báo vì nhánh IV là giả định.</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Kiến trúc: app Flutter gọi FastAPI chạy trên Colab thông qua Cloudflare Quick Tunnel; URL được ghi vào Firebase RTDB để app tự cập nhật. Dịch vụ lấy dữ liệu từ Firestore qua REST và tự huấn luyện lại mỗi 20 tương tác mới. Hiện API phục vụ MF và CDR; IViDR chưa được triển khai (có fallback về MF). Khi demo: dùng Swagger /docs vì Firestore công khai hiện còn ít video.</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Tóm tắt: baseline MF đúng cấu hình rất mạnh. Trên Coat, IViDR 2 giai đoạn vượt MF có ý nghĩa nhưng chỉ ngang iDCF, còn CDR kém MF. Trên KuaiRand, MF mạnh nhất. Hạn chế: KuaiRand mới một seed, nhánh IV là giả định. Cảm ơn thầy cô, xin mời đặt câu hỏi.</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Siêu tham số chính của ba mô hình. MF theo cấu hình tác giả (MSE). CDR theo chế độ tác giả, khởi tạo từ MF-MSE. IViDR trên Coat là bản 2 giai đoạn; trên KuaiRand mới chạy bản joint.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Coat: 10 seed, trung bình ± độ lệch chuẩn. KuaiRand: benchmark một seed (seed 42), IViDR là bản joint. Các chỉ số Precision, HitRate và AUC của Coat chưa tổng hợp nhiều seed.</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 tiết chia validation/test. Lưu ý Coat có 366 cặp user-item xuất hiện ở cả train và tập ngẫu nhiên, trong đó 247 cặp nằm ở test; nhóm công bố chứ không loại bỏ.</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Chuẩn bị trả lời bốn câu hỏi dự kiến: khoảng cách với bài báo, vì sao CDR kém MF, IViDR có thật sự khử thiên lệch không, và tình trạng triển khai IViDR.</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91672" cy="777240"/>
          </a:xfrm>
          <a:prstGeom prst="rect">
            <a:avLst/>
          </a:prstGeom>
          <a:noFill/>
          <a:ln/>
        </p:spPr>
        <p:txBody>
          <a:bodyPr wrap="square" rtlCol="0"/>
          <a:lstStyle>
            <a:lvl1pPr marL="0" indent="0" algn="l">
              <a:buNone/>
              <a:defRPr lang="en-US" sz="3400" b="1" dirty="0">
                <a:solidFill>
                  <a:srgbClr val="1F4D2B"/>
                </a:solidFill>
                <a:latin typeface="Cambria" pitchFamily="34" charset="0"/>
                <a:ea typeface="Cambria" pitchFamily="34" charset="-122"/>
                <a:cs typeface="Cambria" pitchFamily="34" charset="-120"/>
              </a:defRPr>
            </a:lvl1pPr>
          </a:lstStyle>
          <a:p>
            <a:pPr marL="0" indent="0" algn="l">
              <a:buNone/>
            </a:pPr>
            <a:endParaRPr lang="en-US" sz="3400" dirty="0"/>
          </a:p>
        </p:txBody>
      </p:sp>
      <p:sp>
        <p:nvSpPr>
          <p:cNvPr id="3" name="Text 0"/>
          <p:cNvSpPr/>
          <p:nvPr/>
        </p:nvSpPr>
        <p:spPr>
          <a:xfrm>
            <a:off x="548640" y="6446520"/>
            <a:ext cx="7315200" cy="274320"/>
          </a:xfrm>
          <a:prstGeom prst="rect">
            <a:avLst/>
          </a:prstGeom>
          <a:noFill/>
          <a:ln/>
        </p:spPr>
        <p:txBody>
          <a:bodyPr wrap="square" lIns="0" tIns="0" rIns="0" bIns="0" rtlCol="0" anchor="ctr"/>
          <a:lstStyle/>
          <a:p>
            <a:pPr marL="0" indent="0">
              <a:buNone/>
            </a:pPr>
            <a:r>
              <a:rPr lang="en-US" sz="1000" dirty="0">
                <a:solidFill>
                  <a:srgbClr val="5C6B5F"/>
                </a:solidFill>
                <a:latin typeface="Calibri" pitchFamily="34" charset="0"/>
                <a:ea typeface="Calibri" pitchFamily="34" charset="-122"/>
                <a:cs typeface="Calibri" pitchFamily="34" charset="-120"/>
              </a:rPr>
              <a:t>Đồ án chuyên ngành · Hệ gợi ý video nông sản TopTop</a:t>
            </a:r>
            <a:endParaRPr lang="en-US" sz="1000" dirty="0"/>
          </a:p>
        </p:txBody>
      </p:sp>
      <p:sp>
        <p:nvSpPr>
          <p:cNvPr id="25" name="Slide Number Placeholder 0"/>
          <p:cNvSpPr>
            <a:spLocks noGrp="1"/>
          </p:cNvSpPr>
          <p:nvPr>
            <p:ph type="sldNum" sz="quarter" idx="4294967295"/>
          </p:nvPr>
        </p:nvSpPr>
        <p:spPr>
          <a:xfrm>
            <a:off x="10972800" y="644652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B5F"/>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F4D2B"/>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91672" cy="777240"/>
          </a:xfrm>
          <a:prstGeom prst="rect">
            <a:avLst/>
          </a:prstGeom>
          <a:noFill/>
          <a:ln/>
        </p:spPr>
        <p:txBody>
          <a:bodyPr wrap="square" rtlCol="0"/>
          <a:lstStyle>
            <a:lvl1pPr marL="0" indent="0" algn="l">
              <a:buNone/>
              <a:defRPr lang="en-US" sz="3400" b="1" dirty="0">
                <a:solidFill>
                  <a:srgbClr val="FFFFFF"/>
                </a:solidFill>
                <a:latin typeface="Cambria" pitchFamily="34" charset="0"/>
                <a:ea typeface="Cambria" pitchFamily="34" charset="-122"/>
                <a:cs typeface="Cambria" pitchFamily="34" charset="-120"/>
              </a:defRPr>
            </a:lvl1pPr>
          </a:lstStyle>
          <a:p>
            <a:pPr marL="0" indent="0" algn="l">
              <a:buNone/>
            </a:pPr>
            <a:endParaRPr lang="en-US" sz="34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4652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B5F"/>
                </a:solidFill>
                <a:latin typeface="Calibri"/>
                <a:ea typeface="Calibri"/>
                <a:cs typeface="Calibri"/>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txBox="1"/>
          <p:nvPr/>
        </p:nvSpPr>
        <p:spPr>
          <a:xfrm>
            <a:off x="548640" y="822960"/>
            <a:ext cx="6400800" cy="365760"/>
          </a:xfrm>
          <a:prstGeom prst="rect">
            <a:avLst/>
          </a:prstGeom>
          <a:noFill/>
          <a:ln/>
        </p:spPr>
        <p:txBody>
          <a:bodyPr wrap="square" lIns="0" tIns="0" rIns="0" bIns="0" rtlCol="0" anchor="t"/>
          <a:lstStyle/>
          <a:p>
            <a:pPr marL="0" indent="0" algn="l">
              <a:buNone/>
            </a:pPr>
            <a:r>
              <a:rPr lang="en-US" sz="1600" b="1" dirty="0">
                <a:solidFill>
                  <a:srgbClr val="8DB255"/>
                </a:solidFill>
                <a:latin typeface="Calibri" pitchFamily="34" charset="0"/>
                <a:ea typeface="Calibri" pitchFamily="34" charset="-122"/>
                <a:cs typeface="Calibri" pitchFamily="34" charset="-120"/>
              </a:rPr>
              <a:t>ĐỒ ÁN CHUYÊN NGÀNH</a:t>
            </a:r>
            <a:endParaRPr lang="en-US" sz="1600" dirty="0"/>
          </a:p>
        </p:txBody>
      </p:sp>
      <p:sp>
        <p:nvSpPr>
          <p:cNvPr id="4" name="Text 1"/>
          <p:cNvSpPr txBox="1"/>
          <p:nvPr/>
        </p:nvSpPr>
        <p:spPr>
          <a:xfrm>
            <a:off x="548640" y="1371600"/>
            <a:ext cx="6949440" cy="2194560"/>
          </a:xfrm>
          <a:prstGeom prst="rect">
            <a:avLst/>
          </a:prstGeom>
          <a:noFill/>
          <a:ln/>
        </p:spPr>
        <p:txBody>
          <a:bodyPr wrap="square" lIns="0" tIns="0" rIns="0" bIns="0" rtlCol="0" anchor="t"/>
          <a:lstStyle/>
          <a:p>
            <a:pPr marL="0" indent="0" algn="l">
              <a:buNone/>
            </a:pPr>
            <a:r>
              <a:rPr lang="en-US" sz="4000" b="1" dirty="0">
                <a:solidFill>
                  <a:srgbClr val="FFFFFF"/>
                </a:solidFill>
                <a:latin typeface="Cambria" pitchFamily="34" charset="0"/>
                <a:ea typeface="Cambria" pitchFamily="34" charset="-122"/>
                <a:cs typeface="Cambria" pitchFamily="34" charset="-120"/>
              </a:rPr>
              <a:t>Hệ gợi ý video ngắn nông sản dựa trên hành vi người dùng</a:t>
            </a:r>
            <a:endParaRPr lang="en-US" sz="4000" dirty="0"/>
          </a:p>
        </p:txBody>
      </p:sp>
      <p:sp>
        <p:nvSpPr>
          <p:cNvPr id="5" name="Text 2"/>
          <p:cNvSpPr txBox="1"/>
          <p:nvPr/>
        </p:nvSpPr>
        <p:spPr>
          <a:xfrm>
            <a:off x="548640" y="3703320"/>
            <a:ext cx="6949440" cy="822960"/>
          </a:xfrm>
          <a:prstGeom prst="rect">
            <a:avLst/>
          </a:prstGeom>
          <a:noFill/>
          <a:ln/>
        </p:spPr>
        <p:txBody>
          <a:bodyPr wrap="square" lIns="0" tIns="0" rIns="0" bIns="0" rtlCol="0" anchor="t"/>
          <a:lstStyle/>
          <a:p>
            <a:pPr marL="0" indent="0" algn="l">
              <a:buNone/>
            </a:pPr>
            <a:r>
              <a:rPr lang="en-US" sz="2000" dirty="0">
                <a:solidFill>
                  <a:srgbClr val="DCE8CF"/>
                </a:solidFill>
                <a:latin typeface="Calibri" pitchFamily="34" charset="0"/>
                <a:ea typeface="Calibri" pitchFamily="34" charset="-122"/>
                <a:cs typeface="Calibri" pitchFamily="34" charset="-120"/>
              </a:rPr>
              <a:t>So sánh ba mô hình khử thiên lệch: MF · DR-BIAS + CDR · IViDR</a:t>
            </a:r>
            <a:endParaRPr lang="en-US" sz="2000" dirty="0"/>
          </a:p>
        </p:txBody>
      </p:sp>
      <p:sp>
        <p:nvSpPr>
          <p:cNvPr id="6" name="Text 3"/>
          <p:cNvSpPr txBox="1"/>
          <p:nvPr/>
        </p:nvSpPr>
        <p:spPr>
          <a:xfrm>
            <a:off x="548640" y="4800600"/>
            <a:ext cx="7315200" cy="1371600"/>
          </a:xfrm>
          <a:prstGeom prst="rect">
            <a:avLst/>
          </a:prstGeom>
          <a:noFill/>
          <a:ln/>
        </p:spPr>
        <p:txBody>
          <a:bodyPr wrap="square" lIns="0" tIns="0" rIns="0" bIns="0" rtlCol="0" anchor="t"/>
          <a:lstStyle/>
          <a:p>
            <a:pPr marL="0" indent="0" algn="l">
              <a:buNone/>
            </a:pPr>
            <a:r>
              <a:rPr lang="en-US" sz="1400" dirty="0">
                <a:solidFill>
                  <a:srgbClr val="FFFFFF"/>
                </a:solidFill>
                <a:latin typeface="Calibri" pitchFamily="34" charset="0"/>
                <a:ea typeface="Calibri" pitchFamily="34" charset="-122"/>
                <a:cs typeface="Calibri" pitchFamily="34" charset="-120"/>
              </a:rPr>
              <a:t>Vũ Thế Huỳnh (2312639) – Phần 1: Collaborative Filtering</a:t>
            </a:r>
            <a:endParaRPr lang="en-US" sz="1400" dirty="0"/>
          </a:p>
          <a:p>
            <a:pPr marL="0" indent="0" algn="l">
              <a:buNone/>
            </a:pPr>
            <a:r>
              <a:rPr lang="en-US" sz="1400" dirty="0">
                <a:solidFill>
                  <a:srgbClr val="FFFFFF"/>
                </a:solidFill>
                <a:latin typeface="Calibri" pitchFamily="34" charset="0"/>
                <a:ea typeface="Calibri" pitchFamily="34" charset="-122"/>
                <a:cs typeface="Calibri" pitchFamily="34" charset="-120"/>
              </a:rPr>
              <a:t>Phùng Nguyễn Hoài Bo (2312585) – Phần 2: Deep Learning</a:t>
            </a:r>
            <a:endParaRPr lang="en-US" sz="1400" dirty="0"/>
          </a:p>
          <a:p>
            <a:pPr marL="0" indent="0" algn="l">
              <a:buNone/>
            </a:pPr>
            <a:r>
              <a:rPr lang="en-US" sz="1400" dirty="0">
                <a:solidFill>
                  <a:srgbClr val="FFFFFF"/>
                </a:solidFill>
                <a:latin typeface="Calibri" pitchFamily="34" charset="0"/>
                <a:ea typeface="Calibri" pitchFamily="34" charset="-122"/>
                <a:cs typeface="Calibri" pitchFamily="34" charset="-120"/>
              </a:rPr>
              <a:t>GVHD: TS. Nguyễn Thị Lương</a:t>
            </a:r>
            <a:endParaRPr lang="en-US" sz="1400" dirty="0"/>
          </a:p>
          <a:p>
            <a:pPr marL="0" indent="0" algn="l">
              <a:buNone/>
            </a:pPr>
            <a:r>
              <a:rPr lang="en-US" sz="1400" dirty="0">
                <a:solidFill>
                  <a:srgbClr val="FFFFFF"/>
                </a:solidFill>
                <a:latin typeface="Calibri" pitchFamily="34" charset="0"/>
                <a:ea typeface="Calibri" pitchFamily="34" charset="-122"/>
                <a:cs typeface="Calibri" pitchFamily="34" charset="-120"/>
              </a:rPr>
              <a:t>Khoa CNTT – Trường Đại học Đà Lạt · CTK47A</a:t>
            </a:r>
            <a:endParaRPr lang="en-US" sz="1400" dirty="0"/>
          </a:p>
        </p:txBody>
      </p:sp>
      <p:sp>
        <p:nvSpPr>
          <p:cNvPr id="7" name="circle_MF"/>
          <p:cNvSpPr/>
          <p:nvPr/>
        </p:nvSpPr>
        <p:spPr>
          <a:xfrm>
            <a:off x="8549640" y="914400"/>
            <a:ext cx="2286000" cy="2286000"/>
          </a:xfrm>
          <a:prstGeom prst="ellipse">
            <a:avLst/>
          </a:prstGeom>
          <a:solidFill>
            <a:srgbClr val="2E6FA3">
              <a:alpha val="92000"/>
            </a:srgbClr>
          </a:solidFill>
          <a:ln w="25400">
            <a:solidFill>
              <a:srgbClr val="FFFFFF"/>
            </a:solidFill>
          </a:ln>
        </p:spPr>
        <p:txBody>
          <a:bodyPr wrap="square"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MF</a:t>
            </a:r>
            <a:endParaRPr lang="en-US" sz="2600" dirty="0"/>
          </a:p>
        </p:txBody>
      </p:sp>
      <p:sp>
        <p:nvSpPr>
          <p:cNvPr id="8" name="circle_CDR"/>
          <p:cNvSpPr/>
          <p:nvPr/>
        </p:nvSpPr>
        <p:spPr>
          <a:xfrm>
            <a:off x="9646920" y="2606040"/>
            <a:ext cx="2103120" cy="2103120"/>
          </a:xfrm>
          <a:prstGeom prst="ellipse">
            <a:avLst/>
          </a:prstGeom>
          <a:solidFill>
            <a:srgbClr val="E07B1F">
              <a:alpha val="92000"/>
            </a:srgbClr>
          </a:solidFill>
          <a:ln w="25400">
            <a:solidFill>
              <a:srgbClr val="FFFFFF"/>
            </a:solidFill>
          </a:ln>
        </p:spPr>
        <p:txBody>
          <a:bodyPr wrap="square"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CDR</a:t>
            </a:r>
            <a:endParaRPr lang="en-US" sz="2600" dirty="0"/>
          </a:p>
        </p:txBody>
      </p:sp>
      <p:sp>
        <p:nvSpPr>
          <p:cNvPr id="9" name="circle_IViDR"/>
          <p:cNvSpPr/>
          <p:nvPr/>
        </p:nvSpPr>
        <p:spPr>
          <a:xfrm>
            <a:off x="7955280" y="3246120"/>
            <a:ext cx="2468880" cy="2468880"/>
          </a:xfrm>
          <a:prstGeom prst="ellipse">
            <a:avLst/>
          </a:prstGeom>
          <a:solidFill>
            <a:srgbClr val="6B4FA0">
              <a:alpha val="92000"/>
            </a:srgbClr>
          </a:solidFill>
          <a:ln w="25400">
            <a:solidFill>
              <a:srgbClr val="FFFFFF"/>
            </a:solidFill>
          </a:ln>
        </p:spPr>
        <p:txBody>
          <a:bodyPr wrap="square"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IViDR</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91672" cy="777240"/>
          </a:xfrm>
          <a:prstGeom prst="rect">
            <a:avLst/>
          </a:prstGeom>
          <a:noFill/>
          <a:ln/>
        </p:spPr>
        <p:txBody>
          <a:bodyPr wrap="square" lIns="0" tIns="0" rIns="0" bIns="0" rtlCol="0" anchor="ctr"/>
          <a:lstStyle/>
          <a:p>
            <a:pPr marL="0" indent="0" algn="l">
              <a:buNone/>
            </a:pPr>
            <a:r>
              <a:rPr lang="en-US" sz="3400" b="1" dirty="0">
                <a:solidFill>
                  <a:srgbClr val="1F4D2B"/>
                </a:solidFill>
                <a:latin typeface="Cambria" pitchFamily="34" charset="0"/>
                <a:ea typeface="Cambria" pitchFamily="34" charset="-122"/>
                <a:cs typeface="Cambria" pitchFamily="34" charset="-120"/>
              </a:rPr>
              <a:t>Bối cảnh: video nông sản bị chìm</a:t>
            </a:r>
            <a:endParaRPr lang="en-US" sz="3400" dirty="0"/>
          </a:p>
        </p:txBody>
      </p:sp>
      <p:sp>
        <p:nvSpPr>
          <p:cNvPr id="4" name="Text 1"/>
          <p:cNvSpPr txBox="1"/>
          <p:nvPr/>
        </p:nvSpPr>
        <p:spPr>
          <a:xfrm>
            <a:off x="579121" y="1645920"/>
            <a:ext cx="5120640" cy="4206240"/>
          </a:xfrm>
          <a:prstGeom prst="rect">
            <a:avLst/>
          </a:prstGeom>
          <a:noFill/>
          <a:ln/>
        </p:spPr>
        <p:txBody>
          <a:bodyPr wrap="square" lIns="0" tIns="0" rIns="0" bIns="0" rtlCol="0" anchor="t"/>
          <a:lstStyle/>
          <a:p>
            <a:pPr marL="342900" indent="-342900" algn="l">
              <a:spcAft>
                <a:spcPts val="1200"/>
              </a:spcAft>
              <a:buSzPct val="100000"/>
              <a:buChar char="•"/>
            </a:pPr>
            <a:r>
              <a:rPr lang="en-US" sz="2000" dirty="0">
                <a:solidFill>
                  <a:srgbClr val="1B2A1F"/>
                </a:solidFill>
                <a:latin typeface="Calibri" pitchFamily="34" charset="0"/>
                <a:ea typeface="Calibri" pitchFamily="34" charset="-122"/>
                <a:cs typeface="Calibri" pitchFamily="34" charset="-120"/>
              </a:rPr>
              <a:t>TopTop: app video ngắn quảng bá nông sản (Flutter + Firebase)</a:t>
            </a:r>
            <a:endParaRPr lang="en-US" sz="2000" dirty="0"/>
          </a:p>
          <a:p>
            <a:pPr marL="342900" indent="-342900" algn="l">
              <a:spcAft>
                <a:spcPts val="1200"/>
              </a:spcAft>
              <a:buSzPct val="100000"/>
              <a:buChar char="•"/>
            </a:pPr>
            <a:r>
              <a:rPr lang="en-US" sz="2000" dirty="0">
                <a:solidFill>
                  <a:srgbClr val="1B2A1F"/>
                </a:solidFill>
                <a:latin typeface="Calibri" pitchFamily="34" charset="0"/>
                <a:ea typeface="Calibri" pitchFamily="34" charset="-122"/>
                <a:cs typeface="Calibri" pitchFamily="34" charset="-120"/>
              </a:rPr>
              <a:t>Video mới ít được hiển thị, nên thiếu dữ liệu tương tác</a:t>
            </a:r>
            <a:endParaRPr lang="en-US" sz="2000" dirty="0"/>
          </a:p>
          <a:p>
            <a:pPr marL="342900" indent="-342900" algn="l">
              <a:spcAft>
                <a:spcPts val="1200"/>
              </a:spcAft>
              <a:buSzPct val="100000"/>
              <a:buChar char="•"/>
            </a:pPr>
            <a:r>
              <a:rPr lang="en-US" sz="2000" dirty="0">
                <a:solidFill>
                  <a:srgbClr val="1B2A1F"/>
                </a:solidFill>
                <a:latin typeface="Calibri" pitchFamily="34" charset="0"/>
                <a:ea typeface="Calibri" pitchFamily="34" charset="-122"/>
                <a:cs typeface="Calibri" pitchFamily="34" charset="-120"/>
              </a:rPr>
              <a:t>Log chỉ có phản hồi trên video đã được hiển thị (dữ liệu MNAR)</a:t>
            </a:r>
            <a:endParaRPr lang="en-US" sz="2000" dirty="0"/>
          </a:p>
          <a:p>
            <a:pPr marL="342900" indent="-342900" algn="l">
              <a:spcAft>
                <a:spcPts val="1200"/>
              </a:spcAft>
              <a:buSzPct val="100000"/>
              <a:buChar char="•"/>
            </a:pPr>
            <a:r>
              <a:rPr lang="en-US" sz="2000" dirty="0">
                <a:solidFill>
                  <a:srgbClr val="1B2A1F"/>
                </a:solidFill>
                <a:latin typeface="Calibri" pitchFamily="34" charset="0"/>
                <a:ea typeface="Calibri" pitchFamily="34" charset="-122"/>
                <a:cs typeface="Calibri" pitchFamily="34" charset="-120"/>
              </a:rPr>
              <a:t>Hệ quả: exposure bias và filter bubble</a:t>
            </a:r>
            <a:endParaRPr lang="en-US" sz="2000" dirty="0"/>
          </a:p>
        </p:txBody>
      </p:sp>
      <p:sp>
        <p:nvSpPr>
          <p:cNvPr id="5" name="cyc1"/>
          <p:cNvSpPr/>
          <p:nvPr/>
        </p:nvSpPr>
        <p:spPr>
          <a:xfrm>
            <a:off x="6492240" y="1417320"/>
            <a:ext cx="2743200" cy="914400"/>
          </a:xfrm>
          <a:prstGeom prst="roundRect">
            <a:avLst>
              <a:gd name="adj" fmla="val 8000"/>
            </a:avLst>
          </a:prstGeom>
          <a:solidFill>
            <a:srgbClr val="2E6FA3"/>
          </a:solidFill>
          <a:ln w="12700">
            <a:solidFill>
              <a:srgbClr val="2E6FA3"/>
            </a:solidFill>
            <a:prstDash val="solid"/>
          </a:ln>
        </p:spPr>
        <p:txBody>
          <a:bodyPr wrap="square" lIns="762" tIns="762" rIns="762" bIns="762"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Video mới</a:t>
            </a:r>
            <a:endParaRPr lang="en-US" sz="1600" dirty="0"/>
          </a:p>
          <a:p>
            <a:pPr marL="0" indent="0" algn="ctr">
              <a:buNone/>
            </a:pPr>
            <a:r>
              <a:rPr lang="en-US" sz="1600" b="1" dirty="0">
                <a:solidFill>
                  <a:srgbClr val="FFFFFF"/>
                </a:solidFill>
                <a:latin typeface="Calibri" pitchFamily="34" charset="0"/>
                <a:ea typeface="Calibri" pitchFamily="34" charset="-122"/>
                <a:cs typeface="Calibri" pitchFamily="34" charset="-120"/>
              </a:rPr>
              <a:t>ít được hiển thị</a:t>
            </a:r>
            <a:endParaRPr lang="en-US" sz="1600" dirty="0"/>
          </a:p>
        </p:txBody>
      </p:sp>
      <p:sp>
        <p:nvSpPr>
          <p:cNvPr id="6" name="cyc2"/>
          <p:cNvSpPr/>
          <p:nvPr/>
        </p:nvSpPr>
        <p:spPr>
          <a:xfrm>
            <a:off x="9052560" y="3063240"/>
            <a:ext cx="2560320" cy="914400"/>
          </a:xfrm>
          <a:prstGeom prst="roundRect">
            <a:avLst>
              <a:gd name="adj" fmla="val 8000"/>
            </a:avLst>
          </a:prstGeom>
          <a:solidFill>
            <a:srgbClr val="E07B1F"/>
          </a:solidFill>
          <a:ln w="12700">
            <a:solidFill>
              <a:srgbClr val="E07B1F"/>
            </a:solidFill>
            <a:prstDash val="solid"/>
          </a:ln>
        </p:spPr>
        <p:txBody>
          <a:bodyPr wrap="square" lIns="762" tIns="762" rIns="762" bIns="762"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Ít tương tác</a:t>
            </a:r>
            <a:endParaRPr lang="en-US" sz="1600" dirty="0"/>
          </a:p>
          <a:p>
            <a:pPr marL="0" indent="0" algn="ctr">
              <a:buNone/>
            </a:pPr>
            <a:r>
              <a:rPr lang="en-US" sz="1600" b="1" dirty="0">
                <a:solidFill>
                  <a:srgbClr val="FFFFFF"/>
                </a:solidFill>
                <a:latin typeface="Calibri" pitchFamily="34" charset="0"/>
                <a:ea typeface="Calibri" pitchFamily="34" charset="-122"/>
                <a:cs typeface="Calibri" pitchFamily="34" charset="-120"/>
              </a:rPr>
              <a:t>(ít click, like)</a:t>
            </a:r>
            <a:endParaRPr lang="en-US" sz="1600" dirty="0"/>
          </a:p>
        </p:txBody>
      </p:sp>
      <p:sp>
        <p:nvSpPr>
          <p:cNvPr id="7" name="cyc3"/>
          <p:cNvSpPr/>
          <p:nvPr/>
        </p:nvSpPr>
        <p:spPr>
          <a:xfrm>
            <a:off x="6492240" y="4663440"/>
            <a:ext cx="3291840" cy="914400"/>
          </a:xfrm>
          <a:prstGeom prst="roundRect">
            <a:avLst>
              <a:gd name="adj" fmla="val 8000"/>
            </a:avLst>
          </a:prstGeom>
          <a:solidFill>
            <a:srgbClr val="6B4FA0"/>
          </a:solidFill>
          <a:ln w="12700">
            <a:solidFill>
              <a:srgbClr val="6B4FA0"/>
            </a:solidFill>
            <a:prstDash val="solid"/>
          </a:ln>
        </p:spPr>
        <p:txBody>
          <a:bodyPr wrap="square" lIns="762" tIns="762" rIns="762" bIns="762"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Mô hình học từ log lệch,</a:t>
            </a:r>
            <a:endParaRPr lang="en-US" sz="1600" dirty="0"/>
          </a:p>
          <a:p>
            <a:pPr marL="0" indent="0" algn="ctr">
              <a:buNone/>
            </a:pPr>
            <a:r>
              <a:rPr lang="en-US" sz="1600" b="1" dirty="0">
                <a:solidFill>
                  <a:srgbClr val="FFFFFF"/>
                </a:solidFill>
                <a:latin typeface="Calibri" pitchFamily="34" charset="0"/>
                <a:ea typeface="Calibri" pitchFamily="34" charset="-122"/>
                <a:cs typeface="Calibri" pitchFamily="34" charset="-120"/>
              </a:rPr>
              <a:t>ưu tiên video đã hot</a:t>
            </a:r>
            <a:endParaRPr lang="en-US" sz="1600" dirty="0"/>
          </a:p>
        </p:txBody>
      </p:sp>
      <p:sp>
        <p:nvSpPr>
          <p:cNvPr id="8" name="Shape 5"/>
          <p:cNvSpPr/>
          <p:nvPr/>
        </p:nvSpPr>
        <p:spPr>
          <a:xfrm>
            <a:off x="9235440" y="1920240"/>
            <a:ext cx="1097280" cy="1097280"/>
          </a:xfrm>
          <a:prstGeom prst="line">
            <a:avLst/>
          </a:prstGeom>
          <a:noFill/>
          <a:ln w="25400">
            <a:solidFill>
              <a:srgbClr val="3E7D3A"/>
            </a:solidFill>
            <a:prstDash val="solid"/>
            <a:tailEnd type="triangle"/>
          </a:ln>
        </p:spPr>
      </p:sp>
      <p:sp>
        <p:nvSpPr>
          <p:cNvPr id="9" name="Shape 6"/>
          <p:cNvSpPr/>
          <p:nvPr/>
        </p:nvSpPr>
        <p:spPr>
          <a:xfrm flipH="1">
            <a:off x="9784080" y="4023360"/>
            <a:ext cx="548640" cy="868680"/>
          </a:xfrm>
          <a:prstGeom prst="line">
            <a:avLst/>
          </a:prstGeom>
          <a:noFill/>
          <a:ln w="25400">
            <a:solidFill>
              <a:srgbClr val="3E7D3A"/>
            </a:solidFill>
            <a:prstDash val="solid"/>
            <a:tailEnd type="triangle"/>
          </a:ln>
        </p:spPr>
      </p:sp>
      <p:sp>
        <p:nvSpPr>
          <p:cNvPr id="10" name="Shape 7"/>
          <p:cNvSpPr/>
          <p:nvPr/>
        </p:nvSpPr>
        <p:spPr>
          <a:xfrm flipV="1">
            <a:off x="6949440" y="2377440"/>
            <a:ext cx="0" cy="2286000"/>
          </a:xfrm>
          <a:prstGeom prst="line">
            <a:avLst/>
          </a:prstGeom>
          <a:noFill/>
          <a:ln w="25400">
            <a:solidFill>
              <a:srgbClr val="3E7D3A"/>
            </a:solidFill>
            <a:prstDash val="solid"/>
            <a:tailEnd type="triangle"/>
          </a:ln>
        </p:spPr>
      </p:sp>
      <p:sp>
        <p:nvSpPr>
          <p:cNvPr id="11" name="Text 8"/>
          <p:cNvSpPr txBox="1"/>
          <p:nvPr/>
        </p:nvSpPr>
        <p:spPr>
          <a:xfrm>
            <a:off x="7223760" y="3200400"/>
            <a:ext cx="2194560" cy="457200"/>
          </a:xfrm>
          <a:prstGeom prst="rect">
            <a:avLst/>
          </a:prstGeom>
          <a:noFill/>
          <a:ln/>
        </p:spPr>
        <p:txBody>
          <a:bodyPr wrap="square" lIns="0" tIns="0" rIns="0" bIns="0" rtlCol="0" anchor="t"/>
          <a:lstStyle/>
          <a:p>
            <a:pPr marL="0" indent="0" algn="l">
              <a:buNone/>
            </a:pPr>
            <a:r>
              <a:rPr lang="en-US" sz="1600" b="1" i="1" dirty="0">
                <a:solidFill>
                  <a:srgbClr val="1F4D2B"/>
                </a:solidFill>
                <a:latin typeface="Calibri" pitchFamily="34" charset="0"/>
                <a:ea typeface="Calibri" pitchFamily="34" charset="-122"/>
                <a:cs typeface="Calibri" pitchFamily="34" charset="-120"/>
              </a:rPr>
              <a:t>Vòng lặp thiên lệch</a:t>
            </a:r>
            <a:endParaRPr lang="en-US" sz="1600" dirty="0"/>
          </a:p>
        </p:txBody>
      </p:sp>
      <p:sp>
        <p:nvSpPr>
          <p:cNvPr id="25" name="Slide Number Placeholder 0"/>
          <p:cNvSpPr>
            <a:spLocks noGrp="1"/>
          </p:cNvSpPr>
          <p:nvPr>
            <p:ph type="sldNum" sz="quarter" idx="4294967295"/>
          </p:nvPr>
        </p:nvSpPr>
        <p:spPr>
          <a:xfrm>
            <a:off x="10972800" y="644652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B5F"/>
                </a:solidFill>
                <a:latin typeface="Calibri"/>
                <a:ea typeface="Calibri"/>
                <a:cs typeface="Calibri"/>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91672" cy="777240"/>
          </a:xfrm>
          <a:prstGeom prst="rect">
            <a:avLst/>
          </a:prstGeom>
          <a:noFill/>
          <a:ln/>
        </p:spPr>
        <p:txBody>
          <a:bodyPr wrap="square" lIns="0" tIns="0" rIns="0" bIns="0" rtlCol="0" anchor="ctr"/>
          <a:lstStyle/>
          <a:p>
            <a:pPr marL="0" indent="0" algn="l">
              <a:buNone/>
            </a:pPr>
            <a:r>
              <a:rPr lang="en-US" sz="3400" b="1" dirty="0">
                <a:solidFill>
                  <a:srgbClr val="1F4D2B"/>
                </a:solidFill>
                <a:latin typeface="Cambria" pitchFamily="34" charset="0"/>
                <a:ea typeface="Cambria" pitchFamily="34" charset="-122"/>
                <a:cs typeface="Cambria" pitchFamily="34" charset="-120"/>
              </a:rPr>
              <a:t>Vì sao CF truyền thống bị đánh lừa</a:t>
            </a:r>
            <a:endParaRPr lang="en-US" sz="3400" dirty="0"/>
          </a:p>
        </p:txBody>
      </p:sp>
      <p:sp>
        <p:nvSpPr>
          <p:cNvPr id="4" name="dag_Z"/>
          <p:cNvSpPr/>
          <p:nvPr/>
        </p:nvSpPr>
        <p:spPr>
          <a:xfrm>
            <a:off x="640080" y="3566160"/>
            <a:ext cx="1371600" cy="1371600"/>
          </a:xfrm>
          <a:prstGeom prst="ellipse">
            <a:avLst/>
          </a:prstGeom>
          <a:solidFill>
            <a:srgbClr val="3E7D3A"/>
          </a:solidFill>
          <a:ln w="31750">
            <a:solidFill>
              <a:srgbClr val="3E7D3A"/>
            </a:solidFill>
            <a:prstDash val="solid"/>
          </a:ln>
        </p:spPr>
        <p:txBody>
          <a:bodyPr wrap="square"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Z</a:t>
            </a:r>
            <a:endParaRPr lang="en-US" sz="2800" dirty="0"/>
          </a:p>
        </p:txBody>
      </p:sp>
      <p:sp>
        <p:nvSpPr>
          <p:cNvPr id="5" name="dag_A"/>
          <p:cNvSpPr/>
          <p:nvPr/>
        </p:nvSpPr>
        <p:spPr>
          <a:xfrm>
            <a:off x="2926080" y="3566160"/>
            <a:ext cx="1371600" cy="1371600"/>
          </a:xfrm>
          <a:prstGeom prst="ellipse">
            <a:avLst/>
          </a:prstGeom>
          <a:solidFill>
            <a:srgbClr val="2E6FA3"/>
          </a:solidFill>
          <a:ln w="31750">
            <a:solidFill>
              <a:srgbClr val="2E6FA3"/>
            </a:solidFill>
            <a:prstDash val="solid"/>
          </a:ln>
        </p:spPr>
        <p:txBody>
          <a:bodyPr wrap="square"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A</a:t>
            </a:r>
            <a:endParaRPr lang="en-US" sz="2800" dirty="0"/>
          </a:p>
        </p:txBody>
      </p:sp>
      <p:sp>
        <p:nvSpPr>
          <p:cNvPr id="6" name="dag_Y"/>
          <p:cNvSpPr/>
          <p:nvPr/>
        </p:nvSpPr>
        <p:spPr>
          <a:xfrm>
            <a:off x="5212080" y="3566160"/>
            <a:ext cx="1371600" cy="1371600"/>
          </a:xfrm>
          <a:prstGeom prst="ellipse">
            <a:avLst/>
          </a:prstGeom>
          <a:solidFill>
            <a:srgbClr val="E07B1F"/>
          </a:solidFill>
          <a:ln w="31750">
            <a:solidFill>
              <a:srgbClr val="E07B1F"/>
            </a:solidFill>
            <a:prstDash val="solid"/>
          </a:ln>
        </p:spPr>
        <p:txBody>
          <a:bodyPr wrap="square"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Y</a:t>
            </a:r>
            <a:endParaRPr lang="en-US" sz="2800" dirty="0"/>
          </a:p>
        </p:txBody>
      </p:sp>
      <p:sp>
        <p:nvSpPr>
          <p:cNvPr id="7" name="dag_U"/>
          <p:cNvSpPr/>
          <p:nvPr/>
        </p:nvSpPr>
        <p:spPr>
          <a:xfrm>
            <a:off x="2926080" y="1325880"/>
            <a:ext cx="1371600" cy="1371600"/>
          </a:xfrm>
          <a:prstGeom prst="ellipse">
            <a:avLst/>
          </a:prstGeom>
          <a:solidFill>
            <a:srgbClr val="FFFFFF"/>
          </a:solidFill>
          <a:ln w="31750">
            <a:solidFill>
              <a:srgbClr val="6B4FA0"/>
            </a:solidFill>
            <a:prstDash val="dash"/>
          </a:ln>
        </p:spPr>
        <p:txBody>
          <a:bodyPr wrap="square" rtlCol="0" anchor="ctr"/>
          <a:lstStyle/>
          <a:p>
            <a:pPr marL="0" indent="0" algn="ctr">
              <a:buNone/>
            </a:pPr>
            <a:r>
              <a:rPr lang="en-US" sz="2800" b="1" dirty="0">
                <a:solidFill>
                  <a:srgbClr val="6B4FA0"/>
                </a:solidFill>
                <a:latin typeface="Cambria" pitchFamily="34" charset="0"/>
                <a:ea typeface="Cambria" pitchFamily="34" charset="-122"/>
                <a:cs typeface="Cambria" pitchFamily="34" charset="-120"/>
              </a:rPr>
              <a:t>U</a:t>
            </a:r>
            <a:endParaRPr lang="en-US" sz="2800" dirty="0"/>
          </a:p>
        </p:txBody>
      </p:sp>
      <p:sp>
        <p:nvSpPr>
          <p:cNvPr id="8" name="Shape 5"/>
          <p:cNvSpPr/>
          <p:nvPr/>
        </p:nvSpPr>
        <p:spPr>
          <a:xfrm>
            <a:off x="2011680" y="4251960"/>
            <a:ext cx="868680" cy="0"/>
          </a:xfrm>
          <a:prstGeom prst="line">
            <a:avLst/>
          </a:prstGeom>
          <a:noFill/>
          <a:ln w="25400">
            <a:solidFill>
              <a:srgbClr val="1F4D2B"/>
            </a:solidFill>
            <a:prstDash val="solid"/>
            <a:tailEnd type="triangle"/>
          </a:ln>
        </p:spPr>
      </p:sp>
      <p:sp>
        <p:nvSpPr>
          <p:cNvPr id="9" name="Shape 6"/>
          <p:cNvSpPr/>
          <p:nvPr/>
        </p:nvSpPr>
        <p:spPr>
          <a:xfrm>
            <a:off x="4297680" y="4251960"/>
            <a:ext cx="868680" cy="0"/>
          </a:xfrm>
          <a:prstGeom prst="line">
            <a:avLst/>
          </a:prstGeom>
          <a:noFill/>
          <a:ln w="25400">
            <a:solidFill>
              <a:srgbClr val="1F4D2B"/>
            </a:solidFill>
            <a:prstDash val="solid"/>
            <a:tailEnd type="triangle"/>
          </a:ln>
        </p:spPr>
      </p:sp>
      <p:sp>
        <p:nvSpPr>
          <p:cNvPr id="10" name="Shape 7"/>
          <p:cNvSpPr/>
          <p:nvPr/>
        </p:nvSpPr>
        <p:spPr>
          <a:xfrm>
            <a:off x="3611880" y="2697480"/>
            <a:ext cx="0" cy="822960"/>
          </a:xfrm>
          <a:prstGeom prst="line">
            <a:avLst/>
          </a:prstGeom>
          <a:noFill/>
          <a:ln w="25400">
            <a:solidFill>
              <a:srgbClr val="6B4FA0"/>
            </a:solidFill>
            <a:prstDash val="dash"/>
            <a:tailEnd type="triangle"/>
          </a:ln>
        </p:spPr>
      </p:sp>
      <p:sp>
        <p:nvSpPr>
          <p:cNvPr id="11" name="Shape 8"/>
          <p:cNvSpPr/>
          <p:nvPr/>
        </p:nvSpPr>
        <p:spPr>
          <a:xfrm>
            <a:off x="4114800" y="2286000"/>
            <a:ext cx="1280160" cy="1325880"/>
          </a:xfrm>
          <a:prstGeom prst="line">
            <a:avLst/>
          </a:prstGeom>
          <a:noFill/>
          <a:ln w="25400">
            <a:solidFill>
              <a:srgbClr val="6B4FA0"/>
            </a:solidFill>
            <a:prstDash val="dash"/>
            <a:tailEnd type="triangle"/>
          </a:ln>
        </p:spPr>
      </p:sp>
      <p:sp>
        <p:nvSpPr>
          <p:cNvPr id="12" name="Text 9"/>
          <p:cNvSpPr txBox="1"/>
          <p:nvPr/>
        </p:nvSpPr>
        <p:spPr>
          <a:xfrm>
            <a:off x="548640" y="5349240"/>
            <a:ext cx="6675120" cy="822960"/>
          </a:xfrm>
          <a:prstGeom prst="rect">
            <a:avLst/>
          </a:prstGeom>
          <a:noFill/>
          <a:ln/>
        </p:spPr>
        <p:txBody>
          <a:bodyPr wrap="square" lIns="0" tIns="0" rIns="0" bIns="0" rtlCol="0" anchor="t"/>
          <a:lstStyle/>
          <a:p>
            <a:pPr marL="0" indent="0" algn="l">
              <a:buNone/>
            </a:pPr>
            <a:r>
              <a:rPr lang="en-US" sz="1400" dirty="0">
                <a:solidFill>
                  <a:srgbClr val="5C6B5F"/>
                </a:solidFill>
                <a:latin typeface="Calibri" pitchFamily="34" charset="0"/>
                <a:ea typeface="Calibri" pitchFamily="34" charset="-122"/>
                <a:cs typeface="Calibri" pitchFamily="34" charset="-120"/>
              </a:rPr>
              <a:t>A: video có được hiển thị?   Y: phản hồi (click, like)</a:t>
            </a:r>
            <a:endParaRPr lang="en-US" sz="1400" dirty="0"/>
          </a:p>
          <a:p>
            <a:pPr marL="0" indent="0" algn="l">
              <a:buNone/>
            </a:pPr>
            <a:r>
              <a:rPr lang="en-US" sz="1400" dirty="0">
                <a:solidFill>
                  <a:srgbClr val="5C6B5F"/>
                </a:solidFill>
                <a:latin typeface="Calibri" pitchFamily="34" charset="0"/>
                <a:ea typeface="Calibri" pitchFamily="34" charset="-122"/>
                <a:cs typeface="Calibri" pitchFamily="34" charset="-120"/>
              </a:rPr>
              <a:t>U: confounder ẩn (sở thích, xu hướng)   Z: biến công cụ (IV)</a:t>
            </a:r>
            <a:endParaRPr lang="en-US" sz="1400" dirty="0"/>
          </a:p>
        </p:txBody>
      </p:sp>
      <p:sp>
        <p:nvSpPr>
          <p:cNvPr id="13" name="dag_c1_bg"/>
          <p:cNvSpPr/>
          <p:nvPr/>
        </p:nvSpPr>
        <p:spPr>
          <a:xfrm>
            <a:off x="7498080" y="1371600"/>
            <a:ext cx="4160520" cy="1325880"/>
          </a:xfrm>
          <a:prstGeom prst="roundRect">
            <a:avLst>
              <a:gd name="adj" fmla="val 5517"/>
            </a:avLst>
          </a:prstGeom>
          <a:solidFill>
            <a:srgbClr val="EEF5E6"/>
          </a:solidFill>
          <a:ln w="9525">
            <a:solidFill>
              <a:srgbClr val="DCE8CF"/>
            </a:solidFill>
            <a:prstDash val="solid"/>
          </a:ln>
        </p:spPr>
      </p:sp>
      <p:sp>
        <p:nvSpPr>
          <p:cNvPr id="14" name="dag_c1_head"/>
          <p:cNvSpPr txBox="1"/>
          <p:nvPr/>
        </p:nvSpPr>
        <p:spPr>
          <a:xfrm>
            <a:off x="7680960" y="1481328"/>
            <a:ext cx="3794760" cy="365760"/>
          </a:xfrm>
          <a:prstGeom prst="rect">
            <a:avLst/>
          </a:prstGeom>
          <a:noFill/>
          <a:ln/>
        </p:spPr>
        <p:txBody>
          <a:bodyPr wrap="square" lIns="0" tIns="0" rIns="0" bIns="0" rtlCol="0" anchor="t"/>
          <a:lstStyle/>
          <a:p>
            <a:pPr marL="0" indent="0" algn="l">
              <a:buNone/>
            </a:pPr>
            <a:r>
              <a:rPr lang="en-US" sz="1600" b="1" dirty="0">
                <a:solidFill>
                  <a:srgbClr val="1F4D2B"/>
                </a:solidFill>
                <a:latin typeface="Calibri" pitchFamily="34" charset="0"/>
                <a:ea typeface="Calibri" pitchFamily="34" charset="-122"/>
                <a:cs typeface="Calibri" pitchFamily="34" charset="-120"/>
              </a:rPr>
              <a:t>CF học sai thứ gì?</a:t>
            </a:r>
            <a:endParaRPr lang="en-US" sz="1600" dirty="0"/>
          </a:p>
        </p:txBody>
      </p:sp>
      <p:sp>
        <p:nvSpPr>
          <p:cNvPr id="15" name="dag_c1_body"/>
          <p:cNvSpPr txBox="1"/>
          <p:nvPr/>
        </p:nvSpPr>
        <p:spPr>
          <a:xfrm>
            <a:off x="7680960" y="1874520"/>
            <a:ext cx="3794760" cy="731520"/>
          </a:xfrm>
          <a:prstGeom prst="rect">
            <a:avLst/>
          </a:prstGeom>
          <a:noFill/>
          <a:ln/>
        </p:spPr>
        <p:txBody>
          <a:bodyPr wrap="square" lIns="0" tIns="0" rIns="0" bIns="0" rtlCol="0" anchor="t"/>
          <a:lstStyle/>
          <a:p>
            <a:pPr marL="0" indent="0" algn="l">
              <a:buNone/>
            </a:pPr>
            <a:r>
              <a:rPr lang="en-US" sz="1400" dirty="0">
                <a:solidFill>
                  <a:srgbClr val="1B2A1F"/>
                </a:solidFill>
                <a:latin typeface="Calibri" pitchFamily="34" charset="0"/>
                <a:ea typeface="Calibri" pitchFamily="34" charset="-122"/>
                <a:cs typeface="Calibri" pitchFamily="34" charset="-120"/>
              </a:rPr>
              <a:t>Chỉ học P(Y | O=1) trên mẫu đã hiển thị, nên tương quan giả từ U bị coi là sở thích.</a:t>
            </a:r>
            <a:endParaRPr lang="en-US" sz="1400" dirty="0"/>
          </a:p>
        </p:txBody>
      </p:sp>
      <p:sp>
        <p:nvSpPr>
          <p:cNvPr id="16" name="dag_c2_bg"/>
          <p:cNvSpPr/>
          <p:nvPr/>
        </p:nvSpPr>
        <p:spPr>
          <a:xfrm>
            <a:off x="7498080" y="2880360"/>
            <a:ext cx="4160520" cy="1325880"/>
          </a:xfrm>
          <a:prstGeom prst="roundRect">
            <a:avLst>
              <a:gd name="adj" fmla="val 5517"/>
            </a:avLst>
          </a:prstGeom>
          <a:solidFill>
            <a:srgbClr val="EEF5E6"/>
          </a:solidFill>
          <a:ln w="9525">
            <a:solidFill>
              <a:srgbClr val="DCE8CF"/>
            </a:solidFill>
            <a:prstDash val="solid"/>
          </a:ln>
        </p:spPr>
      </p:sp>
      <p:sp>
        <p:nvSpPr>
          <p:cNvPr id="17" name="dag_c2_head"/>
          <p:cNvSpPr txBox="1"/>
          <p:nvPr/>
        </p:nvSpPr>
        <p:spPr>
          <a:xfrm>
            <a:off x="7680960" y="2990088"/>
            <a:ext cx="3794760" cy="365760"/>
          </a:xfrm>
          <a:prstGeom prst="rect">
            <a:avLst/>
          </a:prstGeom>
          <a:noFill/>
          <a:ln/>
        </p:spPr>
        <p:txBody>
          <a:bodyPr wrap="square" lIns="0" tIns="0" rIns="0" bIns="0" rtlCol="0" anchor="t"/>
          <a:lstStyle/>
          <a:p>
            <a:pPr marL="0" indent="0" algn="l">
              <a:buNone/>
            </a:pPr>
            <a:r>
              <a:rPr lang="en-US" sz="1600" b="1" dirty="0">
                <a:solidFill>
                  <a:srgbClr val="E07B1F"/>
                </a:solidFill>
                <a:latin typeface="Calibri" pitchFamily="34" charset="0"/>
                <a:ea typeface="Calibri" pitchFamily="34" charset="-122"/>
                <a:cs typeface="Calibri" pitchFamily="34" charset="-120"/>
              </a:rPr>
              <a:t>Hướng xử lý 1: IPS / DR</a:t>
            </a:r>
            <a:endParaRPr lang="en-US" sz="1600" dirty="0"/>
          </a:p>
        </p:txBody>
      </p:sp>
      <p:sp>
        <p:nvSpPr>
          <p:cNvPr id="18" name="dag_c2_body"/>
          <p:cNvSpPr txBox="1"/>
          <p:nvPr/>
        </p:nvSpPr>
        <p:spPr>
          <a:xfrm>
            <a:off x="7680960" y="3383280"/>
            <a:ext cx="3794760" cy="731520"/>
          </a:xfrm>
          <a:prstGeom prst="rect">
            <a:avLst/>
          </a:prstGeom>
          <a:noFill/>
          <a:ln/>
        </p:spPr>
        <p:txBody>
          <a:bodyPr wrap="square" lIns="0" tIns="0" rIns="0" bIns="0" rtlCol="0" anchor="t"/>
          <a:lstStyle/>
          <a:p>
            <a:pPr marL="0" indent="0" algn="l">
              <a:buNone/>
            </a:pPr>
            <a:r>
              <a:rPr lang="en-US" sz="1400" dirty="0">
                <a:solidFill>
                  <a:srgbClr val="1B2A1F"/>
                </a:solidFill>
                <a:latin typeface="Calibri" pitchFamily="34" charset="0"/>
                <a:ea typeface="Calibri" pitchFamily="34" charset="-122"/>
                <a:cs typeface="Calibri" pitchFamily="34" charset="-120"/>
              </a:rPr>
              <a:t>Bù thiên lệch bằng propensity (CDR). Cần propensity đúng, không xử lý được U.</a:t>
            </a:r>
            <a:endParaRPr lang="en-US" sz="1400" dirty="0"/>
          </a:p>
        </p:txBody>
      </p:sp>
      <p:sp>
        <p:nvSpPr>
          <p:cNvPr id="19" name="dag_c3_bg"/>
          <p:cNvSpPr/>
          <p:nvPr/>
        </p:nvSpPr>
        <p:spPr>
          <a:xfrm>
            <a:off x="7498080" y="4389120"/>
            <a:ext cx="4160520" cy="1325880"/>
          </a:xfrm>
          <a:prstGeom prst="roundRect">
            <a:avLst>
              <a:gd name="adj" fmla="val 5517"/>
            </a:avLst>
          </a:prstGeom>
          <a:solidFill>
            <a:srgbClr val="EEF5E6"/>
          </a:solidFill>
          <a:ln w="9525">
            <a:solidFill>
              <a:srgbClr val="DCE8CF"/>
            </a:solidFill>
            <a:prstDash val="solid"/>
          </a:ln>
        </p:spPr>
      </p:sp>
      <p:sp>
        <p:nvSpPr>
          <p:cNvPr id="20" name="dag_c3_head"/>
          <p:cNvSpPr txBox="1"/>
          <p:nvPr/>
        </p:nvSpPr>
        <p:spPr>
          <a:xfrm>
            <a:off x="7680960" y="4498848"/>
            <a:ext cx="3794760" cy="365760"/>
          </a:xfrm>
          <a:prstGeom prst="rect">
            <a:avLst/>
          </a:prstGeom>
          <a:noFill/>
          <a:ln/>
        </p:spPr>
        <p:txBody>
          <a:bodyPr wrap="square" lIns="0" tIns="0" rIns="0" bIns="0" rtlCol="0" anchor="t"/>
          <a:lstStyle/>
          <a:p>
            <a:pPr marL="0" indent="0" algn="l">
              <a:buNone/>
            </a:pPr>
            <a:r>
              <a:rPr lang="en-US" sz="1600" b="1" dirty="0">
                <a:solidFill>
                  <a:srgbClr val="6B4FA0"/>
                </a:solidFill>
                <a:latin typeface="Calibri" pitchFamily="34" charset="0"/>
                <a:ea typeface="Calibri" pitchFamily="34" charset="-122"/>
                <a:cs typeface="Calibri" pitchFamily="34" charset="-120"/>
              </a:rPr>
              <a:t>Hướng xử lý 2: IV + latent</a:t>
            </a:r>
            <a:endParaRPr lang="en-US" sz="1600" dirty="0"/>
          </a:p>
        </p:txBody>
      </p:sp>
      <p:sp>
        <p:nvSpPr>
          <p:cNvPr id="21" name="dag_c3_body"/>
          <p:cNvSpPr txBox="1"/>
          <p:nvPr/>
        </p:nvSpPr>
        <p:spPr>
          <a:xfrm>
            <a:off x="7680960" y="4892040"/>
            <a:ext cx="3794760" cy="731520"/>
          </a:xfrm>
          <a:prstGeom prst="rect">
            <a:avLst/>
          </a:prstGeom>
          <a:noFill/>
          <a:ln/>
        </p:spPr>
        <p:txBody>
          <a:bodyPr wrap="square" lIns="0" tIns="0" rIns="0" bIns="0" rtlCol="0" anchor="t"/>
          <a:lstStyle/>
          <a:p>
            <a:pPr marL="0" indent="0" algn="l">
              <a:buNone/>
            </a:pPr>
            <a:r>
              <a:rPr lang="en-US" sz="1400" dirty="0">
                <a:solidFill>
                  <a:srgbClr val="1B2A1F"/>
                </a:solidFill>
                <a:latin typeface="Calibri" pitchFamily="34" charset="0"/>
                <a:ea typeface="Calibri" pitchFamily="34" charset="-122"/>
                <a:cs typeface="Calibri" pitchFamily="34" charset="-120"/>
              </a:rPr>
              <a:t>Dùng Z để suy ra biểu diễn của U (IViDR), cộng vào điểm gợi ý.</a:t>
            </a:r>
            <a:endParaRPr lang="en-US" sz="1400" dirty="0"/>
          </a:p>
        </p:txBody>
      </p:sp>
      <p:sp>
        <p:nvSpPr>
          <p:cNvPr id="25" name="Slide Number Placeholder 0"/>
          <p:cNvSpPr>
            <a:spLocks noGrp="1"/>
          </p:cNvSpPr>
          <p:nvPr>
            <p:ph type="sldNum" sz="quarter" idx="4294967295"/>
          </p:nvPr>
        </p:nvSpPr>
        <p:spPr>
          <a:xfrm>
            <a:off x="10972800" y="644652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B5F"/>
                </a:solidFill>
                <a:latin typeface="Calibri"/>
                <a:ea typeface="Calibri"/>
                <a:cs typeface="Calibri"/>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91672" cy="777240"/>
          </a:xfrm>
          <a:prstGeom prst="rect">
            <a:avLst/>
          </a:prstGeom>
          <a:noFill/>
          <a:ln/>
        </p:spPr>
        <p:txBody>
          <a:bodyPr wrap="square" lIns="0" tIns="0" rIns="0" bIns="0" rtlCol="0" anchor="ctr"/>
          <a:lstStyle/>
          <a:p>
            <a:pPr marL="0" indent="0" algn="l">
              <a:buNone/>
            </a:pPr>
            <a:r>
              <a:rPr lang="en-US" sz="3400" b="1" dirty="0">
                <a:solidFill>
                  <a:srgbClr val="1F4D2B"/>
                </a:solidFill>
                <a:latin typeface="Cambria" pitchFamily="34" charset="0"/>
                <a:ea typeface="Cambria" pitchFamily="34" charset="-122"/>
                <a:cs typeface="Cambria" pitchFamily="34" charset="-120"/>
              </a:rPr>
              <a:t>Mục tiêu và câu hỏi nghiên cứu</a:t>
            </a:r>
            <a:endParaRPr lang="en-US" sz="3400" dirty="0"/>
          </a:p>
        </p:txBody>
      </p:sp>
      <p:sp>
        <p:nvSpPr>
          <p:cNvPr id="4" name="goal_n1"/>
          <p:cNvSpPr/>
          <p:nvPr/>
        </p:nvSpPr>
        <p:spPr>
          <a:xfrm>
            <a:off x="548640" y="1463040"/>
            <a:ext cx="640080" cy="640080"/>
          </a:xfrm>
          <a:prstGeom prst="ellipse">
            <a:avLst/>
          </a:prstGeom>
          <a:solidFill>
            <a:srgbClr val="3E7D3A"/>
          </a:solidFill>
          <a:ln>
            <a:solidFill>
              <a:srgbClr val="3E7D3A"/>
            </a:solidFill>
          </a:ln>
        </p:spPr>
        <p:txBody>
          <a:bodyPr wrap="square"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5" name="Text 2"/>
          <p:cNvSpPr txBox="1"/>
          <p:nvPr/>
        </p:nvSpPr>
        <p:spPr>
          <a:xfrm>
            <a:off x="548640" y="2240280"/>
            <a:ext cx="2560320" cy="731520"/>
          </a:xfrm>
          <a:prstGeom prst="rect">
            <a:avLst/>
          </a:prstGeom>
          <a:noFill/>
          <a:ln/>
        </p:spPr>
        <p:txBody>
          <a:bodyPr wrap="square" lIns="0" tIns="0" rIns="0" bIns="0" rtlCol="0" anchor="t"/>
          <a:lstStyle/>
          <a:p>
            <a:pPr marL="0" indent="0" algn="l">
              <a:buNone/>
            </a:pPr>
            <a:r>
              <a:rPr lang="en-US" sz="1800" b="1" dirty="0">
                <a:solidFill>
                  <a:srgbClr val="1F4D2B"/>
                </a:solidFill>
                <a:latin typeface="Calibri" pitchFamily="34" charset="0"/>
                <a:ea typeface="Calibri" pitchFamily="34" charset="-122"/>
                <a:cs typeface="Calibri" pitchFamily="34" charset="-120"/>
              </a:rPr>
              <a:t>Thu thập và chuẩn hóa dữ liệu</a:t>
            </a:r>
            <a:endParaRPr lang="en-US" sz="1800" dirty="0"/>
          </a:p>
        </p:txBody>
      </p:sp>
      <p:sp>
        <p:nvSpPr>
          <p:cNvPr id="6" name="Text 3"/>
          <p:cNvSpPr txBox="1"/>
          <p:nvPr/>
        </p:nvSpPr>
        <p:spPr>
          <a:xfrm>
            <a:off x="548640" y="3017520"/>
            <a:ext cx="2560320" cy="548640"/>
          </a:xfrm>
          <a:prstGeom prst="rect">
            <a:avLst/>
          </a:prstGeom>
          <a:noFill/>
          <a:ln/>
        </p:spPr>
        <p:txBody>
          <a:bodyPr wrap="square" lIns="0" tIns="0" rIns="0" bIns="0" rtlCol="0" anchor="t"/>
          <a:lstStyle/>
          <a:p>
            <a:pPr marL="0" indent="0" algn="l">
              <a:buNone/>
            </a:pPr>
            <a:r>
              <a:rPr lang="en-US" sz="1400" dirty="0">
                <a:solidFill>
                  <a:srgbClr val="5C6B5F"/>
                </a:solidFill>
                <a:latin typeface="Calibri" pitchFamily="34" charset="0"/>
                <a:ea typeface="Calibri" pitchFamily="34" charset="-122"/>
                <a:cs typeface="Calibri" pitchFamily="34" charset="-120"/>
              </a:rPr>
              <a:t>Coat, KuaiRand-Pure</a:t>
            </a:r>
            <a:endParaRPr lang="en-US" sz="1400" dirty="0"/>
          </a:p>
        </p:txBody>
      </p:sp>
      <p:sp>
        <p:nvSpPr>
          <p:cNvPr id="7" name="Shape 4"/>
          <p:cNvSpPr/>
          <p:nvPr/>
        </p:nvSpPr>
        <p:spPr>
          <a:xfrm>
            <a:off x="1325880" y="1783080"/>
            <a:ext cx="1097280" cy="0"/>
          </a:xfrm>
          <a:prstGeom prst="line">
            <a:avLst/>
          </a:prstGeom>
          <a:noFill/>
          <a:ln w="25400">
            <a:solidFill>
              <a:srgbClr val="8DB255"/>
            </a:solidFill>
            <a:prstDash val="solid"/>
            <a:tailEnd type="triangle"/>
          </a:ln>
        </p:spPr>
      </p:sp>
      <p:sp>
        <p:nvSpPr>
          <p:cNvPr id="8" name="goal_n2"/>
          <p:cNvSpPr/>
          <p:nvPr/>
        </p:nvSpPr>
        <p:spPr>
          <a:xfrm>
            <a:off x="3383280" y="1463040"/>
            <a:ext cx="640080" cy="640080"/>
          </a:xfrm>
          <a:prstGeom prst="ellipse">
            <a:avLst/>
          </a:prstGeom>
          <a:solidFill>
            <a:srgbClr val="3E7D3A"/>
          </a:solidFill>
          <a:ln>
            <a:solidFill>
              <a:srgbClr val="3E7D3A"/>
            </a:solidFill>
          </a:ln>
        </p:spPr>
        <p:txBody>
          <a:bodyPr wrap="square"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9" name="Text 6"/>
          <p:cNvSpPr txBox="1"/>
          <p:nvPr/>
        </p:nvSpPr>
        <p:spPr>
          <a:xfrm>
            <a:off x="3383280" y="2240280"/>
            <a:ext cx="2560320" cy="731520"/>
          </a:xfrm>
          <a:prstGeom prst="rect">
            <a:avLst/>
          </a:prstGeom>
          <a:noFill/>
          <a:ln/>
        </p:spPr>
        <p:txBody>
          <a:bodyPr wrap="square" lIns="0" tIns="0" rIns="0" bIns="0" rtlCol="0" anchor="t"/>
          <a:lstStyle/>
          <a:p>
            <a:pPr marL="0" indent="0" algn="l">
              <a:buNone/>
            </a:pPr>
            <a:r>
              <a:rPr lang="en-US" sz="1800" b="1" dirty="0">
                <a:solidFill>
                  <a:srgbClr val="1F4D2B"/>
                </a:solidFill>
                <a:latin typeface="Calibri" pitchFamily="34" charset="0"/>
                <a:ea typeface="Calibri" pitchFamily="34" charset="-122"/>
                <a:cs typeface="Calibri" pitchFamily="34" charset="-120"/>
              </a:rPr>
              <a:t>Xây dựng 3 mô hình</a:t>
            </a:r>
            <a:endParaRPr lang="en-US" sz="1800" dirty="0"/>
          </a:p>
        </p:txBody>
      </p:sp>
      <p:sp>
        <p:nvSpPr>
          <p:cNvPr id="10" name="Text 7"/>
          <p:cNvSpPr txBox="1"/>
          <p:nvPr/>
        </p:nvSpPr>
        <p:spPr>
          <a:xfrm>
            <a:off x="3383280" y="3017520"/>
            <a:ext cx="2560320" cy="548640"/>
          </a:xfrm>
          <a:prstGeom prst="rect">
            <a:avLst/>
          </a:prstGeom>
          <a:noFill/>
          <a:ln/>
        </p:spPr>
        <p:txBody>
          <a:bodyPr wrap="square" lIns="0" tIns="0" rIns="0" bIns="0" rtlCol="0" anchor="t"/>
          <a:lstStyle/>
          <a:p>
            <a:pPr marL="0" indent="0" algn="l">
              <a:buNone/>
            </a:pPr>
            <a:r>
              <a:rPr lang="en-US" sz="1400" dirty="0">
                <a:solidFill>
                  <a:srgbClr val="5C6B5F"/>
                </a:solidFill>
                <a:latin typeface="Calibri" pitchFamily="34" charset="0"/>
                <a:ea typeface="Calibri" pitchFamily="34" charset="-122"/>
                <a:cs typeface="Calibri" pitchFamily="34" charset="-120"/>
              </a:rPr>
              <a:t>MF, DR-BIAS + CDR, IViDR</a:t>
            </a:r>
            <a:endParaRPr lang="en-US" sz="1400" dirty="0"/>
          </a:p>
        </p:txBody>
      </p:sp>
      <p:sp>
        <p:nvSpPr>
          <p:cNvPr id="11" name="Shape 8"/>
          <p:cNvSpPr/>
          <p:nvPr/>
        </p:nvSpPr>
        <p:spPr>
          <a:xfrm>
            <a:off x="4160520" y="1783080"/>
            <a:ext cx="1097280" cy="0"/>
          </a:xfrm>
          <a:prstGeom prst="line">
            <a:avLst/>
          </a:prstGeom>
          <a:noFill/>
          <a:ln w="25400">
            <a:solidFill>
              <a:srgbClr val="8DB255"/>
            </a:solidFill>
            <a:prstDash val="solid"/>
            <a:tailEnd type="triangle"/>
          </a:ln>
        </p:spPr>
      </p:sp>
      <p:sp>
        <p:nvSpPr>
          <p:cNvPr id="12" name="goal_n3"/>
          <p:cNvSpPr/>
          <p:nvPr/>
        </p:nvSpPr>
        <p:spPr>
          <a:xfrm>
            <a:off x="6217920" y="1463040"/>
            <a:ext cx="640080" cy="640080"/>
          </a:xfrm>
          <a:prstGeom prst="ellipse">
            <a:avLst/>
          </a:prstGeom>
          <a:solidFill>
            <a:srgbClr val="3E7D3A"/>
          </a:solidFill>
          <a:ln>
            <a:solidFill>
              <a:srgbClr val="3E7D3A"/>
            </a:solidFill>
          </a:ln>
        </p:spPr>
        <p:txBody>
          <a:bodyPr wrap="square"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3" name="Text 10"/>
          <p:cNvSpPr txBox="1"/>
          <p:nvPr/>
        </p:nvSpPr>
        <p:spPr>
          <a:xfrm>
            <a:off x="6217920" y="2240280"/>
            <a:ext cx="2560320" cy="731520"/>
          </a:xfrm>
          <a:prstGeom prst="rect">
            <a:avLst/>
          </a:prstGeom>
          <a:noFill/>
          <a:ln/>
        </p:spPr>
        <p:txBody>
          <a:bodyPr wrap="square" lIns="0" tIns="0" rIns="0" bIns="0" rtlCol="0" anchor="t"/>
          <a:lstStyle/>
          <a:p>
            <a:pPr marL="0" indent="0" algn="l">
              <a:buNone/>
            </a:pPr>
            <a:r>
              <a:rPr lang="en-US" sz="1800" b="1" dirty="0">
                <a:solidFill>
                  <a:srgbClr val="1F4D2B"/>
                </a:solidFill>
                <a:latin typeface="Calibri" pitchFamily="34" charset="0"/>
                <a:ea typeface="Calibri" pitchFamily="34" charset="-122"/>
                <a:cs typeface="Calibri" pitchFamily="34" charset="-120"/>
              </a:rPr>
              <a:t>So sánh dưới cùng giao thức</a:t>
            </a:r>
            <a:endParaRPr lang="en-US" sz="1800" dirty="0"/>
          </a:p>
        </p:txBody>
      </p:sp>
      <p:sp>
        <p:nvSpPr>
          <p:cNvPr id="14" name="Text 11"/>
          <p:cNvSpPr txBox="1"/>
          <p:nvPr/>
        </p:nvSpPr>
        <p:spPr>
          <a:xfrm>
            <a:off x="6217920" y="3017520"/>
            <a:ext cx="2560320" cy="548640"/>
          </a:xfrm>
          <a:prstGeom prst="rect">
            <a:avLst/>
          </a:prstGeom>
          <a:noFill/>
          <a:ln/>
        </p:spPr>
        <p:txBody>
          <a:bodyPr wrap="square" lIns="0" tIns="0" rIns="0" bIns="0" rtlCol="0" anchor="t"/>
          <a:lstStyle/>
          <a:p>
            <a:pPr marL="0" indent="0" algn="l">
              <a:buNone/>
            </a:pPr>
            <a:r>
              <a:rPr lang="en-US" sz="1400" dirty="0">
                <a:solidFill>
                  <a:srgbClr val="5C6B5F"/>
                </a:solidFill>
                <a:latin typeface="Calibri" pitchFamily="34" charset="0"/>
                <a:ea typeface="Calibri" pitchFamily="34" charset="-122"/>
                <a:cs typeface="Calibri" pitchFamily="34" charset="-120"/>
              </a:rPr>
              <a:t>iDCF protocol (KDD'23)</a:t>
            </a:r>
            <a:endParaRPr lang="en-US" sz="1400" dirty="0"/>
          </a:p>
        </p:txBody>
      </p:sp>
      <p:sp>
        <p:nvSpPr>
          <p:cNvPr id="15" name="Shape 12"/>
          <p:cNvSpPr/>
          <p:nvPr/>
        </p:nvSpPr>
        <p:spPr>
          <a:xfrm>
            <a:off x="6995160" y="1783080"/>
            <a:ext cx="1097280" cy="0"/>
          </a:xfrm>
          <a:prstGeom prst="line">
            <a:avLst/>
          </a:prstGeom>
          <a:noFill/>
          <a:ln w="25400">
            <a:solidFill>
              <a:srgbClr val="8DB255"/>
            </a:solidFill>
            <a:prstDash val="solid"/>
            <a:tailEnd type="triangle"/>
          </a:ln>
        </p:spPr>
      </p:sp>
      <p:sp>
        <p:nvSpPr>
          <p:cNvPr id="16" name="goal_n4"/>
          <p:cNvSpPr/>
          <p:nvPr/>
        </p:nvSpPr>
        <p:spPr>
          <a:xfrm>
            <a:off x="9052560" y="1463040"/>
            <a:ext cx="640080" cy="640080"/>
          </a:xfrm>
          <a:prstGeom prst="ellipse">
            <a:avLst/>
          </a:prstGeom>
          <a:solidFill>
            <a:srgbClr val="3E7D3A"/>
          </a:solidFill>
          <a:ln>
            <a:solidFill>
              <a:srgbClr val="3E7D3A"/>
            </a:solidFill>
          </a:ln>
        </p:spPr>
        <p:txBody>
          <a:bodyPr wrap="square"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17" name="Text 14"/>
          <p:cNvSpPr txBox="1"/>
          <p:nvPr/>
        </p:nvSpPr>
        <p:spPr>
          <a:xfrm>
            <a:off x="9052560" y="2240280"/>
            <a:ext cx="2560320" cy="731520"/>
          </a:xfrm>
          <a:prstGeom prst="rect">
            <a:avLst/>
          </a:prstGeom>
          <a:noFill/>
          <a:ln/>
        </p:spPr>
        <p:txBody>
          <a:bodyPr wrap="square" lIns="0" tIns="0" rIns="0" bIns="0" rtlCol="0" anchor="t"/>
          <a:lstStyle/>
          <a:p>
            <a:pPr marL="0" indent="0" algn="l">
              <a:buNone/>
            </a:pPr>
            <a:r>
              <a:rPr lang="en-US" sz="1800" b="1" dirty="0">
                <a:solidFill>
                  <a:srgbClr val="1F4D2B"/>
                </a:solidFill>
                <a:latin typeface="Calibri" pitchFamily="34" charset="0"/>
                <a:ea typeface="Calibri" pitchFamily="34" charset="-122"/>
                <a:cs typeface="Calibri" pitchFamily="34" charset="-120"/>
              </a:rPr>
              <a:t>Đóng gói dịch vụ</a:t>
            </a:r>
            <a:endParaRPr lang="en-US" sz="1800" dirty="0"/>
          </a:p>
        </p:txBody>
      </p:sp>
      <p:sp>
        <p:nvSpPr>
          <p:cNvPr id="18" name="Text 15"/>
          <p:cNvSpPr txBox="1"/>
          <p:nvPr/>
        </p:nvSpPr>
        <p:spPr>
          <a:xfrm>
            <a:off x="9052560" y="3017520"/>
            <a:ext cx="2560320" cy="548640"/>
          </a:xfrm>
          <a:prstGeom prst="rect">
            <a:avLst/>
          </a:prstGeom>
          <a:noFill/>
          <a:ln/>
        </p:spPr>
        <p:txBody>
          <a:bodyPr wrap="square" lIns="0" tIns="0" rIns="0" bIns="0" rtlCol="0" anchor="t"/>
          <a:lstStyle/>
          <a:p>
            <a:pPr marL="0" indent="0" algn="l">
              <a:buNone/>
            </a:pPr>
            <a:r>
              <a:rPr lang="en-US" sz="1400" dirty="0">
                <a:solidFill>
                  <a:srgbClr val="5C6B5F"/>
                </a:solidFill>
                <a:latin typeface="Calibri" pitchFamily="34" charset="0"/>
                <a:ea typeface="Calibri" pitchFamily="34" charset="-122"/>
                <a:cs typeface="Calibri" pitchFamily="34" charset="-120"/>
              </a:rPr>
              <a:t>FastAPI cho app TopTop</a:t>
            </a:r>
            <a:endParaRPr lang="en-US" sz="1400" dirty="0"/>
          </a:p>
        </p:txBody>
      </p:sp>
      <p:sp>
        <p:nvSpPr>
          <p:cNvPr id="19" name="rq_bg"/>
          <p:cNvSpPr/>
          <p:nvPr/>
        </p:nvSpPr>
        <p:spPr>
          <a:xfrm>
            <a:off x="548640" y="4114800"/>
            <a:ext cx="11091672" cy="1828800"/>
          </a:xfrm>
          <a:prstGeom prst="roundRect">
            <a:avLst>
              <a:gd name="adj" fmla="val 4000"/>
            </a:avLst>
          </a:prstGeom>
          <a:solidFill>
            <a:srgbClr val="EEF5E6"/>
          </a:solidFill>
          <a:ln w="9525">
            <a:solidFill>
              <a:srgbClr val="DCE8CF"/>
            </a:solidFill>
            <a:prstDash val="solid"/>
          </a:ln>
        </p:spPr>
      </p:sp>
      <p:sp>
        <p:nvSpPr>
          <p:cNvPr id="20" name="Text 17"/>
          <p:cNvSpPr txBox="1"/>
          <p:nvPr/>
        </p:nvSpPr>
        <p:spPr>
          <a:xfrm>
            <a:off x="822960" y="4297680"/>
            <a:ext cx="4572000" cy="365760"/>
          </a:xfrm>
          <a:prstGeom prst="rect">
            <a:avLst/>
          </a:prstGeom>
          <a:noFill/>
          <a:ln/>
        </p:spPr>
        <p:txBody>
          <a:bodyPr wrap="square" lIns="0" tIns="0" rIns="0" bIns="0" rtlCol="0" anchor="t"/>
          <a:lstStyle/>
          <a:p>
            <a:pPr marL="0" indent="0" algn="l">
              <a:buNone/>
            </a:pPr>
            <a:r>
              <a:rPr lang="en-US" sz="1600" b="1" dirty="0">
                <a:solidFill>
                  <a:srgbClr val="3E7D3A"/>
                </a:solidFill>
                <a:latin typeface="Calibri" pitchFamily="34" charset="0"/>
                <a:ea typeface="Calibri" pitchFamily="34" charset="-122"/>
                <a:cs typeface="Calibri" pitchFamily="34" charset="-120"/>
              </a:rPr>
              <a:t>Câu hỏi nghiên cứu</a:t>
            </a:r>
            <a:endParaRPr lang="en-US" sz="1600" dirty="0"/>
          </a:p>
        </p:txBody>
      </p:sp>
      <p:sp>
        <p:nvSpPr>
          <p:cNvPr id="21" name="Text 18"/>
          <p:cNvSpPr txBox="1"/>
          <p:nvPr/>
        </p:nvSpPr>
        <p:spPr>
          <a:xfrm>
            <a:off x="822960" y="4754880"/>
            <a:ext cx="10515600" cy="1005840"/>
          </a:xfrm>
          <a:prstGeom prst="rect">
            <a:avLst/>
          </a:prstGeom>
          <a:noFill/>
          <a:ln/>
        </p:spPr>
        <p:txBody>
          <a:bodyPr wrap="square" lIns="0" tIns="0" rIns="0" bIns="0" rtlCol="0" anchor="t"/>
          <a:lstStyle/>
          <a:p>
            <a:pPr marL="0" indent="0" algn="l">
              <a:buNone/>
            </a:pPr>
            <a:r>
              <a:rPr lang="en-US" sz="2400" b="1" dirty="0">
                <a:solidFill>
                  <a:srgbClr val="1F4D2B"/>
                </a:solidFill>
                <a:latin typeface="Cambria" pitchFamily="34" charset="0"/>
                <a:ea typeface="Cambria" pitchFamily="34" charset="-122"/>
                <a:cs typeface="Cambria" pitchFamily="34" charset="-120"/>
              </a:rPr>
              <a:t>Khi đánh giá công bằng (cùng dữ liệu, cùng candidate, nhiều seed, kiểm định thống kê), các mô hình khử thiên lệch có thật sự vượt MF không?</a:t>
            </a:r>
            <a:endParaRPr lang="en-US" sz="2400" dirty="0"/>
          </a:p>
        </p:txBody>
      </p:sp>
      <p:sp>
        <p:nvSpPr>
          <p:cNvPr id="25" name="Slide Number Placeholder 0"/>
          <p:cNvSpPr>
            <a:spLocks noGrp="1"/>
          </p:cNvSpPr>
          <p:nvPr>
            <p:ph type="sldNum" sz="quarter" idx="4294967295"/>
          </p:nvPr>
        </p:nvSpPr>
        <p:spPr>
          <a:xfrm>
            <a:off x="10972800" y="644652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B5F"/>
                </a:solidFill>
                <a:latin typeface="Calibri"/>
                <a:ea typeface="Calibri"/>
                <a:cs typeface="Calibri"/>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91672" cy="777240"/>
          </a:xfrm>
          <a:prstGeom prst="rect">
            <a:avLst/>
          </a:prstGeom>
          <a:noFill/>
          <a:ln/>
        </p:spPr>
        <p:txBody>
          <a:bodyPr wrap="square" lIns="0" tIns="0" rIns="0" bIns="0" rtlCol="0" anchor="ctr"/>
          <a:lstStyle/>
          <a:p>
            <a:pPr marL="0" indent="0" algn="l">
              <a:buNone/>
            </a:pPr>
            <a:r>
              <a:rPr lang="en-US" sz="3400" b="1" dirty="0">
                <a:solidFill>
                  <a:srgbClr val="1F4D2B"/>
                </a:solidFill>
                <a:latin typeface="Cambria" pitchFamily="34" charset="0"/>
                <a:ea typeface="Cambria" pitchFamily="34" charset="-122"/>
                <a:cs typeface="Cambria" pitchFamily="34" charset="-120"/>
              </a:rPr>
              <a:t>Hai dataset: Coat và KuaiRand-Pure</a:t>
            </a:r>
            <a:endParaRPr lang="en-US" sz="3400" dirty="0"/>
          </a:p>
        </p:txBody>
      </p:sp>
      <p:sp>
        <p:nvSpPr>
          <p:cNvPr id="4" name="coat_bg"/>
          <p:cNvSpPr/>
          <p:nvPr/>
        </p:nvSpPr>
        <p:spPr>
          <a:xfrm>
            <a:off x="548640" y="1280160"/>
            <a:ext cx="5440680" cy="3977640"/>
          </a:xfrm>
          <a:prstGeom prst="roundRect">
            <a:avLst>
              <a:gd name="adj" fmla="val 1839"/>
            </a:avLst>
          </a:prstGeom>
          <a:solidFill>
            <a:srgbClr val="EEF5E6"/>
          </a:solidFill>
          <a:ln w="9525">
            <a:solidFill>
              <a:srgbClr val="DCE8CF"/>
            </a:solidFill>
            <a:prstDash val="solid"/>
          </a:ln>
        </p:spPr>
      </p:sp>
      <p:sp>
        <p:nvSpPr>
          <p:cNvPr id="5" name="Text 2"/>
          <p:cNvSpPr txBox="1"/>
          <p:nvPr/>
        </p:nvSpPr>
        <p:spPr>
          <a:xfrm>
            <a:off x="822960" y="1417320"/>
            <a:ext cx="4846320" cy="457200"/>
          </a:xfrm>
          <a:prstGeom prst="rect">
            <a:avLst/>
          </a:prstGeom>
          <a:noFill/>
          <a:ln/>
        </p:spPr>
        <p:txBody>
          <a:bodyPr wrap="square" lIns="0" tIns="0" rIns="0" bIns="0" rtlCol="0" anchor="t"/>
          <a:lstStyle/>
          <a:p>
            <a:pPr marL="0" indent="0" algn="l">
              <a:buNone/>
            </a:pPr>
            <a:r>
              <a:rPr lang="en-US" sz="2200" b="1" dirty="0">
                <a:solidFill>
                  <a:srgbClr val="3E7D3A"/>
                </a:solidFill>
                <a:latin typeface="Cambria" pitchFamily="34" charset="0"/>
                <a:ea typeface="Cambria" pitchFamily="34" charset="-122"/>
                <a:cs typeface="Cambria" pitchFamily="34" charset="-120"/>
              </a:rPr>
              <a:t>Coat (2016)</a:t>
            </a:r>
            <a:endParaRPr lang="en-US" sz="2200" dirty="0"/>
          </a:p>
        </p:txBody>
      </p:sp>
      <p:sp>
        <p:nvSpPr>
          <p:cNvPr id="6" name="coat_s0_num"/>
          <p:cNvSpPr txBox="1"/>
          <p:nvPr/>
        </p:nvSpPr>
        <p:spPr>
          <a:xfrm>
            <a:off x="822960" y="1965960"/>
            <a:ext cx="1691640" cy="731520"/>
          </a:xfrm>
          <a:prstGeom prst="rect">
            <a:avLst/>
          </a:prstGeom>
          <a:noFill/>
          <a:ln/>
        </p:spPr>
        <p:txBody>
          <a:bodyPr wrap="square" lIns="0" tIns="0" rIns="0" bIns="0" rtlCol="0" anchor="t"/>
          <a:lstStyle/>
          <a:p>
            <a:pPr marL="0" indent="0" algn="l">
              <a:buNone/>
            </a:pPr>
            <a:r>
              <a:rPr lang="en-US" sz="4000" b="1" dirty="0">
                <a:solidFill>
                  <a:srgbClr val="3E7D3A"/>
                </a:solidFill>
                <a:latin typeface="Cambria" pitchFamily="34" charset="0"/>
                <a:ea typeface="Cambria" pitchFamily="34" charset="-122"/>
                <a:cs typeface="Cambria" pitchFamily="34" charset="-120"/>
              </a:rPr>
              <a:t>290</a:t>
            </a:r>
            <a:endParaRPr lang="en-US" sz="4000" dirty="0"/>
          </a:p>
        </p:txBody>
      </p:sp>
      <p:sp>
        <p:nvSpPr>
          <p:cNvPr id="7" name="coat_s0_lbl"/>
          <p:cNvSpPr txBox="1"/>
          <p:nvPr/>
        </p:nvSpPr>
        <p:spPr>
          <a:xfrm>
            <a:off x="822960" y="2715768"/>
            <a:ext cx="1691640" cy="548640"/>
          </a:xfrm>
          <a:prstGeom prst="rect">
            <a:avLst/>
          </a:prstGeom>
          <a:noFill/>
          <a:ln/>
        </p:spPr>
        <p:txBody>
          <a:bodyPr wrap="square" lIns="0" tIns="0" rIns="0" bIns="0" rtlCol="0" anchor="t"/>
          <a:lstStyle/>
          <a:p>
            <a:pPr marL="0" indent="0" algn="l">
              <a:buNone/>
            </a:pPr>
            <a:r>
              <a:rPr lang="en-US" sz="1400" dirty="0">
                <a:solidFill>
                  <a:srgbClr val="5C6B5F"/>
                </a:solidFill>
                <a:latin typeface="Calibri" pitchFamily="34" charset="0"/>
                <a:ea typeface="Calibri" pitchFamily="34" charset="-122"/>
                <a:cs typeface="Calibri" pitchFamily="34" charset="-120"/>
              </a:rPr>
              <a:t>users</a:t>
            </a:r>
            <a:endParaRPr lang="en-US" sz="1400" dirty="0"/>
          </a:p>
        </p:txBody>
      </p:sp>
      <p:sp>
        <p:nvSpPr>
          <p:cNvPr id="8" name="coat_s1_num"/>
          <p:cNvSpPr txBox="1"/>
          <p:nvPr/>
        </p:nvSpPr>
        <p:spPr>
          <a:xfrm>
            <a:off x="2606040" y="1965960"/>
            <a:ext cx="1691640" cy="731520"/>
          </a:xfrm>
          <a:prstGeom prst="rect">
            <a:avLst/>
          </a:prstGeom>
          <a:noFill/>
          <a:ln/>
        </p:spPr>
        <p:txBody>
          <a:bodyPr wrap="square" lIns="0" tIns="0" rIns="0" bIns="0" rtlCol="0" anchor="t"/>
          <a:lstStyle/>
          <a:p>
            <a:pPr marL="0" indent="0" algn="l">
              <a:buNone/>
            </a:pPr>
            <a:r>
              <a:rPr lang="en-US" sz="4000" b="1" dirty="0">
                <a:solidFill>
                  <a:srgbClr val="3E7D3A"/>
                </a:solidFill>
                <a:latin typeface="Cambria" pitchFamily="34" charset="0"/>
                <a:ea typeface="Cambria" pitchFamily="34" charset="-122"/>
                <a:cs typeface="Cambria" pitchFamily="34" charset="-120"/>
              </a:rPr>
              <a:t>300</a:t>
            </a:r>
            <a:endParaRPr lang="en-US" sz="4000" dirty="0"/>
          </a:p>
        </p:txBody>
      </p:sp>
      <p:sp>
        <p:nvSpPr>
          <p:cNvPr id="9" name="coat_s1_lbl"/>
          <p:cNvSpPr txBox="1"/>
          <p:nvPr/>
        </p:nvSpPr>
        <p:spPr>
          <a:xfrm>
            <a:off x="2606040" y="2715768"/>
            <a:ext cx="1691640" cy="548640"/>
          </a:xfrm>
          <a:prstGeom prst="rect">
            <a:avLst/>
          </a:prstGeom>
          <a:noFill/>
          <a:ln/>
        </p:spPr>
        <p:txBody>
          <a:bodyPr wrap="square" lIns="0" tIns="0" rIns="0" bIns="0" rtlCol="0" anchor="t"/>
          <a:lstStyle/>
          <a:p>
            <a:pPr marL="0" indent="0" algn="l">
              <a:buNone/>
            </a:pPr>
            <a:r>
              <a:rPr lang="en-US" sz="1400" dirty="0">
                <a:solidFill>
                  <a:srgbClr val="5C6B5F"/>
                </a:solidFill>
                <a:latin typeface="Calibri" pitchFamily="34" charset="0"/>
                <a:ea typeface="Calibri" pitchFamily="34" charset="-122"/>
                <a:cs typeface="Calibri" pitchFamily="34" charset="-120"/>
              </a:rPr>
              <a:t>items (áo khoác)</a:t>
            </a:r>
            <a:endParaRPr lang="en-US" sz="1400" dirty="0"/>
          </a:p>
        </p:txBody>
      </p:sp>
      <p:sp>
        <p:nvSpPr>
          <p:cNvPr id="10" name="coat_s2_num"/>
          <p:cNvSpPr txBox="1"/>
          <p:nvPr/>
        </p:nvSpPr>
        <p:spPr>
          <a:xfrm>
            <a:off x="4389120" y="1965960"/>
            <a:ext cx="1691640" cy="731520"/>
          </a:xfrm>
          <a:prstGeom prst="rect">
            <a:avLst/>
          </a:prstGeom>
          <a:noFill/>
          <a:ln/>
        </p:spPr>
        <p:txBody>
          <a:bodyPr wrap="square" lIns="0" tIns="0" rIns="0" bIns="0" rtlCol="0" anchor="t"/>
          <a:lstStyle/>
          <a:p>
            <a:pPr marL="0" indent="0" algn="l">
              <a:buNone/>
            </a:pPr>
            <a:r>
              <a:rPr lang="en-US" sz="4000" b="1" dirty="0">
                <a:solidFill>
                  <a:srgbClr val="3E7D3A"/>
                </a:solidFill>
                <a:latin typeface="Cambria" pitchFamily="34" charset="0"/>
                <a:ea typeface="Cambria" pitchFamily="34" charset="-122"/>
                <a:cs typeface="Cambria" pitchFamily="34" charset="-120"/>
              </a:rPr>
              <a:t>6,960</a:t>
            </a:r>
            <a:endParaRPr lang="en-US" sz="4000" dirty="0"/>
          </a:p>
        </p:txBody>
      </p:sp>
      <p:sp>
        <p:nvSpPr>
          <p:cNvPr id="11" name="coat_s2_lbl"/>
          <p:cNvSpPr txBox="1"/>
          <p:nvPr/>
        </p:nvSpPr>
        <p:spPr>
          <a:xfrm>
            <a:off x="4389120" y="2715768"/>
            <a:ext cx="1691640" cy="548640"/>
          </a:xfrm>
          <a:prstGeom prst="rect">
            <a:avLst/>
          </a:prstGeom>
          <a:noFill/>
          <a:ln/>
        </p:spPr>
        <p:txBody>
          <a:bodyPr wrap="square" lIns="0" tIns="0" rIns="0" bIns="0" rtlCol="0" anchor="t"/>
          <a:lstStyle/>
          <a:p>
            <a:pPr marL="0" indent="0" algn="l">
              <a:buNone/>
            </a:pPr>
            <a:r>
              <a:rPr lang="en-US" sz="1400" dirty="0">
                <a:solidFill>
                  <a:srgbClr val="5C6B5F"/>
                </a:solidFill>
                <a:latin typeface="Calibri" pitchFamily="34" charset="0"/>
                <a:ea typeface="Calibri" pitchFamily="34" charset="-122"/>
                <a:cs typeface="Calibri" pitchFamily="34" charset="-120"/>
              </a:rPr>
              <a:t>train, có thiên lệch</a:t>
            </a:r>
            <a:endParaRPr lang="en-US" sz="1400" dirty="0"/>
          </a:p>
        </p:txBody>
      </p:sp>
      <p:sp>
        <p:nvSpPr>
          <p:cNvPr id="12" name="Text 9"/>
          <p:cNvSpPr txBox="1"/>
          <p:nvPr/>
        </p:nvSpPr>
        <p:spPr>
          <a:xfrm>
            <a:off x="822960" y="3429000"/>
            <a:ext cx="4892040" cy="1737360"/>
          </a:xfrm>
          <a:prstGeom prst="rect">
            <a:avLst/>
          </a:prstGeom>
          <a:noFill/>
          <a:ln/>
        </p:spPr>
        <p:txBody>
          <a:bodyPr wrap="square" lIns="0" tIns="0" rIns="0" bIns="0" rtlCol="0" anchor="t"/>
          <a:lstStyle/>
          <a:p>
            <a:pPr marL="342900" indent="-342900" algn="l">
              <a:spcAft>
                <a:spcPts val="500"/>
              </a:spcAft>
              <a:buSzPct val="100000"/>
              <a:buChar char="•"/>
            </a:pPr>
            <a:r>
              <a:rPr lang="en-US" sz="1400" dirty="0">
                <a:solidFill>
                  <a:srgbClr val="1B2A1F"/>
                </a:solidFill>
                <a:latin typeface="Calibri" pitchFamily="34" charset="0"/>
                <a:ea typeface="Calibri" pitchFamily="34" charset="-122"/>
                <a:cs typeface="Calibri" pitchFamily="34" charset="-120"/>
              </a:rPr>
              <a:t>Train: 24 đánh giá/user, tự chọn</a:t>
            </a:r>
            <a:endParaRPr lang="en-US" sz="1400" dirty="0"/>
          </a:p>
          <a:p>
            <a:pPr marL="342900" indent="-342900" algn="l">
              <a:spcAft>
                <a:spcPts val="500"/>
              </a:spcAft>
              <a:buSzPct val="100000"/>
              <a:buChar char="•"/>
            </a:pPr>
            <a:r>
              <a:rPr lang="en-US" sz="1400" dirty="0">
                <a:solidFill>
                  <a:srgbClr val="1B2A1F"/>
                </a:solidFill>
                <a:latin typeface="Calibri" pitchFamily="34" charset="0"/>
                <a:ea typeface="Calibri" pitchFamily="34" charset="-122"/>
                <a:cs typeface="Calibri" pitchFamily="34" charset="-120"/>
              </a:rPr>
              <a:t>Test: 4,640 đánh giá, 16/user, item ngẫu nhiên</a:t>
            </a:r>
            <a:endParaRPr lang="en-US" sz="1400" dirty="0"/>
          </a:p>
          <a:p>
            <a:pPr marL="342900" indent="-342900" algn="l">
              <a:spcAft>
                <a:spcPts val="500"/>
              </a:spcAft>
              <a:buSzPct val="100000"/>
              <a:buChar char="•"/>
            </a:pPr>
            <a:r>
              <a:rPr lang="en-US" sz="1400" dirty="0">
                <a:solidFill>
                  <a:srgbClr val="1B2A1F"/>
                </a:solidFill>
                <a:latin typeface="Calibri" pitchFamily="34" charset="0"/>
                <a:ea typeface="Calibri" pitchFamily="34" charset="-122"/>
                <a:cs typeface="Calibri" pitchFamily="34" charset="-120"/>
              </a:rPr>
              <a:t>Nhãn dương: rating ≥ 4 (27.4% train, 18.5% test)</a:t>
            </a:r>
            <a:endParaRPr lang="en-US" sz="1400" dirty="0"/>
          </a:p>
          <a:p>
            <a:pPr marL="342900" indent="-342900" algn="l">
              <a:spcAft>
                <a:spcPts val="500"/>
              </a:spcAft>
              <a:buSzPct val="100000"/>
              <a:buChar char="•"/>
            </a:pPr>
            <a:r>
              <a:rPr lang="en-US" sz="1400" dirty="0">
                <a:solidFill>
                  <a:srgbClr val="1B2A1F"/>
                </a:solidFill>
                <a:latin typeface="Calibri" pitchFamily="34" charset="0"/>
                <a:ea typeface="Calibri" pitchFamily="34" charset="-122"/>
                <a:cs typeface="Calibri" pitchFamily="34" charset="-120"/>
              </a:rPr>
              <a:t>Có propensity và đặc trưng user/item</a:t>
            </a:r>
            <a:endParaRPr lang="en-US" sz="1400" dirty="0"/>
          </a:p>
        </p:txBody>
      </p:sp>
      <p:sp>
        <p:nvSpPr>
          <p:cNvPr id="13" name="kr_bg"/>
          <p:cNvSpPr/>
          <p:nvPr/>
        </p:nvSpPr>
        <p:spPr>
          <a:xfrm>
            <a:off x="6199632" y="1280160"/>
            <a:ext cx="5440680" cy="3977640"/>
          </a:xfrm>
          <a:prstGeom prst="roundRect">
            <a:avLst>
              <a:gd name="adj" fmla="val 1839"/>
            </a:avLst>
          </a:prstGeom>
          <a:solidFill>
            <a:srgbClr val="EEF5E6"/>
          </a:solidFill>
          <a:ln w="9525">
            <a:solidFill>
              <a:srgbClr val="DCE8CF"/>
            </a:solidFill>
            <a:prstDash val="solid"/>
          </a:ln>
        </p:spPr>
      </p:sp>
      <p:sp>
        <p:nvSpPr>
          <p:cNvPr id="14" name="Text 11"/>
          <p:cNvSpPr txBox="1"/>
          <p:nvPr/>
        </p:nvSpPr>
        <p:spPr>
          <a:xfrm>
            <a:off x="6473952" y="1417320"/>
            <a:ext cx="4846320" cy="457200"/>
          </a:xfrm>
          <a:prstGeom prst="rect">
            <a:avLst/>
          </a:prstGeom>
          <a:noFill/>
          <a:ln/>
        </p:spPr>
        <p:txBody>
          <a:bodyPr wrap="square" lIns="0" tIns="0" rIns="0" bIns="0" rtlCol="0" anchor="t"/>
          <a:lstStyle/>
          <a:p>
            <a:pPr marL="0" indent="0" algn="l">
              <a:buNone/>
            </a:pPr>
            <a:r>
              <a:rPr lang="en-US" sz="2200" b="1" dirty="0">
                <a:solidFill>
                  <a:srgbClr val="E07B1F"/>
                </a:solidFill>
                <a:latin typeface="Cambria" pitchFamily="34" charset="0"/>
                <a:ea typeface="Cambria" pitchFamily="34" charset="-122"/>
                <a:cs typeface="Cambria" pitchFamily="34" charset="-120"/>
              </a:rPr>
              <a:t>KuaiRand-Pure (CIKM'22)</a:t>
            </a:r>
            <a:endParaRPr lang="en-US" sz="2200" dirty="0"/>
          </a:p>
        </p:txBody>
      </p:sp>
      <p:sp>
        <p:nvSpPr>
          <p:cNvPr id="15" name="kr_s0_num"/>
          <p:cNvSpPr txBox="1"/>
          <p:nvPr/>
        </p:nvSpPr>
        <p:spPr>
          <a:xfrm>
            <a:off x="6473952" y="1965960"/>
            <a:ext cx="1691640" cy="731520"/>
          </a:xfrm>
          <a:prstGeom prst="rect">
            <a:avLst/>
          </a:prstGeom>
          <a:noFill/>
          <a:ln/>
        </p:spPr>
        <p:txBody>
          <a:bodyPr wrap="square" lIns="0" tIns="0" rIns="0" bIns="0" rtlCol="0" anchor="t"/>
          <a:lstStyle/>
          <a:p>
            <a:pPr marL="0" indent="0" algn="l">
              <a:buNone/>
            </a:pPr>
            <a:r>
              <a:rPr lang="en-US" sz="4000" b="1" dirty="0">
                <a:solidFill>
                  <a:srgbClr val="E07B1F"/>
                </a:solidFill>
                <a:latin typeface="Cambria" pitchFamily="34" charset="0"/>
                <a:ea typeface="Cambria" pitchFamily="34" charset="-122"/>
                <a:cs typeface="Cambria" pitchFamily="34" charset="-120"/>
              </a:rPr>
              <a:t>23,533</a:t>
            </a:r>
            <a:endParaRPr lang="en-US" sz="4000" dirty="0"/>
          </a:p>
        </p:txBody>
      </p:sp>
      <p:sp>
        <p:nvSpPr>
          <p:cNvPr id="16" name="kr_s0_lbl"/>
          <p:cNvSpPr txBox="1"/>
          <p:nvPr/>
        </p:nvSpPr>
        <p:spPr>
          <a:xfrm>
            <a:off x="6473952" y="2715768"/>
            <a:ext cx="1691640" cy="548640"/>
          </a:xfrm>
          <a:prstGeom prst="rect">
            <a:avLst/>
          </a:prstGeom>
          <a:noFill/>
          <a:ln/>
        </p:spPr>
        <p:txBody>
          <a:bodyPr wrap="square" lIns="0" tIns="0" rIns="0" bIns="0" rtlCol="0" anchor="t"/>
          <a:lstStyle/>
          <a:p>
            <a:pPr marL="0" indent="0" algn="l">
              <a:buNone/>
            </a:pPr>
            <a:r>
              <a:rPr lang="en-US" sz="1400" dirty="0">
                <a:solidFill>
                  <a:srgbClr val="5C6B5F"/>
                </a:solidFill>
                <a:latin typeface="Calibri" pitchFamily="34" charset="0"/>
                <a:ea typeface="Calibri" pitchFamily="34" charset="-122"/>
                <a:cs typeface="Calibri" pitchFamily="34" charset="-120"/>
              </a:rPr>
              <a:t>users sau lọc</a:t>
            </a:r>
            <a:endParaRPr lang="en-US" sz="1400" dirty="0"/>
          </a:p>
        </p:txBody>
      </p:sp>
      <p:sp>
        <p:nvSpPr>
          <p:cNvPr id="17" name="kr_s1_num"/>
          <p:cNvSpPr txBox="1"/>
          <p:nvPr/>
        </p:nvSpPr>
        <p:spPr>
          <a:xfrm>
            <a:off x="8257032" y="1965960"/>
            <a:ext cx="1691640" cy="731520"/>
          </a:xfrm>
          <a:prstGeom prst="rect">
            <a:avLst/>
          </a:prstGeom>
          <a:noFill/>
          <a:ln/>
        </p:spPr>
        <p:txBody>
          <a:bodyPr wrap="square" lIns="0" tIns="0" rIns="0" bIns="0" rtlCol="0" anchor="t"/>
          <a:lstStyle/>
          <a:p>
            <a:pPr marL="0" indent="0" algn="l">
              <a:buNone/>
            </a:pPr>
            <a:r>
              <a:rPr lang="en-US" sz="4000" b="1" dirty="0">
                <a:solidFill>
                  <a:srgbClr val="E07B1F"/>
                </a:solidFill>
                <a:latin typeface="Cambria" pitchFamily="34" charset="0"/>
                <a:ea typeface="Cambria" pitchFamily="34" charset="-122"/>
                <a:cs typeface="Cambria" pitchFamily="34" charset="-120"/>
              </a:rPr>
              <a:t>6,712</a:t>
            </a:r>
            <a:endParaRPr lang="en-US" sz="4000" dirty="0"/>
          </a:p>
        </p:txBody>
      </p:sp>
      <p:sp>
        <p:nvSpPr>
          <p:cNvPr id="18" name="kr_s1_lbl"/>
          <p:cNvSpPr txBox="1"/>
          <p:nvPr/>
        </p:nvSpPr>
        <p:spPr>
          <a:xfrm>
            <a:off x="8257032" y="2715768"/>
            <a:ext cx="1691640" cy="548640"/>
          </a:xfrm>
          <a:prstGeom prst="rect">
            <a:avLst/>
          </a:prstGeom>
          <a:noFill/>
          <a:ln/>
        </p:spPr>
        <p:txBody>
          <a:bodyPr wrap="square" lIns="0" tIns="0" rIns="0" bIns="0" rtlCol="0" anchor="t"/>
          <a:lstStyle/>
          <a:p>
            <a:pPr marL="0" indent="0" algn="l">
              <a:buNone/>
            </a:pPr>
            <a:r>
              <a:rPr lang="en-US" sz="1400" dirty="0">
                <a:solidFill>
                  <a:srgbClr val="5C6B5F"/>
                </a:solidFill>
                <a:latin typeface="Calibri" pitchFamily="34" charset="0"/>
                <a:ea typeface="Calibri" pitchFamily="34" charset="-122"/>
                <a:cs typeface="Calibri" pitchFamily="34" charset="-120"/>
              </a:rPr>
              <a:t>videos sau lọc</a:t>
            </a:r>
            <a:endParaRPr lang="en-US" sz="1400" dirty="0"/>
          </a:p>
        </p:txBody>
      </p:sp>
      <p:sp>
        <p:nvSpPr>
          <p:cNvPr id="19" name="kr_s2_num"/>
          <p:cNvSpPr txBox="1"/>
          <p:nvPr/>
        </p:nvSpPr>
        <p:spPr>
          <a:xfrm>
            <a:off x="10040112" y="1965960"/>
            <a:ext cx="1691640" cy="731520"/>
          </a:xfrm>
          <a:prstGeom prst="rect">
            <a:avLst/>
          </a:prstGeom>
          <a:noFill/>
          <a:ln/>
        </p:spPr>
        <p:txBody>
          <a:bodyPr wrap="square" lIns="0" tIns="0" rIns="0" bIns="0" rtlCol="0" anchor="t"/>
          <a:lstStyle/>
          <a:p>
            <a:pPr marL="0" indent="0" algn="l">
              <a:buNone/>
            </a:pPr>
            <a:r>
              <a:rPr lang="en-US" sz="4000" b="1" dirty="0">
                <a:solidFill>
                  <a:srgbClr val="E07B1F"/>
                </a:solidFill>
                <a:latin typeface="Cambria" pitchFamily="34" charset="0"/>
                <a:ea typeface="Cambria" pitchFamily="34" charset="-122"/>
                <a:cs typeface="Cambria" pitchFamily="34" charset="-120"/>
              </a:rPr>
              <a:t>1.41M</a:t>
            </a:r>
            <a:endParaRPr lang="en-US" sz="4000" dirty="0"/>
          </a:p>
        </p:txBody>
      </p:sp>
      <p:sp>
        <p:nvSpPr>
          <p:cNvPr id="20" name="kr_s2_lbl"/>
          <p:cNvSpPr txBox="1"/>
          <p:nvPr/>
        </p:nvSpPr>
        <p:spPr>
          <a:xfrm>
            <a:off x="10040112" y="2715768"/>
            <a:ext cx="1691640" cy="548640"/>
          </a:xfrm>
          <a:prstGeom prst="rect">
            <a:avLst/>
          </a:prstGeom>
          <a:noFill/>
          <a:ln/>
        </p:spPr>
        <p:txBody>
          <a:bodyPr wrap="square" lIns="0" tIns="0" rIns="0" bIns="0" rtlCol="0" anchor="t"/>
          <a:lstStyle/>
          <a:p>
            <a:pPr marL="0" indent="0" algn="l">
              <a:buNone/>
            </a:pPr>
            <a:r>
              <a:rPr lang="en-US" sz="1400" dirty="0">
                <a:solidFill>
                  <a:srgbClr val="5C6B5F"/>
                </a:solidFill>
                <a:latin typeface="Calibri" pitchFamily="34" charset="0"/>
                <a:ea typeface="Calibri" pitchFamily="34" charset="-122"/>
                <a:cs typeface="Calibri" pitchFamily="34" charset="-120"/>
              </a:rPr>
              <a:t>train exposures</a:t>
            </a:r>
            <a:endParaRPr lang="en-US" sz="1400" dirty="0"/>
          </a:p>
        </p:txBody>
      </p:sp>
      <p:sp>
        <p:nvSpPr>
          <p:cNvPr id="21" name="Text 18"/>
          <p:cNvSpPr txBox="1"/>
          <p:nvPr/>
        </p:nvSpPr>
        <p:spPr>
          <a:xfrm>
            <a:off x="6473952" y="3429000"/>
            <a:ext cx="4892040" cy="1737360"/>
          </a:xfrm>
          <a:prstGeom prst="rect">
            <a:avLst/>
          </a:prstGeom>
          <a:noFill/>
          <a:ln/>
        </p:spPr>
        <p:txBody>
          <a:bodyPr wrap="square" lIns="0" tIns="0" rIns="0" bIns="0" rtlCol="0" anchor="t"/>
          <a:lstStyle/>
          <a:p>
            <a:pPr marL="342900" indent="-342900" algn="l">
              <a:spcAft>
                <a:spcPts val="500"/>
              </a:spcAft>
              <a:buSzPct val="100000"/>
              <a:buChar char="•"/>
            </a:pPr>
            <a:r>
              <a:rPr lang="en-US" sz="1400" dirty="0">
                <a:solidFill>
                  <a:srgbClr val="1B2A1F"/>
                </a:solidFill>
                <a:latin typeface="Calibri" pitchFamily="34" charset="0"/>
                <a:ea typeface="Calibri" pitchFamily="34" charset="-122"/>
                <a:cs typeface="Calibri" pitchFamily="34" charset="-120"/>
              </a:rPr>
              <a:t>Train: 1,413,574 (45.9% dương); val 283,437</a:t>
            </a:r>
            <a:endParaRPr lang="en-US" sz="1400" dirty="0"/>
          </a:p>
          <a:p>
            <a:pPr marL="342900" indent="-342900" algn="l">
              <a:spcAft>
                <a:spcPts val="500"/>
              </a:spcAft>
              <a:buSzPct val="100000"/>
              <a:buChar char="•"/>
            </a:pPr>
            <a:r>
              <a:rPr lang="en-US" sz="1400" dirty="0">
                <a:solidFill>
                  <a:srgbClr val="1B2A1F"/>
                </a:solidFill>
                <a:latin typeface="Calibri" pitchFamily="34" charset="0"/>
                <a:ea typeface="Calibri" pitchFamily="34" charset="-122"/>
                <a:cs typeface="Calibri" pitchFamily="34" charset="-120"/>
              </a:rPr>
              <a:t>Test: 671,377 (log ngẫu nhiên, 17.6% dương)</a:t>
            </a:r>
            <a:endParaRPr lang="en-US" sz="1400" dirty="0"/>
          </a:p>
          <a:p>
            <a:pPr marL="342900" indent="-342900" algn="l">
              <a:spcAft>
                <a:spcPts val="500"/>
              </a:spcAft>
              <a:buSzPct val="100000"/>
              <a:buChar char="•"/>
            </a:pPr>
            <a:r>
              <a:rPr lang="en-US" sz="1400" dirty="0">
                <a:solidFill>
                  <a:srgbClr val="1B2A1F"/>
                </a:solidFill>
                <a:latin typeface="Calibri" pitchFamily="34" charset="0"/>
                <a:ea typeface="Calibri" pitchFamily="34" charset="-122"/>
                <a:cs typeface="Calibri" pitchFamily="34" charset="-120"/>
              </a:rPr>
              <a:t>Nhãn dương: is_click</a:t>
            </a:r>
            <a:endParaRPr lang="en-US" sz="1400" dirty="0"/>
          </a:p>
          <a:p>
            <a:pPr marL="342900" indent="-342900" algn="l">
              <a:spcAft>
                <a:spcPts val="500"/>
              </a:spcAft>
              <a:buSzPct val="100000"/>
              <a:buChar char="•"/>
            </a:pPr>
            <a:r>
              <a:rPr lang="en-US" sz="1400" dirty="0">
                <a:solidFill>
                  <a:srgbClr val="1B2A1F"/>
                </a:solidFill>
                <a:latin typeface="Calibri" pitchFamily="34" charset="0"/>
                <a:ea typeface="Calibri" pitchFamily="34" charset="-122"/>
                <a:cs typeface="Calibri" pitchFamily="34" charset="-120"/>
              </a:rPr>
              <a:t>Có log ngẫu nhiên để chấm điểm không thiên lệch</a:t>
            </a:r>
            <a:endParaRPr lang="en-US" sz="1400" dirty="0"/>
          </a:p>
        </p:txBody>
      </p:sp>
      <p:sp>
        <p:nvSpPr>
          <p:cNvPr id="22" name="events_bg"/>
          <p:cNvSpPr/>
          <p:nvPr/>
        </p:nvSpPr>
        <p:spPr>
          <a:xfrm>
            <a:off x="548640" y="5440680"/>
            <a:ext cx="11091672" cy="777240"/>
          </a:xfrm>
          <a:prstGeom prst="roundRect">
            <a:avLst>
              <a:gd name="adj" fmla="val 9412"/>
            </a:avLst>
          </a:prstGeom>
          <a:solidFill>
            <a:srgbClr val="FFFFFF"/>
          </a:solidFill>
          <a:ln w="12700">
            <a:solidFill>
              <a:srgbClr val="8DB255"/>
            </a:solidFill>
            <a:prstDash val="solid"/>
          </a:ln>
        </p:spPr>
      </p:sp>
      <p:sp>
        <p:nvSpPr>
          <p:cNvPr id="23" name="Text 20"/>
          <p:cNvSpPr txBox="1"/>
          <p:nvPr/>
        </p:nvSpPr>
        <p:spPr>
          <a:xfrm>
            <a:off x="777240" y="5532120"/>
            <a:ext cx="10698480" cy="594360"/>
          </a:xfrm>
          <a:prstGeom prst="rect">
            <a:avLst/>
          </a:prstGeom>
          <a:noFill/>
          <a:ln/>
        </p:spPr>
        <p:txBody>
          <a:bodyPr wrap="square" lIns="0" tIns="0" rIns="0" bIns="0" rtlCol="0" anchor="ctr"/>
          <a:lstStyle/>
          <a:p>
            <a:pPr marL="0" indent="0" algn="l">
              <a:buNone/>
            </a:pPr>
            <a:r>
              <a:rPr lang="en-US" sz="1400" b="1" dirty="0">
                <a:solidFill>
                  <a:srgbClr val="1F4D2B"/>
                </a:solidFill>
                <a:latin typeface="Calibri" pitchFamily="34" charset="0"/>
                <a:ea typeface="Calibri" pitchFamily="34" charset="-122"/>
                <a:cs typeface="Calibri" pitchFamily="34" charset="-120"/>
              </a:rPr>
              <a:t>KuaiRand ghi 9 loại hành vi: </a:t>
            </a:r>
            <a:r>
              <a:rPr lang="en-US" sz="1400" dirty="0">
                <a:solidFill>
                  <a:srgbClr val="1B2A1F"/>
                </a:solidFill>
                <a:latin typeface="Calibri" pitchFamily="34" charset="0"/>
                <a:ea typeface="Calibri" pitchFamily="34" charset="-122"/>
                <a:cs typeface="Calibri" pitchFamily="34" charset="-120"/>
              </a:rPr>
              <a:t>click, like, follow, comment, forward, hate, long_view, play_time, profile_enter. Đồ án hiện chỉ dùng is_click làm nhãn.</a:t>
            </a:r>
            <a:endParaRPr lang="en-US" sz="1400" dirty="0"/>
          </a:p>
        </p:txBody>
      </p:sp>
      <p:sp>
        <p:nvSpPr>
          <p:cNvPr id="25" name="Slide Number Placeholder 0"/>
          <p:cNvSpPr>
            <a:spLocks noGrp="1"/>
          </p:cNvSpPr>
          <p:nvPr>
            <p:ph type="sldNum" sz="quarter" idx="4294967295"/>
          </p:nvPr>
        </p:nvSpPr>
        <p:spPr>
          <a:xfrm>
            <a:off x="10972800" y="644652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B5F"/>
                </a:solidFill>
                <a:latin typeface="Calibri"/>
                <a:ea typeface="Calibri"/>
                <a:cs typeface="Calibri"/>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91672" cy="777240"/>
          </a:xfrm>
          <a:prstGeom prst="rect">
            <a:avLst/>
          </a:prstGeom>
          <a:noFill/>
          <a:ln/>
        </p:spPr>
        <p:txBody>
          <a:bodyPr wrap="square" lIns="0" tIns="0" rIns="0" bIns="0" rtlCol="0" anchor="ctr"/>
          <a:lstStyle/>
          <a:p>
            <a:pPr marL="0" indent="0" algn="l">
              <a:buNone/>
            </a:pPr>
            <a:r>
              <a:rPr lang="en-US" sz="3400" b="1" dirty="0">
                <a:solidFill>
                  <a:srgbClr val="1F4D2B"/>
                </a:solidFill>
                <a:latin typeface="Cambria" pitchFamily="34" charset="0"/>
                <a:ea typeface="Cambria" pitchFamily="34" charset="-122"/>
                <a:cs typeface="Cambria" pitchFamily="34" charset="-120"/>
              </a:rPr>
              <a:t>Quy trình tiền xử lý</a:t>
            </a:r>
            <a:endParaRPr lang="en-US" sz="3400" dirty="0"/>
          </a:p>
        </p:txBody>
      </p:sp>
      <p:sp>
        <p:nvSpPr>
          <p:cNvPr id="4" name="pipe0"/>
          <p:cNvSpPr/>
          <p:nvPr/>
        </p:nvSpPr>
        <p:spPr>
          <a:xfrm>
            <a:off x="548640" y="1417320"/>
            <a:ext cx="1920240" cy="640080"/>
          </a:xfrm>
          <a:prstGeom prst="roundRect">
            <a:avLst>
              <a:gd name="adj" fmla="val 11429"/>
            </a:avLst>
          </a:prstGeom>
          <a:solidFill>
            <a:srgbClr val="3E7D3A"/>
          </a:solidFill>
          <a:ln w="12700">
            <a:solidFill>
              <a:srgbClr val="3E7D3A"/>
            </a:solidFill>
            <a:prstDash val="solid"/>
          </a:ln>
        </p:spPr>
        <p:txBody>
          <a:bodyPr wrap="square" lIns="762" tIns="762" rIns="762" bIns="762"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Log thô</a:t>
            </a:r>
            <a:endParaRPr lang="en-US" sz="1600" dirty="0"/>
          </a:p>
        </p:txBody>
      </p:sp>
      <p:sp>
        <p:nvSpPr>
          <p:cNvPr id="5" name="Text 2"/>
          <p:cNvSpPr txBox="1"/>
          <p:nvPr/>
        </p:nvSpPr>
        <p:spPr>
          <a:xfrm>
            <a:off x="548640" y="2194560"/>
            <a:ext cx="1920240" cy="914400"/>
          </a:xfrm>
          <a:prstGeom prst="rect">
            <a:avLst/>
          </a:prstGeom>
          <a:noFill/>
          <a:ln/>
        </p:spPr>
        <p:txBody>
          <a:bodyPr wrap="square" lIns="0" tIns="0" rIns="0" bIns="0" rtlCol="0" anchor="t"/>
          <a:lstStyle/>
          <a:p>
            <a:pPr marL="0" indent="0" algn="ctr">
              <a:buNone/>
            </a:pPr>
            <a:r>
              <a:rPr lang="en-US" sz="1400" dirty="0">
                <a:solidFill>
                  <a:srgbClr val="1B2A1F"/>
                </a:solidFill>
                <a:latin typeface="Calibri" pitchFamily="34" charset="0"/>
                <a:ea typeface="Calibri" pitchFamily="34" charset="-122"/>
                <a:cs typeface="Calibri" pitchFamily="34" charset="-120"/>
              </a:rPr>
              <a:t>KuaiRand: 2 log thường + 1 log ngẫu nhiên</a:t>
            </a:r>
            <a:endParaRPr lang="en-US" sz="1400" dirty="0"/>
          </a:p>
        </p:txBody>
      </p:sp>
      <p:sp>
        <p:nvSpPr>
          <p:cNvPr id="6" name="Shape 3"/>
          <p:cNvSpPr/>
          <p:nvPr/>
        </p:nvSpPr>
        <p:spPr>
          <a:xfrm>
            <a:off x="2514600" y="1737360"/>
            <a:ext cx="320040" cy="0"/>
          </a:xfrm>
          <a:prstGeom prst="line">
            <a:avLst/>
          </a:prstGeom>
          <a:noFill/>
          <a:ln w="25400">
            <a:solidFill>
              <a:srgbClr val="1F4D2B"/>
            </a:solidFill>
            <a:prstDash val="solid"/>
            <a:tailEnd type="triangle"/>
          </a:ln>
        </p:spPr>
      </p:sp>
      <p:sp>
        <p:nvSpPr>
          <p:cNvPr id="7" name="pipe1"/>
          <p:cNvSpPr/>
          <p:nvPr/>
        </p:nvSpPr>
        <p:spPr>
          <a:xfrm>
            <a:off x="2834640" y="1417320"/>
            <a:ext cx="1920240" cy="640080"/>
          </a:xfrm>
          <a:prstGeom prst="roundRect">
            <a:avLst>
              <a:gd name="adj" fmla="val 11429"/>
            </a:avLst>
          </a:prstGeom>
          <a:solidFill>
            <a:srgbClr val="3E7D3A"/>
          </a:solidFill>
          <a:ln w="12700">
            <a:solidFill>
              <a:srgbClr val="3E7D3A"/>
            </a:solidFill>
            <a:prstDash val="solid"/>
          </a:ln>
        </p:spPr>
        <p:txBody>
          <a:bodyPr wrap="square" lIns="762" tIns="762" rIns="762" bIns="762"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Lọc</a:t>
            </a:r>
            <a:endParaRPr lang="en-US" sz="1600" dirty="0"/>
          </a:p>
        </p:txBody>
      </p:sp>
      <p:sp>
        <p:nvSpPr>
          <p:cNvPr id="8" name="Text 5"/>
          <p:cNvSpPr txBox="1"/>
          <p:nvPr/>
        </p:nvSpPr>
        <p:spPr>
          <a:xfrm>
            <a:off x="2834640" y="2194560"/>
            <a:ext cx="1920240" cy="914400"/>
          </a:xfrm>
          <a:prstGeom prst="rect">
            <a:avLst/>
          </a:prstGeom>
          <a:noFill/>
          <a:ln/>
        </p:spPr>
        <p:txBody>
          <a:bodyPr wrap="square" lIns="0" tIns="0" rIns="0" bIns="0" rtlCol="0" anchor="t"/>
          <a:lstStyle/>
          <a:p>
            <a:pPr marL="0" indent="0" algn="ctr">
              <a:buNone/>
            </a:pPr>
            <a:r>
              <a:rPr lang="en-US" sz="1400" dirty="0">
                <a:solidFill>
                  <a:srgbClr val="1B2A1F"/>
                </a:solidFill>
                <a:latin typeface="Calibri" pitchFamily="34" charset="0"/>
                <a:ea typeface="Calibri" pitchFamily="34" charset="-122"/>
                <a:cs typeface="Calibri" pitchFamily="34" charset="-120"/>
              </a:rPr>
              <a:t>user và video ≥ 10 exposure</a:t>
            </a:r>
            <a:endParaRPr lang="en-US" sz="1400" dirty="0"/>
          </a:p>
        </p:txBody>
      </p:sp>
      <p:sp>
        <p:nvSpPr>
          <p:cNvPr id="9" name="Shape 6"/>
          <p:cNvSpPr/>
          <p:nvPr/>
        </p:nvSpPr>
        <p:spPr>
          <a:xfrm>
            <a:off x="4800600" y="1737360"/>
            <a:ext cx="320040" cy="0"/>
          </a:xfrm>
          <a:prstGeom prst="line">
            <a:avLst/>
          </a:prstGeom>
          <a:noFill/>
          <a:ln w="25400">
            <a:solidFill>
              <a:srgbClr val="1F4D2B"/>
            </a:solidFill>
            <a:prstDash val="solid"/>
            <a:tailEnd type="triangle"/>
          </a:ln>
        </p:spPr>
      </p:sp>
      <p:sp>
        <p:nvSpPr>
          <p:cNvPr id="10" name="pipe2"/>
          <p:cNvSpPr/>
          <p:nvPr/>
        </p:nvSpPr>
        <p:spPr>
          <a:xfrm>
            <a:off x="5120640" y="1417320"/>
            <a:ext cx="1920240" cy="640080"/>
          </a:xfrm>
          <a:prstGeom prst="roundRect">
            <a:avLst>
              <a:gd name="adj" fmla="val 11429"/>
            </a:avLst>
          </a:prstGeom>
          <a:solidFill>
            <a:srgbClr val="3E7D3A"/>
          </a:solidFill>
          <a:ln w="12700">
            <a:solidFill>
              <a:srgbClr val="3E7D3A"/>
            </a:solidFill>
            <a:prstDash val="solid"/>
          </a:ln>
        </p:spPr>
        <p:txBody>
          <a:bodyPr wrap="square" lIns="762" tIns="762" rIns="762" bIns="762"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Chia user</a:t>
            </a:r>
            <a:endParaRPr lang="en-US" sz="1600" dirty="0"/>
          </a:p>
        </p:txBody>
      </p:sp>
      <p:sp>
        <p:nvSpPr>
          <p:cNvPr id="11" name="Text 8"/>
          <p:cNvSpPr txBox="1"/>
          <p:nvPr/>
        </p:nvSpPr>
        <p:spPr>
          <a:xfrm>
            <a:off x="5120640" y="2194560"/>
            <a:ext cx="1920240" cy="914400"/>
          </a:xfrm>
          <a:prstGeom prst="rect">
            <a:avLst/>
          </a:prstGeom>
          <a:noFill/>
          <a:ln/>
        </p:spPr>
        <p:txBody>
          <a:bodyPr wrap="square" lIns="0" tIns="0" rIns="0" bIns="0" rtlCol="0" anchor="t"/>
          <a:lstStyle/>
          <a:p>
            <a:pPr marL="0" indent="0" algn="ctr">
              <a:buNone/>
            </a:pPr>
            <a:r>
              <a:rPr lang="en-US" sz="1400" dirty="0">
                <a:solidFill>
                  <a:srgbClr val="1B2A1F"/>
                </a:solidFill>
                <a:latin typeface="Calibri" pitchFamily="34" charset="0"/>
                <a:ea typeface="Calibri" pitchFamily="34" charset="-122"/>
                <a:cs typeface="Calibri" pitchFamily="34" charset="-120"/>
              </a:rPr>
              <a:t>30% val / 70% test</a:t>
            </a:r>
            <a:endParaRPr lang="en-US" sz="1400" dirty="0"/>
          </a:p>
          <a:p>
            <a:pPr marL="0" indent="0" algn="ctr">
              <a:buNone/>
            </a:pPr>
            <a:r>
              <a:rPr lang="en-US" sz="1400" dirty="0">
                <a:solidFill>
                  <a:srgbClr val="1B2A1F"/>
                </a:solidFill>
                <a:latin typeface="Calibri" pitchFamily="34" charset="0"/>
                <a:ea typeface="Calibri" pitchFamily="34" charset="-122"/>
                <a:cs typeface="Calibri" pitchFamily="34" charset="-120"/>
              </a:rPr>
              <a:t>(seed 1234)</a:t>
            </a:r>
            <a:endParaRPr lang="en-US" sz="1400" dirty="0"/>
          </a:p>
        </p:txBody>
      </p:sp>
      <p:sp>
        <p:nvSpPr>
          <p:cNvPr id="12" name="Shape 9"/>
          <p:cNvSpPr/>
          <p:nvPr/>
        </p:nvSpPr>
        <p:spPr>
          <a:xfrm>
            <a:off x="7086600" y="1737360"/>
            <a:ext cx="320040" cy="0"/>
          </a:xfrm>
          <a:prstGeom prst="line">
            <a:avLst/>
          </a:prstGeom>
          <a:noFill/>
          <a:ln w="25400">
            <a:solidFill>
              <a:srgbClr val="1F4D2B"/>
            </a:solidFill>
            <a:prstDash val="solid"/>
            <a:tailEnd type="triangle"/>
          </a:ln>
        </p:spPr>
      </p:sp>
      <p:sp>
        <p:nvSpPr>
          <p:cNvPr id="13" name="pipe3"/>
          <p:cNvSpPr/>
          <p:nvPr/>
        </p:nvSpPr>
        <p:spPr>
          <a:xfrm>
            <a:off x="7406640" y="1417320"/>
            <a:ext cx="1920240" cy="640080"/>
          </a:xfrm>
          <a:prstGeom prst="roundRect">
            <a:avLst>
              <a:gd name="adj" fmla="val 11429"/>
            </a:avLst>
          </a:prstGeom>
          <a:solidFill>
            <a:srgbClr val="3E7D3A"/>
          </a:solidFill>
          <a:ln w="12700">
            <a:solidFill>
              <a:srgbClr val="3E7D3A"/>
            </a:solidFill>
            <a:prstDash val="solid"/>
          </a:ln>
        </p:spPr>
        <p:txBody>
          <a:bodyPr wrap="square" lIns="762" tIns="762" rIns="762" bIns="762"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Chuẩn hóa</a:t>
            </a:r>
            <a:endParaRPr lang="en-US" sz="1600" dirty="0"/>
          </a:p>
        </p:txBody>
      </p:sp>
      <p:sp>
        <p:nvSpPr>
          <p:cNvPr id="14" name="Text 11"/>
          <p:cNvSpPr txBox="1"/>
          <p:nvPr/>
        </p:nvSpPr>
        <p:spPr>
          <a:xfrm>
            <a:off x="7406640" y="2194560"/>
            <a:ext cx="1920240" cy="914400"/>
          </a:xfrm>
          <a:prstGeom prst="rect">
            <a:avLst/>
          </a:prstGeom>
          <a:noFill/>
          <a:ln/>
        </p:spPr>
        <p:txBody>
          <a:bodyPr wrap="square" lIns="0" tIns="0" rIns="0" bIns="0" rtlCol="0" anchor="t"/>
          <a:lstStyle/>
          <a:p>
            <a:pPr marL="0" indent="0" algn="ctr">
              <a:buNone/>
            </a:pPr>
            <a:r>
              <a:rPr lang="en-US" sz="1400" dirty="0">
                <a:solidFill>
                  <a:srgbClr val="1B2A1F"/>
                </a:solidFill>
                <a:latin typeface="Calibri" pitchFamily="34" charset="0"/>
                <a:ea typeface="Calibri" pitchFamily="34" charset="-122"/>
                <a:cs typeface="Calibri" pitchFamily="34" charset="-120"/>
              </a:rPr>
              <a:t>Đánh lại ID, gộp cặp trùng (dương nếu có click)</a:t>
            </a:r>
            <a:endParaRPr lang="en-US" sz="1400" dirty="0"/>
          </a:p>
        </p:txBody>
      </p:sp>
      <p:sp>
        <p:nvSpPr>
          <p:cNvPr id="15" name="Shape 12"/>
          <p:cNvSpPr/>
          <p:nvPr/>
        </p:nvSpPr>
        <p:spPr>
          <a:xfrm>
            <a:off x="9372600" y="1737360"/>
            <a:ext cx="320040" cy="0"/>
          </a:xfrm>
          <a:prstGeom prst="line">
            <a:avLst/>
          </a:prstGeom>
          <a:noFill/>
          <a:ln w="25400">
            <a:solidFill>
              <a:srgbClr val="1F4D2B"/>
            </a:solidFill>
            <a:prstDash val="solid"/>
            <a:tailEnd type="triangle"/>
          </a:ln>
        </p:spPr>
      </p:sp>
      <p:sp>
        <p:nvSpPr>
          <p:cNvPr id="16" name="pipe4"/>
          <p:cNvSpPr/>
          <p:nvPr/>
        </p:nvSpPr>
        <p:spPr>
          <a:xfrm>
            <a:off x="9692640" y="1417320"/>
            <a:ext cx="1920240" cy="640080"/>
          </a:xfrm>
          <a:prstGeom prst="roundRect">
            <a:avLst>
              <a:gd name="adj" fmla="val 11429"/>
            </a:avLst>
          </a:prstGeom>
          <a:solidFill>
            <a:srgbClr val="3E7D3A"/>
          </a:solidFill>
          <a:ln w="12700">
            <a:solidFill>
              <a:srgbClr val="3E7D3A"/>
            </a:solidFill>
            <a:prstDash val="solid"/>
          </a:ln>
        </p:spPr>
        <p:txBody>
          <a:bodyPr wrap="square" lIns="762" tIns="762" rIns="762" bIns="762"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Cache</a:t>
            </a:r>
            <a:endParaRPr lang="en-US" sz="1600" dirty="0"/>
          </a:p>
        </p:txBody>
      </p:sp>
      <p:sp>
        <p:nvSpPr>
          <p:cNvPr id="17" name="Text 14"/>
          <p:cNvSpPr txBox="1"/>
          <p:nvPr/>
        </p:nvSpPr>
        <p:spPr>
          <a:xfrm>
            <a:off x="9692640" y="2194560"/>
            <a:ext cx="1920240" cy="914400"/>
          </a:xfrm>
          <a:prstGeom prst="rect">
            <a:avLst/>
          </a:prstGeom>
          <a:noFill/>
          <a:ln/>
        </p:spPr>
        <p:txBody>
          <a:bodyPr wrap="square" lIns="0" tIns="0" rIns="0" bIns="0" rtlCol="0" anchor="t"/>
          <a:lstStyle/>
          <a:p>
            <a:pPr marL="0" indent="0" algn="ctr">
              <a:buNone/>
            </a:pPr>
            <a:r>
              <a:rPr lang="en-US" sz="1400" dirty="0">
                <a:solidFill>
                  <a:srgbClr val="1B2A1F"/>
                </a:solidFill>
                <a:latin typeface="Calibri" pitchFamily="34" charset="0"/>
                <a:ea typeface="Calibri" pitchFamily="34" charset="-122"/>
                <a:cs typeface="Calibri" pitchFamily="34" charset="-120"/>
              </a:rPr>
              <a:t>kuairand_v7_*.pkl</a:t>
            </a:r>
            <a:endParaRPr lang="en-US" sz="1400" dirty="0"/>
          </a:p>
        </p:txBody>
      </p:sp>
      <p:sp>
        <p:nvSpPr>
          <p:cNvPr id="18" name="Text 15"/>
          <p:cNvSpPr txBox="1"/>
          <p:nvPr/>
        </p:nvSpPr>
        <p:spPr>
          <a:xfrm>
            <a:off x="548640" y="3291840"/>
            <a:ext cx="7315200" cy="365760"/>
          </a:xfrm>
          <a:prstGeom prst="rect">
            <a:avLst/>
          </a:prstGeom>
          <a:noFill/>
          <a:ln/>
        </p:spPr>
        <p:txBody>
          <a:bodyPr wrap="square" lIns="0" tIns="0" rIns="0" bIns="0" rtlCol="0" anchor="t"/>
          <a:lstStyle/>
          <a:p>
            <a:pPr marL="0" indent="0" algn="l">
              <a:buNone/>
            </a:pPr>
            <a:r>
              <a:rPr lang="en-US" sz="1800" b="1" dirty="0">
                <a:solidFill>
                  <a:srgbClr val="1F4D2B"/>
                </a:solidFill>
                <a:latin typeface="Calibri" pitchFamily="34" charset="0"/>
                <a:ea typeface="Calibri" pitchFamily="34" charset="-122"/>
                <a:cs typeface="Calibri" pitchFamily="34" charset="-120"/>
              </a:rPr>
              <a:t>Đặc trưng cho mô hình nhân quả</a:t>
            </a:r>
            <a:endParaRPr lang="en-US" sz="18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3749040"/>
          <a:ext cx="11091672" cy="1920240"/>
        </p:xfrm>
        <a:graphic>
          <a:graphicData uri="http://schemas.openxmlformats.org/drawingml/2006/table">
            <a:tbl>
              <a:tblPr/>
              <a:tblGrid>
                <a:gridCol w="137160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3474720">
                  <a:extLst>
                    <a:ext uri="{9D8B030D-6E8A-4147-A177-3AD203B41FA5}">
                      <a16:colId xmlns:a16="http://schemas.microsoft.com/office/drawing/2014/main" val="20002"/>
                    </a:ext>
                  </a:extLst>
                </a:gridCol>
                <a:gridCol w="3319272">
                  <a:extLst>
                    <a:ext uri="{9D8B030D-6E8A-4147-A177-3AD203B41FA5}">
                      <a16:colId xmlns:a16="http://schemas.microsoft.com/office/drawing/2014/main" val="20003"/>
                    </a:ext>
                  </a:extLst>
                </a:gridCol>
              </a:tblGrid>
              <a:tr h="457200">
                <a:tc>
                  <a:txBody>
                    <a:bodyPr/>
                    <a:lstStyle/>
                    <a:p>
                      <a:pPr marL="0" indent="0">
                        <a:buNone/>
                      </a:pPr>
                      <a:endParaRPr lang="en-US" sz="1400" dirty="0">
                        <a:latin typeface="Calibri" charset="0"/>
                        <a:ea typeface="Calibri" charset="0"/>
                        <a:cs typeface="Calibri" charset="0"/>
                      </a:endParaRPr>
                    </a:p>
                  </a:txBody>
                  <a:tcPr marL="73152" marR="73152" marT="73152" marB="73152"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solidFill>
                      <a:srgbClr val="1F4D2B"/>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Biến công cụ (IV)</a:t>
                      </a:r>
                      <a:endParaRPr lang="en-US" sz="1400" dirty="0">
                        <a:latin typeface="Calibri" charset="0"/>
                        <a:ea typeface="Calibri" charset="0"/>
                        <a:cs typeface="Calibri" charset="0"/>
                      </a:endParaRPr>
                    </a:p>
                  </a:txBody>
                  <a:tcPr marL="73152" marR="73152" marT="73152" marB="73152"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solidFill>
                      <a:srgbClr val="1F4D2B"/>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Proxy W</a:t>
                      </a:r>
                      <a:endParaRPr lang="en-US" sz="1400" dirty="0">
                        <a:latin typeface="Calibri" charset="0"/>
                        <a:ea typeface="Calibri" charset="0"/>
                        <a:cs typeface="Calibri" charset="0"/>
                      </a:endParaRPr>
                    </a:p>
                  </a:txBody>
                  <a:tcPr marL="73152" marR="73152" marT="73152" marB="73152"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solidFill>
                      <a:srgbClr val="1F4D2B"/>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Propensity cho CDR</a:t>
                      </a:r>
                      <a:endParaRPr lang="en-US" sz="1400" dirty="0">
                        <a:latin typeface="Calibri" charset="0"/>
                        <a:ea typeface="Calibri" charset="0"/>
                        <a:cs typeface="Calibri" charset="0"/>
                      </a:endParaRPr>
                    </a:p>
                  </a:txBody>
                  <a:tcPr marL="73152" marR="73152" marT="73152" marB="73152"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solidFill>
                      <a:srgbClr val="1F4D2B"/>
                    </a:solidFill>
                  </a:tcPr>
                </a:tc>
                <a:extLst>
                  <a:ext uri="{0D108BD9-81ED-4DB2-BD59-A6C34878D82A}">
                    <a16:rowId xmlns:a16="http://schemas.microsoft.com/office/drawing/2014/main" val="10000"/>
                  </a:ext>
                </a:extLst>
              </a:tr>
              <a:tr h="731520">
                <a:tc>
                  <a:txBody>
                    <a:bodyPr/>
                    <a:lstStyle/>
                    <a:p>
                      <a:pPr marL="0" indent="0">
                        <a:buNone/>
                      </a:pPr>
                      <a:r>
                        <a:rPr lang="en-US" sz="1400" b="1" dirty="0">
                          <a:solidFill>
                            <a:srgbClr val="1B2A1F"/>
                          </a:solidFill>
                          <a:latin typeface="Calibri" pitchFamily="34" charset="0"/>
                          <a:ea typeface="Calibri" pitchFamily="34" charset="-122"/>
                          <a:cs typeface="Calibri" pitchFamily="34" charset="-120"/>
                        </a:rPr>
                        <a:t>Coat</a:t>
                      </a:r>
                      <a:endParaRPr lang="en-US" sz="1400" dirty="0">
                        <a:latin typeface="Calibri" charset="0"/>
                        <a:ea typeface="Calibri" charset="0"/>
                        <a:cs typeface="Calibri" charset="0"/>
                      </a:endParaRPr>
                    </a:p>
                  </a:txBody>
                  <a:tcPr marL="73152" marR="73152" marT="73152" marB="73152"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tcPr>
                </a:tc>
                <a:tc>
                  <a:txBody>
                    <a:bodyPr/>
                    <a:lstStyle/>
                    <a:p>
                      <a:pPr marL="0" indent="0">
                        <a:buNone/>
                      </a:pPr>
                      <a:r>
                        <a:rPr lang="en-US" sz="1400" dirty="0">
                          <a:solidFill>
                            <a:srgbClr val="1B2A1F"/>
                          </a:solidFill>
                          <a:latin typeface="Calibri" pitchFamily="34" charset="0"/>
                          <a:ea typeface="Calibri" pitchFamily="34" charset="-122"/>
                          <a:cs typeface="Calibri" pitchFamily="34" charset="-120"/>
                        </a:rPr>
                        <a:t>14 đặc trưng user</a:t>
                      </a:r>
                      <a:endParaRPr lang="en-US" sz="1400" dirty="0">
                        <a:latin typeface="Calibri" charset="0"/>
                        <a:ea typeface="Calibri" charset="0"/>
                        <a:cs typeface="Calibri" charset="0"/>
                      </a:endParaRPr>
                    </a:p>
                  </a:txBody>
                  <a:tcPr marL="73152" marR="73152" marT="73152" marB="73152"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tcPr>
                </a:tc>
                <a:tc>
                  <a:txBody>
                    <a:bodyPr/>
                    <a:lstStyle/>
                    <a:p>
                      <a:pPr marL="0" indent="0">
                        <a:buNone/>
                      </a:pPr>
                      <a:r>
                        <a:rPr lang="en-US" sz="1400" dirty="0">
                          <a:solidFill>
                            <a:srgbClr val="1B2A1F"/>
                          </a:solidFill>
                          <a:latin typeface="Calibri" pitchFamily="34" charset="0"/>
                          <a:ea typeface="Calibri" pitchFamily="34" charset="-122"/>
                          <a:cs typeface="Calibri" pitchFamily="34" charset="-120"/>
                        </a:rPr>
                        <a:t>log1p(số tương tác) + TB đặc trưng item (34 chiều)</a:t>
                      </a:r>
                      <a:endParaRPr lang="en-US" sz="1400" dirty="0">
                        <a:latin typeface="Calibri" charset="0"/>
                        <a:ea typeface="Calibri" charset="0"/>
                        <a:cs typeface="Calibri" charset="0"/>
                      </a:endParaRPr>
                    </a:p>
                  </a:txBody>
                  <a:tcPr marL="73152" marR="73152" marT="73152" marB="73152"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tcPr>
                </a:tc>
                <a:tc>
                  <a:txBody>
                    <a:bodyPr/>
                    <a:lstStyle/>
                    <a:p>
                      <a:pPr marL="0" indent="0">
                        <a:buNone/>
                      </a:pPr>
                      <a:r>
                        <a:rPr lang="en-US" sz="1400" dirty="0">
                          <a:solidFill>
                            <a:srgbClr val="1B2A1F"/>
                          </a:solidFill>
                          <a:latin typeface="Calibri" pitchFamily="34" charset="0"/>
                          <a:ea typeface="Calibri" pitchFamily="34" charset="-122"/>
                          <a:cs typeface="Calibri" pitchFamily="34" charset="-120"/>
                        </a:rPr>
                        <a:t>Có sẵn (propensities.ascii), nghịch đảo ≤ 20</a:t>
                      </a:r>
                      <a:endParaRPr lang="en-US" sz="1400" dirty="0">
                        <a:latin typeface="Calibri" charset="0"/>
                        <a:ea typeface="Calibri" charset="0"/>
                        <a:cs typeface="Calibri" charset="0"/>
                      </a:endParaRPr>
                    </a:p>
                  </a:txBody>
                  <a:tcPr marL="73152" marR="73152" marT="73152" marB="73152"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tcPr>
                </a:tc>
                <a:extLst>
                  <a:ext uri="{0D108BD9-81ED-4DB2-BD59-A6C34878D82A}">
                    <a16:rowId xmlns:a16="http://schemas.microsoft.com/office/drawing/2014/main" val="10001"/>
                  </a:ext>
                </a:extLst>
              </a:tr>
              <a:tr h="731520">
                <a:tc>
                  <a:txBody>
                    <a:bodyPr/>
                    <a:lstStyle/>
                    <a:p>
                      <a:pPr marL="0" indent="0">
                        <a:buNone/>
                      </a:pPr>
                      <a:r>
                        <a:rPr lang="en-US" sz="1400" b="1" dirty="0">
                          <a:solidFill>
                            <a:srgbClr val="1B2A1F"/>
                          </a:solidFill>
                          <a:latin typeface="Calibri" pitchFamily="34" charset="0"/>
                          <a:ea typeface="Calibri" pitchFamily="34" charset="-122"/>
                          <a:cs typeface="Calibri" pitchFamily="34" charset="-120"/>
                        </a:rPr>
                        <a:t>KuaiRand</a:t>
                      </a:r>
                      <a:endParaRPr lang="en-US" sz="1400" dirty="0">
                        <a:latin typeface="Calibri" charset="0"/>
                        <a:ea typeface="Calibri" charset="0"/>
                        <a:cs typeface="Calibri" charset="0"/>
                      </a:endParaRPr>
                    </a:p>
                  </a:txBody>
                  <a:tcPr marL="73152" marR="73152" marT="73152" marB="73152"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tcPr>
                </a:tc>
                <a:tc>
                  <a:txBody>
                    <a:bodyPr/>
                    <a:lstStyle/>
                    <a:p>
                      <a:pPr marL="0" indent="0">
                        <a:buNone/>
                      </a:pPr>
                      <a:r>
                        <a:rPr lang="en-US" sz="1400" dirty="0">
                          <a:solidFill>
                            <a:srgbClr val="1B2A1F"/>
                          </a:solidFill>
                          <a:latin typeface="Calibri" pitchFamily="34" charset="0"/>
                          <a:ea typeface="Calibri" pitchFamily="34" charset="-122"/>
                          <a:cs typeface="Calibri" pitchFamily="34" charset="-120"/>
                        </a:rPr>
                        <a:t>Tỷ lệ exposure theo 15 tab (z-score)</a:t>
                      </a:r>
                      <a:endParaRPr lang="en-US" sz="1400" dirty="0">
                        <a:latin typeface="Calibri" charset="0"/>
                        <a:ea typeface="Calibri" charset="0"/>
                        <a:cs typeface="Calibri" charset="0"/>
                      </a:endParaRPr>
                    </a:p>
                  </a:txBody>
                  <a:tcPr marL="73152" marR="73152" marT="73152" marB="73152"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tcPr>
                </a:tc>
                <a:tc>
                  <a:txBody>
                    <a:bodyPr/>
                    <a:lstStyle/>
                    <a:p>
                      <a:pPr marL="0" indent="0">
                        <a:buNone/>
                      </a:pPr>
                      <a:r>
                        <a:rPr lang="en-US" sz="1400" dirty="0">
                          <a:solidFill>
                            <a:srgbClr val="1B2A1F"/>
                          </a:solidFill>
                          <a:latin typeface="Calibri" pitchFamily="34" charset="0"/>
                          <a:ea typeface="Calibri" pitchFamily="34" charset="-122"/>
                          <a:cs typeface="Calibri" pitchFamily="34" charset="-120"/>
                        </a:rPr>
                        <a:t>One-hot đặc trưng user (155 chiều)</a:t>
                      </a:r>
                      <a:endParaRPr lang="en-US" sz="1400" dirty="0">
                        <a:latin typeface="Calibri" charset="0"/>
                        <a:ea typeface="Calibri" charset="0"/>
                        <a:cs typeface="Calibri" charset="0"/>
                      </a:endParaRPr>
                    </a:p>
                  </a:txBody>
                  <a:tcPr marL="73152" marR="73152" marT="73152" marB="73152"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tcPr>
                </a:tc>
                <a:tc>
                  <a:txBody>
                    <a:bodyPr/>
                    <a:lstStyle/>
                    <a:p>
                      <a:pPr marL="0" indent="0">
                        <a:buNone/>
                      </a:pPr>
                      <a:r>
                        <a:rPr lang="en-US" sz="1400" dirty="0">
                          <a:solidFill>
                            <a:srgbClr val="1B2A1F"/>
                          </a:solidFill>
                          <a:latin typeface="Calibri" pitchFamily="34" charset="0"/>
                          <a:ea typeface="Calibri" pitchFamily="34" charset="-122"/>
                          <a:cs typeface="Calibri" pitchFamily="34" charset="-120"/>
                        </a:rPr>
                        <a:t>Proxy: tần suất exposure của item, cắt 0.05–1</a:t>
                      </a:r>
                      <a:endParaRPr lang="en-US" sz="1400" dirty="0">
                        <a:latin typeface="Calibri" charset="0"/>
                        <a:ea typeface="Calibri" charset="0"/>
                        <a:cs typeface="Calibri" charset="0"/>
                      </a:endParaRPr>
                    </a:p>
                  </a:txBody>
                  <a:tcPr marL="73152" marR="73152" marT="73152" marB="73152"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25" name="Slide Number Placeholder 0"/>
          <p:cNvSpPr>
            <a:spLocks noGrp="1"/>
          </p:cNvSpPr>
          <p:nvPr>
            <p:ph type="sldNum" sz="quarter" idx="4294967295"/>
          </p:nvPr>
        </p:nvSpPr>
        <p:spPr>
          <a:xfrm>
            <a:off x="10972800" y="644652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B5F"/>
                </a:solidFill>
                <a:latin typeface="Calibri"/>
                <a:ea typeface="Calibri"/>
                <a:cs typeface="Calibri"/>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91672" cy="777240"/>
          </a:xfrm>
          <a:prstGeom prst="rect">
            <a:avLst/>
          </a:prstGeom>
          <a:noFill/>
          <a:ln/>
        </p:spPr>
        <p:txBody>
          <a:bodyPr wrap="square" lIns="0" tIns="0" rIns="0" bIns="0" rtlCol="0" anchor="ctr"/>
          <a:lstStyle/>
          <a:p>
            <a:pPr marL="0" indent="0" algn="l">
              <a:buNone/>
            </a:pPr>
            <a:r>
              <a:rPr lang="en-US" sz="3400" b="1" dirty="0">
                <a:solidFill>
                  <a:srgbClr val="1F4D2B"/>
                </a:solidFill>
                <a:latin typeface="Cambria" pitchFamily="34" charset="0"/>
                <a:ea typeface="Cambria" pitchFamily="34" charset="-122"/>
                <a:cs typeface="Cambria" pitchFamily="34" charset="-120"/>
              </a:rPr>
              <a:t>Bằng chứng thiên lệch trong dữ liệu</a:t>
            </a:r>
            <a:endParaRPr lang="en-US" sz="3400" dirty="0"/>
          </a:p>
        </p:txBody>
      </p:sp>
      <p:graphicFrame>
        <p:nvGraphicFramePr>
          <p:cNvPr id="4" name="Chart 0"/>
          <p:cNvGraphicFramePr/>
          <p:nvPr>
            <p:extLst>
              <p:ext uri="{D42A27DB-BD31-4B8C-83A1-F6EECF244321}">
                <p14:modId xmlns:p14="http://schemas.microsoft.com/office/powerpoint/2010/main" val="3259728993"/>
              </p:ext>
            </p:extLst>
          </p:nvPr>
        </p:nvGraphicFramePr>
        <p:xfrm>
          <a:off x="548640" y="1280160"/>
          <a:ext cx="6675120" cy="4754880"/>
        </p:xfrm>
        <a:graphic>
          <a:graphicData uri="http://schemas.openxmlformats.org/drawingml/2006/chart">
            <c:chart xmlns:c="http://schemas.openxmlformats.org/drawingml/2006/chart" xmlns:r="http://schemas.openxmlformats.org/officeDocument/2006/relationships" r:id="rId3"/>
          </a:graphicData>
        </a:graphic>
      </p:graphicFrame>
      <p:sp>
        <p:nvSpPr>
          <p:cNvPr id="5" name="eda1_num"/>
          <p:cNvSpPr txBox="1"/>
          <p:nvPr/>
        </p:nvSpPr>
        <p:spPr>
          <a:xfrm>
            <a:off x="7772400" y="1463040"/>
            <a:ext cx="3840480" cy="731520"/>
          </a:xfrm>
          <a:prstGeom prst="rect">
            <a:avLst/>
          </a:prstGeom>
          <a:noFill/>
          <a:ln/>
        </p:spPr>
        <p:txBody>
          <a:bodyPr wrap="square" lIns="0" tIns="0" rIns="0" bIns="0" rtlCol="0" anchor="t"/>
          <a:lstStyle/>
          <a:p>
            <a:pPr marL="0" indent="0" algn="l">
              <a:buNone/>
            </a:pPr>
            <a:r>
              <a:rPr lang="en-US" sz="4000" b="1" dirty="0">
                <a:solidFill>
                  <a:srgbClr val="E07B1F"/>
                </a:solidFill>
                <a:latin typeface="Cambria" pitchFamily="34" charset="0"/>
                <a:ea typeface="Cambria" pitchFamily="34" charset="-122"/>
                <a:cs typeface="Cambria" pitchFamily="34" charset="-120"/>
              </a:rPr>
              <a:t>0.46 vs 0.18</a:t>
            </a:r>
            <a:endParaRPr lang="en-US" sz="4000" dirty="0"/>
          </a:p>
        </p:txBody>
      </p:sp>
      <p:sp>
        <p:nvSpPr>
          <p:cNvPr id="6" name="eda1_lbl"/>
          <p:cNvSpPr txBox="1"/>
          <p:nvPr/>
        </p:nvSpPr>
        <p:spPr>
          <a:xfrm>
            <a:off x="7772400" y="2212848"/>
            <a:ext cx="3840480" cy="548640"/>
          </a:xfrm>
          <a:prstGeom prst="rect">
            <a:avLst/>
          </a:prstGeom>
          <a:noFill/>
          <a:ln/>
        </p:spPr>
        <p:txBody>
          <a:bodyPr wrap="square" lIns="0" tIns="0" rIns="0" bIns="0" rtlCol="0" anchor="t"/>
          <a:lstStyle/>
          <a:p>
            <a:pPr marL="0" indent="0" algn="l">
              <a:buNone/>
            </a:pPr>
            <a:r>
              <a:rPr lang="en-US" sz="1400" dirty="0">
                <a:solidFill>
                  <a:srgbClr val="5C6B5F"/>
                </a:solidFill>
                <a:latin typeface="Calibri" pitchFamily="34" charset="0"/>
                <a:ea typeface="Calibri" pitchFamily="34" charset="-122"/>
                <a:cs typeface="Calibri" pitchFamily="34" charset="-120"/>
              </a:rPr>
              <a:t>KuaiRand: tỷ lệ click trên log thường so với log ngẫu nhiên</a:t>
            </a:r>
            <a:endParaRPr lang="en-US" sz="1400" dirty="0"/>
          </a:p>
        </p:txBody>
      </p:sp>
      <p:sp>
        <p:nvSpPr>
          <p:cNvPr id="7" name="eda2_num"/>
          <p:cNvSpPr txBox="1"/>
          <p:nvPr/>
        </p:nvSpPr>
        <p:spPr>
          <a:xfrm>
            <a:off x="7772400" y="3291840"/>
            <a:ext cx="3840480" cy="731520"/>
          </a:xfrm>
          <a:prstGeom prst="rect">
            <a:avLst/>
          </a:prstGeom>
          <a:noFill/>
          <a:ln/>
        </p:spPr>
        <p:txBody>
          <a:bodyPr wrap="square" lIns="0" tIns="0" rIns="0" bIns="0" rtlCol="0" anchor="t"/>
          <a:lstStyle/>
          <a:p>
            <a:pPr marL="0" indent="0" algn="l">
              <a:buNone/>
            </a:pPr>
            <a:r>
              <a:rPr lang="en-US" sz="4000" b="1" dirty="0">
                <a:solidFill>
                  <a:srgbClr val="3E7D3A"/>
                </a:solidFill>
                <a:latin typeface="Cambria" pitchFamily="34" charset="0"/>
                <a:ea typeface="Cambria" pitchFamily="34" charset="-122"/>
                <a:cs typeface="Cambria" pitchFamily="34" charset="-120"/>
              </a:rPr>
              <a:t>45.9% vs 17.6%</a:t>
            </a:r>
            <a:endParaRPr lang="en-US" sz="4000" dirty="0"/>
          </a:p>
        </p:txBody>
      </p:sp>
      <p:sp>
        <p:nvSpPr>
          <p:cNvPr id="8" name="eda2_lbl"/>
          <p:cNvSpPr txBox="1"/>
          <p:nvPr/>
        </p:nvSpPr>
        <p:spPr>
          <a:xfrm>
            <a:off x="7772400" y="4041648"/>
            <a:ext cx="3840480" cy="548640"/>
          </a:xfrm>
          <a:prstGeom prst="rect">
            <a:avLst/>
          </a:prstGeom>
          <a:noFill/>
          <a:ln/>
        </p:spPr>
        <p:txBody>
          <a:bodyPr wrap="square" lIns="0" tIns="0" rIns="0" bIns="0" rtlCol="0" anchor="t"/>
          <a:lstStyle/>
          <a:p>
            <a:pPr marL="0" indent="0" algn="l">
              <a:buNone/>
            </a:pPr>
            <a:r>
              <a:rPr lang="en-US" sz="1400" dirty="0">
                <a:solidFill>
                  <a:srgbClr val="5C6B5F"/>
                </a:solidFill>
                <a:latin typeface="Calibri" pitchFamily="34" charset="0"/>
                <a:ea typeface="Calibri" pitchFamily="34" charset="-122"/>
                <a:cs typeface="Calibri" pitchFamily="34" charset="-120"/>
              </a:rPr>
              <a:t>Tỷ lệ dương: tập train và tập test sau tiền xử lý</a:t>
            </a:r>
            <a:endParaRPr lang="en-US" sz="1400" dirty="0"/>
          </a:p>
        </p:txBody>
      </p:sp>
      <p:sp>
        <p:nvSpPr>
          <p:cNvPr id="9" name="Text 5"/>
          <p:cNvSpPr txBox="1"/>
          <p:nvPr/>
        </p:nvSpPr>
        <p:spPr>
          <a:xfrm>
            <a:off x="7772400" y="5029200"/>
            <a:ext cx="3840480" cy="1097280"/>
          </a:xfrm>
          <a:prstGeom prst="rect">
            <a:avLst/>
          </a:prstGeom>
          <a:noFill/>
          <a:ln/>
        </p:spPr>
        <p:txBody>
          <a:bodyPr wrap="square" lIns="0" tIns="0" rIns="0" bIns="0" rtlCol="0" anchor="t"/>
          <a:lstStyle/>
          <a:p>
            <a:pPr marL="0" indent="0" algn="l">
              <a:buNone/>
            </a:pPr>
            <a:r>
              <a:rPr lang="en-US" sz="1600" i="1" dirty="0">
                <a:solidFill>
                  <a:srgbClr val="1F4D2B"/>
                </a:solidFill>
                <a:latin typeface="Calibri" pitchFamily="34" charset="0"/>
                <a:ea typeface="Calibri" pitchFamily="34" charset="-122"/>
                <a:cs typeface="Calibri" pitchFamily="34" charset="-120"/>
              </a:rPr>
              <a:t>Người dùng tự chọn nhiều item họ thích hơn, nên dữ liệu train không đại diện cho toàn bộ item.</a:t>
            </a:r>
            <a:endParaRPr lang="en-US" sz="1600" dirty="0"/>
          </a:p>
        </p:txBody>
      </p:sp>
      <p:sp>
        <p:nvSpPr>
          <p:cNvPr id="25" name="Slide Number Placeholder 0"/>
          <p:cNvSpPr>
            <a:spLocks noGrp="1"/>
          </p:cNvSpPr>
          <p:nvPr>
            <p:ph type="sldNum" sz="quarter" idx="4294967295"/>
          </p:nvPr>
        </p:nvSpPr>
        <p:spPr>
          <a:xfrm>
            <a:off x="10972800" y="644652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B5F"/>
                </a:solidFill>
                <a:latin typeface="Calibri"/>
                <a:ea typeface="Calibri"/>
                <a:cs typeface="Calibri"/>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91672" cy="777240"/>
          </a:xfrm>
          <a:prstGeom prst="rect">
            <a:avLst/>
          </a:prstGeom>
          <a:noFill/>
          <a:ln/>
        </p:spPr>
        <p:txBody>
          <a:bodyPr wrap="square" lIns="0" tIns="0" rIns="0" bIns="0" rtlCol="0" anchor="ctr"/>
          <a:lstStyle/>
          <a:p>
            <a:pPr marL="0" indent="0" algn="l">
              <a:buNone/>
            </a:pPr>
            <a:r>
              <a:rPr lang="en-US" sz="3400" b="1" dirty="0">
                <a:solidFill>
                  <a:srgbClr val="1F4D2B"/>
                </a:solidFill>
                <a:latin typeface="Cambria" pitchFamily="34" charset="0"/>
                <a:ea typeface="Cambria" pitchFamily="34" charset="-122"/>
                <a:cs typeface="Cambria" pitchFamily="34" charset="-120"/>
              </a:rPr>
              <a:t>Công cụ và thư viện sử dụng</a:t>
            </a:r>
            <a:endParaRPr lang="en-US" sz="3400" dirty="0"/>
          </a:p>
        </p:txBody>
      </p:sp>
      <p:sp>
        <p:nvSpPr>
          <p:cNvPr id="4" name="tech0_bg"/>
          <p:cNvSpPr/>
          <p:nvPr/>
        </p:nvSpPr>
        <p:spPr>
          <a:xfrm>
            <a:off x="548640" y="1325880"/>
            <a:ext cx="3611880" cy="2286000"/>
          </a:xfrm>
          <a:prstGeom prst="roundRect">
            <a:avLst>
              <a:gd name="adj" fmla="val 3200"/>
            </a:avLst>
          </a:prstGeom>
          <a:solidFill>
            <a:srgbClr val="EEF5E6"/>
          </a:solidFill>
          <a:ln w="9525">
            <a:solidFill>
              <a:srgbClr val="DCE8CF"/>
            </a:solidFill>
            <a:prstDash val="solid"/>
          </a:ln>
        </p:spPr>
      </p:sp>
      <p:sp>
        <p:nvSpPr>
          <p:cNvPr id="5" name="tech0_head"/>
          <p:cNvSpPr txBox="1"/>
          <p:nvPr/>
        </p:nvSpPr>
        <p:spPr>
          <a:xfrm>
            <a:off x="731520" y="1435608"/>
            <a:ext cx="3246120" cy="365760"/>
          </a:xfrm>
          <a:prstGeom prst="rect">
            <a:avLst/>
          </a:prstGeom>
          <a:noFill/>
          <a:ln/>
        </p:spPr>
        <p:txBody>
          <a:bodyPr wrap="square" lIns="0" tIns="0" rIns="0" bIns="0" rtlCol="0" anchor="t"/>
          <a:lstStyle/>
          <a:p>
            <a:pPr marL="0" indent="0" algn="l">
              <a:buNone/>
            </a:pPr>
            <a:r>
              <a:rPr lang="en-US" sz="1600" b="1" dirty="0">
                <a:solidFill>
                  <a:srgbClr val="3E7D3A"/>
                </a:solidFill>
                <a:latin typeface="Calibri" pitchFamily="34" charset="0"/>
                <a:ea typeface="Calibri" pitchFamily="34" charset="-122"/>
                <a:cs typeface="Calibri" pitchFamily="34" charset="-120"/>
              </a:rPr>
              <a:t>Mô hình và huấn luyện</a:t>
            </a:r>
            <a:endParaRPr lang="en-US" sz="1600" dirty="0"/>
          </a:p>
        </p:txBody>
      </p:sp>
      <p:sp>
        <p:nvSpPr>
          <p:cNvPr id="6" name="tech0_body"/>
          <p:cNvSpPr txBox="1"/>
          <p:nvPr/>
        </p:nvSpPr>
        <p:spPr>
          <a:xfrm>
            <a:off x="731520" y="1828800"/>
            <a:ext cx="3246120" cy="1691640"/>
          </a:xfrm>
          <a:prstGeom prst="rect">
            <a:avLst/>
          </a:prstGeom>
          <a:noFill/>
          <a:ln/>
        </p:spPr>
        <p:txBody>
          <a:bodyPr wrap="square" lIns="0" tIns="0" rIns="0" bIns="0" rtlCol="0" anchor="t"/>
          <a:lstStyle/>
          <a:p>
            <a:pPr marL="342900" indent="-342900" algn="l">
              <a:spcAft>
                <a:spcPts val="400"/>
              </a:spcAft>
              <a:buSzPct val="100000"/>
              <a:buChar char="•"/>
            </a:pPr>
            <a:r>
              <a:rPr lang="en-US" sz="1600" dirty="0">
                <a:solidFill>
                  <a:srgbClr val="1B2A1F"/>
                </a:solidFill>
                <a:latin typeface="Calibri" pitchFamily="34" charset="0"/>
                <a:ea typeface="Calibri" pitchFamily="34" charset="-122"/>
                <a:cs typeface="Calibri" pitchFamily="34" charset="-120"/>
              </a:rPr>
              <a:t>Python 3.12</a:t>
            </a:r>
            <a:endParaRPr lang="en-US" sz="1600" dirty="0"/>
          </a:p>
          <a:p>
            <a:pPr marL="342900" indent="-342900" algn="l">
              <a:spcAft>
                <a:spcPts val="400"/>
              </a:spcAft>
              <a:buSzPct val="100000"/>
              <a:buChar char="•"/>
            </a:pPr>
            <a:r>
              <a:rPr lang="en-US" sz="1600" dirty="0">
                <a:solidFill>
                  <a:srgbClr val="1B2A1F"/>
                </a:solidFill>
                <a:latin typeface="Calibri" pitchFamily="34" charset="0"/>
                <a:ea typeface="Calibri" pitchFamily="34" charset="-122"/>
                <a:cs typeface="Calibri" pitchFamily="34" charset="-120"/>
              </a:rPr>
              <a:t>PyTorch (CPU)</a:t>
            </a:r>
            <a:endParaRPr lang="en-US" sz="1600" dirty="0"/>
          </a:p>
          <a:p>
            <a:pPr marL="342900" indent="-342900" algn="l">
              <a:spcAft>
                <a:spcPts val="400"/>
              </a:spcAft>
              <a:buSzPct val="100000"/>
              <a:buChar char="•"/>
            </a:pPr>
            <a:r>
              <a:rPr lang="en-US" sz="1600" dirty="0">
                <a:solidFill>
                  <a:srgbClr val="1B2A1F"/>
                </a:solidFill>
                <a:latin typeface="Calibri" pitchFamily="34" charset="0"/>
                <a:ea typeface="Calibri" pitchFamily="34" charset="-122"/>
                <a:cs typeface="Calibri" pitchFamily="34" charset="-120"/>
              </a:rPr>
              <a:t>NumPy, SciPy, pandas</a:t>
            </a:r>
            <a:endParaRPr lang="en-US" sz="1600" dirty="0"/>
          </a:p>
        </p:txBody>
      </p:sp>
      <p:sp>
        <p:nvSpPr>
          <p:cNvPr id="7" name="tech1_bg"/>
          <p:cNvSpPr/>
          <p:nvPr/>
        </p:nvSpPr>
        <p:spPr>
          <a:xfrm>
            <a:off x="4315968" y="1325880"/>
            <a:ext cx="3611880" cy="2286000"/>
          </a:xfrm>
          <a:prstGeom prst="roundRect">
            <a:avLst>
              <a:gd name="adj" fmla="val 3200"/>
            </a:avLst>
          </a:prstGeom>
          <a:solidFill>
            <a:srgbClr val="EEF5E6"/>
          </a:solidFill>
          <a:ln w="9525">
            <a:solidFill>
              <a:srgbClr val="DCE8CF"/>
            </a:solidFill>
            <a:prstDash val="solid"/>
          </a:ln>
        </p:spPr>
      </p:sp>
      <p:sp>
        <p:nvSpPr>
          <p:cNvPr id="8" name="tech1_head"/>
          <p:cNvSpPr txBox="1"/>
          <p:nvPr/>
        </p:nvSpPr>
        <p:spPr>
          <a:xfrm>
            <a:off x="4498848" y="1435608"/>
            <a:ext cx="3246120" cy="365760"/>
          </a:xfrm>
          <a:prstGeom prst="rect">
            <a:avLst/>
          </a:prstGeom>
          <a:noFill/>
          <a:ln/>
        </p:spPr>
        <p:txBody>
          <a:bodyPr wrap="square" lIns="0" tIns="0" rIns="0" bIns="0" rtlCol="0" anchor="t"/>
          <a:lstStyle/>
          <a:p>
            <a:pPr marL="0" indent="0" algn="l">
              <a:buNone/>
            </a:pPr>
            <a:r>
              <a:rPr lang="en-US" sz="1600" b="1" dirty="0">
                <a:solidFill>
                  <a:srgbClr val="2E6FA3"/>
                </a:solidFill>
                <a:latin typeface="Calibri" pitchFamily="34" charset="0"/>
                <a:ea typeface="Calibri" pitchFamily="34" charset="-122"/>
                <a:cs typeface="Calibri" pitchFamily="34" charset="-120"/>
              </a:rPr>
              <a:t>Dịch vụ gợi ý</a:t>
            </a:r>
            <a:endParaRPr lang="en-US" sz="1600" dirty="0"/>
          </a:p>
        </p:txBody>
      </p:sp>
      <p:sp>
        <p:nvSpPr>
          <p:cNvPr id="9" name="tech1_body"/>
          <p:cNvSpPr txBox="1"/>
          <p:nvPr/>
        </p:nvSpPr>
        <p:spPr>
          <a:xfrm>
            <a:off x="4498848" y="1828800"/>
            <a:ext cx="3246120" cy="1691640"/>
          </a:xfrm>
          <a:prstGeom prst="rect">
            <a:avLst/>
          </a:prstGeom>
          <a:noFill/>
          <a:ln/>
        </p:spPr>
        <p:txBody>
          <a:bodyPr wrap="square" lIns="0" tIns="0" rIns="0" bIns="0" rtlCol="0" anchor="t"/>
          <a:lstStyle/>
          <a:p>
            <a:pPr marL="342900" indent="-342900" algn="l">
              <a:spcAft>
                <a:spcPts val="400"/>
              </a:spcAft>
              <a:buSzPct val="100000"/>
              <a:buChar char="•"/>
            </a:pPr>
            <a:r>
              <a:rPr lang="en-US" sz="1600" dirty="0">
                <a:solidFill>
                  <a:srgbClr val="1B2A1F"/>
                </a:solidFill>
                <a:latin typeface="Calibri" pitchFamily="34" charset="0"/>
                <a:ea typeface="Calibri" pitchFamily="34" charset="-122"/>
                <a:cs typeface="Calibri" pitchFamily="34" charset="-120"/>
              </a:rPr>
              <a:t>FastAPI + Uvicorn</a:t>
            </a:r>
            <a:endParaRPr lang="en-US" sz="1600" dirty="0"/>
          </a:p>
          <a:p>
            <a:pPr marL="342900" indent="-342900" algn="l">
              <a:spcAft>
                <a:spcPts val="400"/>
              </a:spcAft>
              <a:buSzPct val="100000"/>
              <a:buChar char="•"/>
            </a:pPr>
            <a:r>
              <a:rPr lang="en-US" sz="1600" dirty="0">
                <a:solidFill>
                  <a:srgbClr val="1B2A1F"/>
                </a:solidFill>
                <a:latin typeface="Calibri" pitchFamily="34" charset="0"/>
                <a:ea typeface="Calibri" pitchFamily="34" charset="-122"/>
                <a:cs typeface="Calibri" pitchFamily="34" charset="-120"/>
              </a:rPr>
              <a:t>httpx</a:t>
            </a:r>
            <a:endParaRPr lang="en-US" sz="1600" dirty="0"/>
          </a:p>
          <a:p>
            <a:pPr marL="342900" indent="-342900" algn="l">
              <a:spcAft>
                <a:spcPts val="400"/>
              </a:spcAft>
              <a:buSzPct val="100000"/>
              <a:buChar char="•"/>
            </a:pPr>
            <a:r>
              <a:rPr lang="en-US" sz="1600" dirty="0">
                <a:solidFill>
                  <a:srgbClr val="1B2A1F"/>
                </a:solidFill>
                <a:latin typeface="Calibri" pitchFamily="34" charset="0"/>
                <a:ea typeface="Calibri" pitchFamily="34" charset="-122"/>
                <a:cs typeface="Calibri" pitchFamily="34" charset="-120"/>
              </a:rPr>
              <a:t>Swagger /docs</a:t>
            </a:r>
            <a:endParaRPr lang="en-US" sz="1600" dirty="0"/>
          </a:p>
        </p:txBody>
      </p:sp>
      <p:sp>
        <p:nvSpPr>
          <p:cNvPr id="10" name="tech2_bg"/>
          <p:cNvSpPr/>
          <p:nvPr/>
        </p:nvSpPr>
        <p:spPr>
          <a:xfrm>
            <a:off x="8083296" y="1325880"/>
            <a:ext cx="3611880" cy="2286000"/>
          </a:xfrm>
          <a:prstGeom prst="roundRect">
            <a:avLst>
              <a:gd name="adj" fmla="val 3200"/>
            </a:avLst>
          </a:prstGeom>
          <a:solidFill>
            <a:srgbClr val="EEF5E6"/>
          </a:solidFill>
          <a:ln w="9525">
            <a:solidFill>
              <a:srgbClr val="DCE8CF"/>
            </a:solidFill>
            <a:prstDash val="solid"/>
          </a:ln>
        </p:spPr>
      </p:sp>
      <p:sp>
        <p:nvSpPr>
          <p:cNvPr id="11" name="tech2_head"/>
          <p:cNvSpPr txBox="1"/>
          <p:nvPr/>
        </p:nvSpPr>
        <p:spPr>
          <a:xfrm>
            <a:off x="8266176" y="1435608"/>
            <a:ext cx="3246120" cy="365760"/>
          </a:xfrm>
          <a:prstGeom prst="rect">
            <a:avLst/>
          </a:prstGeom>
          <a:noFill/>
          <a:ln/>
        </p:spPr>
        <p:txBody>
          <a:bodyPr wrap="square" lIns="0" tIns="0" rIns="0" bIns="0" rtlCol="0" anchor="t"/>
          <a:lstStyle/>
          <a:p>
            <a:pPr marL="0" indent="0" algn="l">
              <a:buNone/>
            </a:pPr>
            <a:r>
              <a:rPr lang="en-US" sz="1600" b="1" dirty="0">
                <a:solidFill>
                  <a:srgbClr val="E07B1F"/>
                </a:solidFill>
                <a:latin typeface="Calibri" pitchFamily="34" charset="0"/>
                <a:ea typeface="Calibri" pitchFamily="34" charset="-122"/>
                <a:cs typeface="Calibri" pitchFamily="34" charset="-120"/>
              </a:rPr>
              <a:t>Hạ tầng</a:t>
            </a:r>
            <a:endParaRPr lang="en-US" sz="1600" dirty="0"/>
          </a:p>
        </p:txBody>
      </p:sp>
      <p:sp>
        <p:nvSpPr>
          <p:cNvPr id="12" name="tech2_body"/>
          <p:cNvSpPr txBox="1"/>
          <p:nvPr/>
        </p:nvSpPr>
        <p:spPr>
          <a:xfrm>
            <a:off x="8266176" y="1828800"/>
            <a:ext cx="3246120" cy="1691640"/>
          </a:xfrm>
          <a:prstGeom prst="rect">
            <a:avLst/>
          </a:prstGeom>
          <a:noFill/>
          <a:ln/>
        </p:spPr>
        <p:txBody>
          <a:bodyPr wrap="square" lIns="0" tIns="0" rIns="0" bIns="0" rtlCol="0" anchor="t"/>
          <a:lstStyle/>
          <a:p>
            <a:pPr marL="342900" indent="-342900" algn="l">
              <a:spcAft>
                <a:spcPts val="400"/>
              </a:spcAft>
              <a:buSzPct val="100000"/>
              <a:buChar char="•"/>
            </a:pPr>
            <a:r>
              <a:rPr lang="en-US" sz="1600" dirty="0">
                <a:solidFill>
                  <a:srgbClr val="1B2A1F"/>
                </a:solidFill>
                <a:latin typeface="Calibri" pitchFamily="34" charset="0"/>
                <a:ea typeface="Calibri" pitchFamily="34" charset="-122"/>
                <a:cs typeface="Calibri" pitchFamily="34" charset="-120"/>
              </a:rPr>
              <a:t>Google Colab</a:t>
            </a:r>
            <a:endParaRPr lang="en-US" sz="1600" dirty="0"/>
          </a:p>
          <a:p>
            <a:pPr marL="342900" indent="-342900" algn="l">
              <a:spcAft>
                <a:spcPts val="400"/>
              </a:spcAft>
              <a:buSzPct val="100000"/>
              <a:buChar char="•"/>
            </a:pPr>
            <a:r>
              <a:rPr lang="en-US" sz="1600" dirty="0">
                <a:solidFill>
                  <a:srgbClr val="1B2A1F"/>
                </a:solidFill>
                <a:latin typeface="Calibri" pitchFamily="34" charset="0"/>
                <a:ea typeface="Calibri" pitchFamily="34" charset="-122"/>
                <a:cs typeface="Calibri" pitchFamily="34" charset="-120"/>
              </a:rPr>
              <a:t>Cloudflare Quick Tunnel</a:t>
            </a:r>
            <a:endParaRPr lang="en-US" sz="1600" dirty="0"/>
          </a:p>
          <a:p>
            <a:pPr marL="342900" indent="-342900" algn="l">
              <a:spcAft>
                <a:spcPts val="400"/>
              </a:spcAft>
              <a:buSzPct val="100000"/>
              <a:buChar char="•"/>
            </a:pPr>
            <a:r>
              <a:rPr lang="en-US" sz="1600" dirty="0">
                <a:solidFill>
                  <a:srgbClr val="1B2A1F"/>
                </a:solidFill>
                <a:latin typeface="Calibri" pitchFamily="34" charset="0"/>
                <a:ea typeface="Calibri" pitchFamily="34" charset="-122"/>
                <a:cs typeface="Calibri" pitchFamily="34" charset="-120"/>
              </a:rPr>
              <a:t>cloudflared</a:t>
            </a:r>
            <a:endParaRPr lang="en-US" sz="1600" dirty="0"/>
          </a:p>
        </p:txBody>
      </p:sp>
      <p:sp>
        <p:nvSpPr>
          <p:cNvPr id="13" name="tech3_bg"/>
          <p:cNvSpPr/>
          <p:nvPr/>
        </p:nvSpPr>
        <p:spPr>
          <a:xfrm>
            <a:off x="548640" y="3840480"/>
            <a:ext cx="3611880" cy="2286000"/>
          </a:xfrm>
          <a:prstGeom prst="roundRect">
            <a:avLst>
              <a:gd name="adj" fmla="val 3200"/>
            </a:avLst>
          </a:prstGeom>
          <a:solidFill>
            <a:srgbClr val="EEF5E6"/>
          </a:solidFill>
          <a:ln w="9525">
            <a:solidFill>
              <a:srgbClr val="DCE8CF"/>
            </a:solidFill>
            <a:prstDash val="solid"/>
          </a:ln>
        </p:spPr>
      </p:sp>
      <p:sp>
        <p:nvSpPr>
          <p:cNvPr id="14" name="tech3_head"/>
          <p:cNvSpPr txBox="1"/>
          <p:nvPr/>
        </p:nvSpPr>
        <p:spPr>
          <a:xfrm>
            <a:off x="731520" y="3950208"/>
            <a:ext cx="3246120" cy="365760"/>
          </a:xfrm>
          <a:prstGeom prst="rect">
            <a:avLst/>
          </a:prstGeom>
          <a:noFill/>
          <a:ln/>
        </p:spPr>
        <p:txBody>
          <a:bodyPr wrap="square" lIns="0" tIns="0" rIns="0" bIns="0" rtlCol="0" anchor="t"/>
          <a:lstStyle/>
          <a:p>
            <a:pPr marL="0" indent="0" algn="l">
              <a:buNone/>
            </a:pPr>
            <a:r>
              <a:rPr lang="en-US" sz="1600" b="1" dirty="0">
                <a:solidFill>
                  <a:srgbClr val="6B4FA0"/>
                </a:solidFill>
                <a:latin typeface="Calibri" pitchFamily="34" charset="0"/>
                <a:ea typeface="Calibri" pitchFamily="34" charset="-122"/>
                <a:cs typeface="Calibri" pitchFamily="34" charset="-120"/>
              </a:rPr>
              <a:t>Dữ liệu ứng dụng</a:t>
            </a:r>
            <a:endParaRPr lang="en-US" sz="1600" dirty="0"/>
          </a:p>
        </p:txBody>
      </p:sp>
      <p:sp>
        <p:nvSpPr>
          <p:cNvPr id="15" name="tech3_body"/>
          <p:cNvSpPr txBox="1"/>
          <p:nvPr/>
        </p:nvSpPr>
        <p:spPr>
          <a:xfrm>
            <a:off x="731520" y="4343400"/>
            <a:ext cx="3246120" cy="1691640"/>
          </a:xfrm>
          <a:prstGeom prst="rect">
            <a:avLst/>
          </a:prstGeom>
          <a:noFill/>
          <a:ln/>
        </p:spPr>
        <p:txBody>
          <a:bodyPr wrap="square" lIns="0" tIns="0" rIns="0" bIns="0" rtlCol="0" anchor="t"/>
          <a:lstStyle/>
          <a:p>
            <a:pPr marL="342900" indent="-342900" algn="l">
              <a:spcAft>
                <a:spcPts val="400"/>
              </a:spcAft>
              <a:buSzPct val="100000"/>
              <a:buChar char="•"/>
            </a:pPr>
            <a:r>
              <a:rPr lang="en-US" sz="1600" dirty="0">
                <a:solidFill>
                  <a:srgbClr val="1B2A1F"/>
                </a:solidFill>
                <a:latin typeface="Calibri" pitchFamily="34" charset="0"/>
                <a:ea typeface="Calibri" pitchFamily="34" charset="-122"/>
                <a:cs typeface="Calibri" pitchFamily="34" charset="-120"/>
              </a:rPr>
              <a:t>Firebase Firestore</a:t>
            </a:r>
            <a:endParaRPr lang="en-US" sz="1600" dirty="0"/>
          </a:p>
          <a:p>
            <a:pPr marL="342900" indent="-342900" algn="l">
              <a:spcAft>
                <a:spcPts val="400"/>
              </a:spcAft>
              <a:buSzPct val="100000"/>
              <a:buChar char="•"/>
            </a:pPr>
            <a:r>
              <a:rPr lang="en-US" sz="1600" dirty="0">
                <a:solidFill>
                  <a:srgbClr val="1B2A1F"/>
                </a:solidFill>
                <a:latin typeface="Calibri" pitchFamily="34" charset="0"/>
                <a:ea typeface="Calibri" pitchFamily="34" charset="-122"/>
                <a:cs typeface="Calibri" pitchFamily="34" charset="-120"/>
              </a:rPr>
              <a:t>Firebase RTDB (REST)</a:t>
            </a:r>
            <a:endParaRPr lang="en-US" sz="1600" dirty="0"/>
          </a:p>
          <a:p>
            <a:pPr marL="342900" indent="-342900" algn="l">
              <a:spcAft>
                <a:spcPts val="400"/>
              </a:spcAft>
              <a:buSzPct val="100000"/>
              <a:buChar char="•"/>
            </a:pPr>
            <a:r>
              <a:rPr lang="en-US" sz="1600" dirty="0">
                <a:solidFill>
                  <a:srgbClr val="1B2A1F"/>
                </a:solidFill>
                <a:latin typeface="Calibri" pitchFamily="34" charset="0"/>
                <a:ea typeface="Calibri" pitchFamily="34" charset="-122"/>
                <a:cs typeface="Calibri" pitchFamily="34" charset="-120"/>
              </a:rPr>
              <a:t>Đồng bộ tương tác</a:t>
            </a:r>
            <a:endParaRPr lang="en-US" sz="1600" dirty="0"/>
          </a:p>
        </p:txBody>
      </p:sp>
      <p:sp>
        <p:nvSpPr>
          <p:cNvPr id="16" name="tech4_bg"/>
          <p:cNvSpPr/>
          <p:nvPr/>
        </p:nvSpPr>
        <p:spPr>
          <a:xfrm>
            <a:off x="4315968" y="3840480"/>
            <a:ext cx="3611880" cy="2286000"/>
          </a:xfrm>
          <a:prstGeom prst="roundRect">
            <a:avLst>
              <a:gd name="adj" fmla="val 3200"/>
            </a:avLst>
          </a:prstGeom>
          <a:solidFill>
            <a:srgbClr val="EEF5E6"/>
          </a:solidFill>
          <a:ln w="9525">
            <a:solidFill>
              <a:srgbClr val="DCE8CF"/>
            </a:solidFill>
            <a:prstDash val="solid"/>
          </a:ln>
        </p:spPr>
      </p:sp>
      <p:sp>
        <p:nvSpPr>
          <p:cNvPr id="17" name="tech4_head"/>
          <p:cNvSpPr txBox="1"/>
          <p:nvPr/>
        </p:nvSpPr>
        <p:spPr>
          <a:xfrm>
            <a:off x="4498848" y="3950208"/>
            <a:ext cx="3246120" cy="365760"/>
          </a:xfrm>
          <a:prstGeom prst="rect">
            <a:avLst/>
          </a:prstGeom>
          <a:noFill/>
          <a:ln/>
        </p:spPr>
        <p:txBody>
          <a:bodyPr wrap="square" lIns="0" tIns="0" rIns="0" bIns="0" rtlCol="0" anchor="t"/>
          <a:lstStyle/>
          <a:p>
            <a:pPr marL="0" indent="0" algn="l">
              <a:buNone/>
            </a:pPr>
            <a:r>
              <a:rPr lang="en-US" sz="1600" b="1" dirty="0">
                <a:solidFill>
                  <a:srgbClr val="3E7D3A"/>
                </a:solidFill>
                <a:latin typeface="Calibri" pitchFamily="34" charset="0"/>
                <a:ea typeface="Calibri" pitchFamily="34" charset="-122"/>
                <a:cs typeface="Calibri" pitchFamily="34" charset="-120"/>
              </a:rPr>
              <a:t>Ứng dụng</a:t>
            </a:r>
            <a:endParaRPr lang="en-US" sz="1600" dirty="0"/>
          </a:p>
        </p:txBody>
      </p:sp>
      <p:sp>
        <p:nvSpPr>
          <p:cNvPr id="18" name="tech4_body"/>
          <p:cNvSpPr txBox="1"/>
          <p:nvPr/>
        </p:nvSpPr>
        <p:spPr>
          <a:xfrm>
            <a:off x="4498848" y="4343400"/>
            <a:ext cx="3246120" cy="1691640"/>
          </a:xfrm>
          <a:prstGeom prst="rect">
            <a:avLst/>
          </a:prstGeom>
          <a:noFill/>
          <a:ln/>
        </p:spPr>
        <p:txBody>
          <a:bodyPr wrap="square" lIns="0" tIns="0" rIns="0" bIns="0" rtlCol="0" anchor="t"/>
          <a:lstStyle/>
          <a:p>
            <a:pPr marL="342900" indent="-342900" algn="l">
              <a:spcAft>
                <a:spcPts val="400"/>
              </a:spcAft>
              <a:buSzPct val="100000"/>
              <a:buChar char="•"/>
            </a:pPr>
            <a:r>
              <a:rPr lang="en-US" sz="1600" dirty="0">
                <a:solidFill>
                  <a:srgbClr val="1B2A1F"/>
                </a:solidFill>
                <a:latin typeface="Calibri" pitchFamily="34" charset="0"/>
                <a:ea typeface="Calibri" pitchFamily="34" charset="-122"/>
                <a:cs typeface="Calibri" pitchFamily="34" charset="-120"/>
              </a:rPr>
              <a:t>Flutter (TopTop)</a:t>
            </a:r>
            <a:endParaRPr lang="en-US" sz="1600" dirty="0"/>
          </a:p>
          <a:p>
            <a:pPr marL="342900" indent="-342900" algn="l">
              <a:spcAft>
                <a:spcPts val="400"/>
              </a:spcAft>
              <a:buSzPct val="100000"/>
              <a:buChar char="•"/>
            </a:pPr>
            <a:r>
              <a:rPr lang="en-US" sz="1600" dirty="0">
                <a:solidFill>
                  <a:srgbClr val="1B2A1F"/>
                </a:solidFill>
                <a:latin typeface="Calibri" pitchFamily="34" charset="0"/>
                <a:ea typeface="Calibri" pitchFamily="34" charset="-122"/>
                <a:cs typeface="Calibri" pitchFamily="34" charset="-120"/>
              </a:rPr>
              <a:t>recsys_service.dart</a:t>
            </a:r>
            <a:endParaRPr lang="en-US" sz="1600" dirty="0"/>
          </a:p>
          <a:p>
            <a:pPr marL="342900" indent="-342900" algn="l">
              <a:spcAft>
                <a:spcPts val="400"/>
              </a:spcAft>
              <a:buSzPct val="100000"/>
              <a:buChar char="•"/>
            </a:pPr>
            <a:r>
              <a:rPr lang="en-US" sz="1600" dirty="0">
                <a:solidFill>
                  <a:srgbClr val="1B2A1F"/>
                </a:solidFill>
                <a:latin typeface="Calibri" pitchFamily="34" charset="0"/>
                <a:ea typeface="Calibri" pitchFamily="34" charset="-122"/>
                <a:cs typeface="Calibri" pitchFamily="34" charset="-120"/>
              </a:rPr>
              <a:t>Feed gợi ý AI</a:t>
            </a:r>
            <a:endParaRPr lang="en-US" sz="1600" dirty="0"/>
          </a:p>
        </p:txBody>
      </p:sp>
      <p:sp>
        <p:nvSpPr>
          <p:cNvPr id="19" name="tech5_bg"/>
          <p:cNvSpPr/>
          <p:nvPr/>
        </p:nvSpPr>
        <p:spPr>
          <a:xfrm>
            <a:off x="8083296" y="3840480"/>
            <a:ext cx="3611880" cy="2286000"/>
          </a:xfrm>
          <a:prstGeom prst="roundRect">
            <a:avLst>
              <a:gd name="adj" fmla="val 3200"/>
            </a:avLst>
          </a:prstGeom>
          <a:solidFill>
            <a:srgbClr val="EEF5E6"/>
          </a:solidFill>
          <a:ln w="9525">
            <a:solidFill>
              <a:srgbClr val="DCE8CF"/>
            </a:solidFill>
            <a:prstDash val="solid"/>
          </a:ln>
        </p:spPr>
      </p:sp>
      <p:sp>
        <p:nvSpPr>
          <p:cNvPr id="20" name="tech5_head"/>
          <p:cNvSpPr txBox="1"/>
          <p:nvPr/>
        </p:nvSpPr>
        <p:spPr>
          <a:xfrm>
            <a:off x="8266176" y="3950208"/>
            <a:ext cx="3246120" cy="365760"/>
          </a:xfrm>
          <a:prstGeom prst="rect">
            <a:avLst/>
          </a:prstGeom>
          <a:noFill/>
          <a:ln/>
        </p:spPr>
        <p:txBody>
          <a:bodyPr wrap="square" lIns="0" tIns="0" rIns="0" bIns="0" rtlCol="0" anchor="t"/>
          <a:lstStyle/>
          <a:p>
            <a:pPr marL="0" indent="0" algn="l">
              <a:buNone/>
            </a:pPr>
            <a:r>
              <a:rPr lang="en-US" sz="1600" b="1" dirty="0">
                <a:solidFill>
                  <a:srgbClr val="2E6FA3"/>
                </a:solidFill>
                <a:latin typeface="Calibri" pitchFamily="34" charset="0"/>
                <a:ea typeface="Calibri" pitchFamily="34" charset="-122"/>
                <a:cs typeface="Calibri" pitchFamily="34" charset="-120"/>
              </a:rPr>
              <a:t>Kiểm thử và công cụ</a:t>
            </a:r>
            <a:endParaRPr lang="en-US" sz="1600" dirty="0"/>
          </a:p>
        </p:txBody>
      </p:sp>
      <p:sp>
        <p:nvSpPr>
          <p:cNvPr id="21" name="tech5_body"/>
          <p:cNvSpPr txBox="1"/>
          <p:nvPr/>
        </p:nvSpPr>
        <p:spPr>
          <a:xfrm>
            <a:off x="8266176" y="4343400"/>
            <a:ext cx="3246120" cy="1691640"/>
          </a:xfrm>
          <a:prstGeom prst="rect">
            <a:avLst/>
          </a:prstGeom>
          <a:noFill/>
          <a:ln/>
        </p:spPr>
        <p:txBody>
          <a:bodyPr wrap="square" lIns="0" tIns="0" rIns="0" bIns="0" rtlCol="0" anchor="t"/>
          <a:lstStyle/>
          <a:p>
            <a:pPr marL="342900" indent="-342900" algn="l">
              <a:spcAft>
                <a:spcPts val="400"/>
              </a:spcAft>
              <a:buSzPct val="100000"/>
              <a:buChar char="•"/>
            </a:pPr>
            <a:r>
              <a:rPr lang="en-US" sz="1600" dirty="0">
                <a:solidFill>
                  <a:srgbClr val="1B2A1F"/>
                </a:solidFill>
                <a:latin typeface="Calibri" pitchFamily="34" charset="0"/>
                <a:ea typeface="Calibri" pitchFamily="34" charset="-122"/>
                <a:cs typeface="Calibri" pitchFamily="34" charset="-120"/>
              </a:rPr>
              <a:t>78 test (unittest/pytest)</a:t>
            </a:r>
            <a:endParaRPr lang="en-US" sz="1600" dirty="0"/>
          </a:p>
          <a:p>
            <a:pPr marL="342900" indent="-342900" algn="l">
              <a:spcAft>
                <a:spcPts val="400"/>
              </a:spcAft>
              <a:buSzPct val="100000"/>
              <a:buChar char="•"/>
            </a:pPr>
            <a:r>
              <a:rPr lang="en-US" sz="1600" dirty="0">
                <a:solidFill>
                  <a:srgbClr val="1B2A1F"/>
                </a:solidFill>
                <a:latin typeface="Calibri" pitchFamily="34" charset="0"/>
                <a:ea typeface="Calibri" pitchFamily="34" charset="-122"/>
                <a:cs typeface="Calibri" pitchFamily="34" charset="-120"/>
              </a:rPr>
              <a:t>CLI experiments/run.py</a:t>
            </a:r>
            <a:endParaRPr lang="en-US" sz="1600" dirty="0"/>
          </a:p>
          <a:p>
            <a:pPr marL="342900" indent="-342900" algn="l">
              <a:spcAft>
                <a:spcPts val="400"/>
              </a:spcAft>
              <a:buSzPct val="100000"/>
              <a:buChar char="•"/>
            </a:pPr>
            <a:r>
              <a:rPr lang="en-US" sz="1600" dirty="0">
                <a:solidFill>
                  <a:srgbClr val="1B2A1F"/>
                </a:solidFill>
                <a:latin typeface="Calibri" pitchFamily="34" charset="0"/>
                <a:ea typeface="Calibri" pitchFamily="34" charset="-122"/>
                <a:cs typeface="Calibri" pitchFamily="34" charset="-120"/>
              </a:rPr>
              <a:t>Checkpoint có hash dữ liệu</a:t>
            </a:r>
            <a:endParaRPr lang="en-US" sz="1600" dirty="0"/>
          </a:p>
        </p:txBody>
      </p:sp>
      <p:sp>
        <p:nvSpPr>
          <p:cNvPr id="25" name="Slide Number Placeholder 0"/>
          <p:cNvSpPr>
            <a:spLocks noGrp="1"/>
          </p:cNvSpPr>
          <p:nvPr>
            <p:ph type="sldNum" sz="quarter" idx="4294967295"/>
          </p:nvPr>
        </p:nvSpPr>
        <p:spPr>
          <a:xfrm>
            <a:off x="10972800" y="644652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B5F"/>
                </a:solidFill>
                <a:latin typeface="Calibri"/>
                <a:ea typeface="Calibri"/>
                <a:cs typeface="Calibri"/>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91672" cy="777240"/>
          </a:xfrm>
          <a:prstGeom prst="rect">
            <a:avLst/>
          </a:prstGeom>
          <a:noFill/>
          <a:ln/>
        </p:spPr>
        <p:txBody>
          <a:bodyPr wrap="square" lIns="0" tIns="0" rIns="0" bIns="0" rtlCol="0" anchor="ctr"/>
          <a:lstStyle/>
          <a:p>
            <a:pPr marL="0" indent="0" algn="l">
              <a:buNone/>
            </a:pPr>
            <a:r>
              <a:rPr lang="en-US" sz="3400" b="1" dirty="0">
                <a:solidFill>
                  <a:srgbClr val="1F4D2B"/>
                </a:solidFill>
                <a:latin typeface="Cambria" pitchFamily="34" charset="0"/>
                <a:ea typeface="Cambria" pitchFamily="34" charset="-122"/>
                <a:cs typeface="Cambria" pitchFamily="34" charset="-120"/>
              </a:rPr>
              <a:t>Giao thức đánh giá công bằng</a:t>
            </a:r>
            <a:endParaRPr lang="en-US" sz="3400" dirty="0"/>
          </a:p>
        </p:txBody>
      </p:sp>
      <p:sp>
        <p:nvSpPr>
          <p:cNvPr id="4" name="prot0"/>
          <p:cNvSpPr/>
          <p:nvPr/>
        </p:nvSpPr>
        <p:spPr>
          <a:xfrm>
            <a:off x="548640" y="1371600"/>
            <a:ext cx="2423160" cy="731520"/>
          </a:xfrm>
          <a:prstGeom prst="roundRect">
            <a:avLst>
              <a:gd name="adj" fmla="val 10000"/>
            </a:avLst>
          </a:prstGeom>
          <a:solidFill>
            <a:srgbClr val="3E7D3A"/>
          </a:solidFill>
          <a:ln w="12700">
            <a:solidFill>
              <a:srgbClr val="3E7D3A"/>
            </a:solidFill>
            <a:prstDash val="solid"/>
          </a:ln>
        </p:spPr>
        <p:txBody>
          <a:bodyPr wrap="square" lIns="762" tIns="762" rIns="762" bIns="762"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Re-rank candidate đã log</a:t>
            </a:r>
            <a:endParaRPr lang="en-US" sz="1600" dirty="0"/>
          </a:p>
        </p:txBody>
      </p:sp>
      <p:sp>
        <p:nvSpPr>
          <p:cNvPr id="5" name="Text 2"/>
          <p:cNvSpPr txBox="1"/>
          <p:nvPr/>
        </p:nvSpPr>
        <p:spPr>
          <a:xfrm>
            <a:off x="548640" y="2194560"/>
            <a:ext cx="2423160" cy="457200"/>
          </a:xfrm>
          <a:prstGeom prst="rect">
            <a:avLst/>
          </a:prstGeom>
          <a:noFill/>
          <a:ln/>
        </p:spPr>
        <p:txBody>
          <a:bodyPr wrap="square" lIns="0" tIns="0" rIns="0" bIns="0" rtlCol="0" anchor="t"/>
          <a:lstStyle/>
          <a:p>
            <a:pPr marL="0" indent="0" algn="ctr">
              <a:buNone/>
            </a:pPr>
            <a:r>
              <a:rPr lang="en-US" sz="1400" dirty="0">
                <a:solidFill>
                  <a:srgbClr val="5C6B5F"/>
                </a:solidFill>
                <a:latin typeface="Calibri" pitchFamily="34" charset="0"/>
                <a:ea typeface="Calibri" pitchFamily="34" charset="-122"/>
                <a:cs typeface="Calibri" pitchFamily="34" charset="-120"/>
              </a:rPr>
              <a:t>Không negative sampling</a:t>
            </a:r>
            <a:endParaRPr lang="en-US" sz="1400" dirty="0"/>
          </a:p>
        </p:txBody>
      </p:sp>
      <p:sp>
        <p:nvSpPr>
          <p:cNvPr id="6" name="Shape 3"/>
          <p:cNvSpPr/>
          <p:nvPr/>
        </p:nvSpPr>
        <p:spPr>
          <a:xfrm>
            <a:off x="3017520" y="1737360"/>
            <a:ext cx="320040" cy="0"/>
          </a:xfrm>
          <a:prstGeom prst="line">
            <a:avLst/>
          </a:prstGeom>
          <a:noFill/>
          <a:ln w="25400">
            <a:solidFill>
              <a:srgbClr val="1F4D2B"/>
            </a:solidFill>
            <a:prstDash val="solid"/>
            <a:tailEnd type="triangle"/>
          </a:ln>
        </p:spPr>
      </p:sp>
      <p:sp>
        <p:nvSpPr>
          <p:cNvPr id="7" name="prot1"/>
          <p:cNvSpPr/>
          <p:nvPr/>
        </p:nvSpPr>
        <p:spPr>
          <a:xfrm>
            <a:off x="3383280" y="1371600"/>
            <a:ext cx="2423160" cy="731520"/>
          </a:xfrm>
          <a:prstGeom prst="roundRect">
            <a:avLst>
              <a:gd name="adj" fmla="val 10000"/>
            </a:avLst>
          </a:prstGeom>
          <a:solidFill>
            <a:srgbClr val="3E7D3A"/>
          </a:solidFill>
          <a:ln w="12700">
            <a:solidFill>
              <a:srgbClr val="3E7D3A"/>
            </a:solidFill>
            <a:prstDash val="solid"/>
          </a:ln>
        </p:spPr>
        <p:txBody>
          <a:bodyPr wrap="square" lIns="762" tIns="762" rIns="762" bIns="762"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Chọn theo val NDCG@5</a:t>
            </a:r>
            <a:endParaRPr lang="en-US" sz="1600" dirty="0"/>
          </a:p>
        </p:txBody>
      </p:sp>
      <p:sp>
        <p:nvSpPr>
          <p:cNvPr id="8" name="Text 5"/>
          <p:cNvSpPr txBox="1"/>
          <p:nvPr/>
        </p:nvSpPr>
        <p:spPr>
          <a:xfrm>
            <a:off x="3383280" y="2194560"/>
            <a:ext cx="2423160" cy="457200"/>
          </a:xfrm>
          <a:prstGeom prst="rect">
            <a:avLst/>
          </a:prstGeom>
          <a:noFill/>
          <a:ln/>
        </p:spPr>
        <p:txBody>
          <a:bodyPr wrap="square" lIns="0" tIns="0" rIns="0" bIns="0" rtlCol="0" anchor="t"/>
          <a:lstStyle/>
          <a:p>
            <a:pPr marL="0" indent="0" algn="ctr">
              <a:buNone/>
            </a:pPr>
            <a:r>
              <a:rPr lang="en-US" sz="1400" dirty="0">
                <a:solidFill>
                  <a:srgbClr val="5C6B5F"/>
                </a:solidFill>
                <a:latin typeface="Calibri" pitchFamily="34" charset="0"/>
                <a:ea typeface="Calibri" pitchFamily="34" charset="-122"/>
                <a:cs typeface="Calibri" pitchFamily="34" charset="-120"/>
              </a:rPr>
              <a:t>Early stopping</a:t>
            </a:r>
            <a:endParaRPr lang="en-US" sz="1400" dirty="0"/>
          </a:p>
        </p:txBody>
      </p:sp>
      <p:sp>
        <p:nvSpPr>
          <p:cNvPr id="9" name="Shape 6"/>
          <p:cNvSpPr/>
          <p:nvPr/>
        </p:nvSpPr>
        <p:spPr>
          <a:xfrm>
            <a:off x="5852160" y="1737360"/>
            <a:ext cx="320040" cy="0"/>
          </a:xfrm>
          <a:prstGeom prst="line">
            <a:avLst/>
          </a:prstGeom>
          <a:noFill/>
          <a:ln w="25400">
            <a:solidFill>
              <a:srgbClr val="1F4D2B"/>
            </a:solidFill>
            <a:prstDash val="solid"/>
            <a:tailEnd type="triangle"/>
          </a:ln>
        </p:spPr>
      </p:sp>
      <p:sp>
        <p:nvSpPr>
          <p:cNvPr id="10" name="prot2"/>
          <p:cNvSpPr/>
          <p:nvPr/>
        </p:nvSpPr>
        <p:spPr>
          <a:xfrm>
            <a:off x="6217920" y="1371600"/>
            <a:ext cx="2423160" cy="731520"/>
          </a:xfrm>
          <a:prstGeom prst="roundRect">
            <a:avLst>
              <a:gd name="adj" fmla="val 10000"/>
            </a:avLst>
          </a:prstGeom>
          <a:solidFill>
            <a:srgbClr val="3E7D3A"/>
          </a:solidFill>
          <a:ln w="12700">
            <a:solidFill>
              <a:srgbClr val="3E7D3A"/>
            </a:solidFill>
            <a:prstDash val="solid"/>
          </a:ln>
        </p:spPr>
        <p:txBody>
          <a:bodyPr wrap="square" lIns="762" tIns="762" rIns="762" bIns="762"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Chấm test 1 lần</a:t>
            </a:r>
            <a:endParaRPr lang="en-US" sz="1600" dirty="0"/>
          </a:p>
        </p:txBody>
      </p:sp>
      <p:sp>
        <p:nvSpPr>
          <p:cNvPr id="11" name="Text 8"/>
          <p:cNvSpPr txBox="1"/>
          <p:nvPr/>
        </p:nvSpPr>
        <p:spPr>
          <a:xfrm>
            <a:off x="6217920" y="2194560"/>
            <a:ext cx="2423160" cy="457200"/>
          </a:xfrm>
          <a:prstGeom prst="rect">
            <a:avLst/>
          </a:prstGeom>
          <a:noFill/>
          <a:ln/>
        </p:spPr>
        <p:txBody>
          <a:bodyPr wrap="square" lIns="0" tIns="0" rIns="0" bIns="0" rtlCol="0" anchor="t"/>
          <a:lstStyle/>
          <a:p>
            <a:pPr marL="0" indent="0" algn="ctr">
              <a:buNone/>
            </a:pPr>
            <a:r>
              <a:rPr lang="en-US" sz="1400" dirty="0">
                <a:solidFill>
                  <a:srgbClr val="5C6B5F"/>
                </a:solidFill>
                <a:latin typeface="Calibri" pitchFamily="34" charset="0"/>
                <a:ea typeface="Calibri" pitchFamily="34" charset="-122"/>
                <a:cs typeface="Calibri" pitchFamily="34" charset="-120"/>
              </a:rPr>
              <a:t>Trung bình theo user</a:t>
            </a:r>
            <a:endParaRPr lang="en-US" sz="1400" dirty="0"/>
          </a:p>
        </p:txBody>
      </p:sp>
      <p:sp>
        <p:nvSpPr>
          <p:cNvPr id="12" name="Shape 9"/>
          <p:cNvSpPr/>
          <p:nvPr/>
        </p:nvSpPr>
        <p:spPr>
          <a:xfrm>
            <a:off x="8686800" y="1737360"/>
            <a:ext cx="320040" cy="0"/>
          </a:xfrm>
          <a:prstGeom prst="line">
            <a:avLst/>
          </a:prstGeom>
          <a:noFill/>
          <a:ln w="25400">
            <a:solidFill>
              <a:srgbClr val="1F4D2B"/>
            </a:solidFill>
            <a:prstDash val="solid"/>
            <a:tailEnd type="triangle"/>
          </a:ln>
        </p:spPr>
      </p:sp>
      <p:sp>
        <p:nvSpPr>
          <p:cNvPr id="13" name="prot3"/>
          <p:cNvSpPr/>
          <p:nvPr/>
        </p:nvSpPr>
        <p:spPr>
          <a:xfrm>
            <a:off x="9052560" y="1371600"/>
            <a:ext cx="2423160" cy="731520"/>
          </a:xfrm>
          <a:prstGeom prst="roundRect">
            <a:avLst>
              <a:gd name="adj" fmla="val 10000"/>
            </a:avLst>
          </a:prstGeom>
          <a:solidFill>
            <a:srgbClr val="3E7D3A"/>
          </a:solidFill>
          <a:ln w="12700">
            <a:solidFill>
              <a:srgbClr val="3E7D3A"/>
            </a:solidFill>
            <a:prstDash val="solid"/>
          </a:ln>
        </p:spPr>
        <p:txBody>
          <a:bodyPr wrap="square" lIns="762" tIns="762" rIns="762" bIns="762"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10 seed (42–51)</a:t>
            </a:r>
            <a:endParaRPr lang="en-US" sz="1600" dirty="0"/>
          </a:p>
        </p:txBody>
      </p:sp>
      <p:sp>
        <p:nvSpPr>
          <p:cNvPr id="14" name="Text 11"/>
          <p:cNvSpPr txBox="1"/>
          <p:nvPr/>
        </p:nvSpPr>
        <p:spPr>
          <a:xfrm>
            <a:off x="9052560" y="2194560"/>
            <a:ext cx="2423160" cy="457200"/>
          </a:xfrm>
          <a:prstGeom prst="rect">
            <a:avLst/>
          </a:prstGeom>
          <a:noFill/>
          <a:ln/>
        </p:spPr>
        <p:txBody>
          <a:bodyPr wrap="square" lIns="0" tIns="0" rIns="0" bIns="0" rtlCol="0" anchor="t"/>
          <a:lstStyle/>
          <a:p>
            <a:pPr marL="0" indent="0" algn="ctr">
              <a:buNone/>
            </a:pPr>
            <a:r>
              <a:rPr lang="en-US" sz="1400" dirty="0">
                <a:solidFill>
                  <a:srgbClr val="5C6B5F"/>
                </a:solidFill>
                <a:latin typeface="Calibri" pitchFamily="34" charset="0"/>
                <a:ea typeface="Calibri" pitchFamily="34" charset="-122"/>
                <a:cs typeface="Calibri" pitchFamily="34" charset="-120"/>
              </a:rPr>
              <a:t>mean ± std, Wilcoxon cặp</a:t>
            </a:r>
            <a:endParaRPr lang="en-US" sz="1400" dirty="0"/>
          </a:p>
        </p:txBody>
      </p:sp>
      <p:sp>
        <p:nvSpPr>
          <p:cNvPr id="15" name="prot_m_bg"/>
          <p:cNvSpPr/>
          <p:nvPr/>
        </p:nvSpPr>
        <p:spPr>
          <a:xfrm>
            <a:off x="548640" y="3017520"/>
            <a:ext cx="5440680" cy="2194560"/>
          </a:xfrm>
          <a:prstGeom prst="roundRect">
            <a:avLst>
              <a:gd name="adj" fmla="val 3333"/>
            </a:avLst>
          </a:prstGeom>
          <a:solidFill>
            <a:srgbClr val="EEF5E6"/>
          </a:solidFill>
          <a:ln w="9525">
            <a:solidFill>
              <a:srgbClr val="DCE8CF"/>
            </a:solidFill>
            <a:prstDash val="solid"/>
          </a:ln>
        </p:spPr>
      </p:sp>
      <p:sp>
        <p:nvSpPr>
          <p:cNvPr id="16" name="prot_m_head"/>
          <p:cNvSpPr txBox="1"/>
          <p:nvPr/>
        </p:nvSpPr>
        <p:spPr>
          <a:xfrm>
            <a:off x="731520" y="3127248"/>
            <a:ext cx="5074920" cy="365760"/>
          </a:xfrm>
          <a:prstGeom prst="rect">
            <a:avLst/>
          </a:prstGeom>
          <a:noFill/>
          <a:ln/>
        </p:spPr>
        <p:txBody>
          <a:bodyPr wrap="square" lIns="0" tIns="0" rIns="0" bIns="0" rtlCol="0" anchor="t"/>
          <a:lstStyle/>
          <a:p>
            <a:pPr marL="0" indent="0" algn="l">
              <a:buNone/>
            </a:pPr>
            <a:r>
              <a:rPr lang="en-US" sz="1600" b="1" dirty="0">
                <a:solidFill>
                  <a:srgbClr val="1F4D2B"/>
                </a:solidFill>
                <a:latin typeface="Calibri" pitchFamily="34" charset="0"/>
                <a:ea typeface="Calibri" pitchFamily="34" charset="-122"/>
                <a:cs typeface="Calibri" pitchFamily="34" charset="-120"/>
              </a:rPr>
              <a:t>Chỉ số</a:t>
            </a:r>
            <a:endParaRPr lang="en-US" sz="1600" dirty="0"/>
          </a:p>
        </p:txBody>
      </p:sp>
      <p:sp>
        <p:nvSpPr>
          <p:cNvPr id="17" name="prot_m_body"/>
          <p:cNvSpPr txBox="1"/>
          <p:nvPr/>
        </p:nvSpPr>
        <p:spPr>
          <a:xfrm>
            <a:off x="731520" y="3520440"/>
            <a:ext cx="5074920" cy="1600200"/>
          </a:xfrm>
          <a:prstGeom prst="rect">
            <a:avLst/>
          </a:prstGeom>
          <a:noFill/>
          <a:ln/>
        </p:spPr>
        <p:txBody>
          <a:bodyPr wrap="square" lIns="0" tIns="0" rIns="0" bIns="0" rtlCol="0" anchor="t"/>
          <a:lstStyle/>
          <a:p>
            <a:pPr marL="342900" indent="-342900" algn="l">
              <a:spcAft>
                <a:spcPts val="400"/>
              </a:spcAft>
              <a:buSzPct val="100000"/>
              <a:buChar char="•"/>
            </a:pPr>
            <a:r>
              <a:rPr lang="en-US" sz="1600" dirty="0">
                <a:solidFill>
                  <a:srgbClr val="1B2A1F"/>
                </a:solidFill>
                <a:latin typeface="Calibri" pitchFamily="34" charset="0"/>
                <a:ea typeface="Calibri" pitchFamily="34" charset="-122"/>
                <a:cs typeface="Calibri" pitchFamily="34" charset="-120"/>
              </a:rPr>
              <a:t>NDCG@5 (chỉ số chính)</a:t>
            </a:r>
            <a:endParaRPr lang="en-US" sz="1600" dirty="0"/>
          </a:p>
          <a:p>
            <a:pPr marL="342900" indent="-342900" algn="l">
              <a:spcAft>
                <a:spcPts val="400"/>
              </a:spcAft>
              <a:buSzPct val="100000"/>
              <a:buChar char="•"/>
            </a:pPr>
            <a:r>
              <a:rPr lang="en-US" sz="1600" dirty="0">
                <a:solidFill>
                  <a:srgbClr val="1B2A1F"/>
                </a:solidFill>
                <a:latin typeface="Calibri" pitchFamily="34" charset="0"/>
                <a:ea typeface="Calibri" pitchFamily="34" charset="-122"/>
                <a:cs typeface="Calibri" pitchFamily="34" charset="-120"/>
              </a:rPr>
              <a:t>Recall@5, Precision@5, HitRate@5</a:t>
            </a:r>
            <a:endParaRPr lang="en-US" sz="1600" dirty="0"/>
          </a:p>
          <a:p>
            <a:pPr marL="342900" indent="-342900" algn="l">
              <a:spcAft>
                <a:spcPts val="400"/>
              </a:spcAft>
              <a:buSzPct val="100000"/>
              <a:buChar char="•"/>
            </a:pPr>
            <a:r>
              <a:rPr lang="en-US" sz="1600" dirty="0">
                <a:solidFill>
                  <a:srgbClr val="1B2A1F"/>
                </a:solidFill>
                <a:latin typeface="Calibri" pitchFamily="34" charset="0"/>
                <a:ea typeface="Calibri" pitchFamily="34" charset="-122"/>
                <a:cs typeface="Calibri" pitchFamily="34" charset="-120"/>
              </a:rPr>
              <a:t>AUC trung bình theo user</a:t>
            </a:r>
            <a:endParaRPr lang="en-US" sz="1600" dirty="0"/>
          </a:p>
        </p:txBody>
      </p:sp>
      <p:sp>
        <p:nvSpPr>
          <p:cNvPr id="18" name="prot_b_bg"/>
          <p:cNvSpPr/>
          <p:nvPr/>
        </p:nvSpPr>
        <p:spPr>
          <a:xfrm>
            <a:off x="6199632" y="3017520"/>
            <a:ext cx="5440680" cy="2194560"/>
          </a:xfrm>
          <a:prstGeom prst="roundRect">
            <a:avLst>
              <a:gd name="adj" fmla="val 3333"/>
            </a:avLst>
          </a:prstGeom>
          <a:solidFill>
            <a:srgbClr val="EEF5E6"/>
          </a:solidFill>
          <a:ln w="9525">
            <a:solidFill>
              <a:srgbClr val="DCE8CF"/>
            </a:solidFill>
            <a:prstDash val="solid"/>
          </a:ln>
        </p:spPr>
      </p:sp>
      <p:sp>
        <p:nvSpPr>
          <p:cNvPr id="19" name="prot_b_head"/>
          <p:cNvSpPr txBox="1"/>
          <p:nvPr/>
        </p:nvSpPr>
        <p:spPr>
          <a:xfrm>
            <a:off x="6382512" y="3127248"/>
            <a:ext cx="5074920" cy="365760"/>
          </a:xfrm>
          <a:prstGeom prst="rect">
            <a:avLst/>
          </a:prstGeom>
          <a:noFill/>
          <a:ln/>
        </p:spPr>
        <p:txBody>
          <a:bodyPr wrap="square" lIns="0" tIns="0" rIns="0" bIns="0" rtlCol="0" anchor="t"/>
          <a:lstStyle/>
          <a:p>
            <a:pPr marL="0" indent="0" algn="l">
              <a:buNone/>
            </a:pPr>
            <a:r>
              <a:rPr lang="en-US" sz="1600" b="1" dirty="0">
                <a:solidFill>
                  <a:srgbClr val="1F4D2B"/>
                </a:solidFill>
                <a:latin typeface="Calibri" pitchFamily="34" charset="0"/>
                <a:ea typeface="Calibri" pitchFamily="34" charset="-122"/>
                <a:cs typeface="Calibri" pitchFamily="34" charset="-120"/>
              </a:rPr>
              <a:t>Baseline và thống kê</a:t>
            </a:r>
            <a:endParaRPr lang="en-US" sz="1600" dirty="0"/>
          </a:p>
        </p:txBody>
      </p:sp>
      <p:sp>
        <p:nvSpPr>
          <p:cNvPr id="20" name="prot_b_body"/>
          <p:cNvSpPr txBox="1"/>
          <p:nvPr/>
        </p:nvSpPr>
        <p:spPr>
          <a:xfrm>
            <a:off x="6382512" y="3520440"/>
            <a:ext cx="5074920" cy="1600200"/>
          </a:xfrm>
          <a:prstGeom prst="rect">
            <a:avLst/>
          </a:prstGeom>
          <a:noFill/>
          <a:ln/>
        </p:spPr>
        <p:txBody>
          <a:bodyPr wrap="square" lIns="0" tIns="0" rIns="0" bIns="0" rtlCol="0" anchor="t"/>
          <a:lstStyle/>
          <a:p>
            <a:pPr marL="342900" indent="-342900" algn="l">
              <a:spcAft>
                <a:spcPts val="400"/>
              </a:spcAft>
              <a:buSzPct val="100000"/>
              <a:buChar char="•"/>
            </a:pPr>
            <a:r>
              <a:rPr lang="en-US" sz="1600" dirty="0">
                <a:solidFill>
                  <a:srgbClr val="1B2A1F"/>
                </a:solidFill>
                <a:latin typeface="Calibri" pitchFamily="34" charset="0"/>
                <a:ea typeface="Calibri" pitchFamily="34" charset="-122"/>
                <a:cs typeface="Calibri" pitchFamily="34" charset="-120"/>
              </a:rPr>
              <a:t>Popularity và Random làm mốc tham chiếu</a:t>
            </a:r>
            <a:endParaRPr lang="en-US" sz="1600" dirty="0"/>
          </a:p>
          <a:p>
            <a:pPr marL="342900" indent="-342900" algn="l">
              <a:spcAft>
                <a:spcPts val="400"/>
              </a:spcAft>
              <a:buSzPct val="100000"/>
              <a:buChar char="•"/>
            </a:pPr>
            <a:r>
              <a:rPr lang="en-US" sz="1600" dirty="0">
                <a:solidFill>
                  <a:srgbClr val="1B2A1F"/>
                </a:solidFill>
                <a:latin typeface="Calibri" pitchFamily="34" charset="0"/>
                <a:ea typeface="Calibri" pitchFamily="34" charset="-122"/>
                <a:cs typeface="Calibri" pitchFamily="34" charset="-120"/>
              </a:rPr>
              <a:t>Báo cáo mean ± std trên 10 seed</a:t>
            </a:r>
            <a:endParaRPr lang="en-US" sz="1600" dirty="0"/>
          </a:p>
          <a:p>
            <a:pPr marL="342900" indent="-342900" algn="l">
              <a:spcAft>
                <a:spcPts val="400"/>
              </a:spcAft>
              <a:buSzPct val="100000"/>
              <a:buChar char="•"/>
            </a:pPr>
            <a:r>
              <a:rPr lang="en-US" sz="1600" dirty="0">
                <a:solidFill>
                  <a:srgbClr val="1B2A1F"/>
                </a:solidFill>
                <a:latin typeface="Calibri" pitchFamily="34" charset="0"/>
                <a:ea typeface="Calibri" pitchFamily="34" charset="-122"/>
                <a:cs typeface="Calibri" pitchFamily="34" charset="-120"/>
              </a:rPr>
              <a:t>Kiểm định Wilcoxon theo cặp so với MF</a:t>
            </a:r>
            <a:endParaRPr lang="en-US" sz="1600" dirty="0"/>
          </a:p>
        </p:txBody>
      </p:sp>
      <p:sp>
        <p:nvSpPr>
          <p:cNvPr id="21" name="prot_note_bg"/>
          <p:cNvSpPr/>
          <p:nvPr/>
        </p:nvSpPr>
        <p:spPr>
          <a:xfrm>
            <a:off x="548640" y="5440680"/>
            <a:ext cx="11091672" cy="731520"/>
          </a:xfrm>
          <a:prstGeom prst="roundRect">
            <a:avLst>
              <a:gd name="adj" fmla="val 10000"/>
            </a:avLst>
          </a:prstGeom>
          <a:solidFill>
            <a:srgbClr val="FFFFFF"/>
          </a:solidFill>
          <a:ln w="15875">
            <a:solidFill>
              <a:srgbClr val="E07B1F"/>
            </a:solidFill>
            <a:prstDash val="solid"/>
          </a:ln>
        </p:spPr>
      </p:sp>
      <p:sp>
        <p:nvSpPr>
          <p:cNvPr id="22" name="Text 19"/>
          <p:cNvSpPr txBox="1"/>
          <p:nvPr/>
        </p:nvSpPr>
        <p:spPr>
          <a:xfrm>
            <a:off x="777240" y="5486400"/>
            <a:ext cx="10607040" cy="640080"/>
          </a:xfrm>
          <a:prstGeom prst="rect">
            <a:avLst/>
          </a:prstGeom>
          <a:noFill/>
          <a:ln/>
        </p:spPr>
        <p:txBody>
          <a:bodyPr wrap="square" lIns="0" tIns="0" rIns="0" bIns="0" rtlCol="0" anchor="ctr"/>
          <a:lstStyle/>
          <a:p>
            <a:pPr marL="0" indent="0" algn="l">
              <a:buNone/>
            </a:pPr>
            <a:r>
              <a:rPr lang="en-US" sz="1600" b="1" dirty="0">
                <a:solidFill>
                  <a:srgbClr val="E07B1F"/>
                </a:solidFill>
                <a:latin typeface="Calibri" pitchFamily="34" charset="0"/>
                <a:ea typeface="Calibri" pitchFamily="34" charset="-122"/>
                <a:cs typeface="Calibri" pitchFamily="34" charset="-120"/>
              </a:rPr>
              <a:t>Lưu ý: giao thức này khác giao thức gốc của một số bài báo, nên số liệu không so trực tiếp với bài báo.</a:t>
            </a:r>
            <a:endParaRPr lang="en-US" sz="1600" dirty="0"/>
          </a:p>
        </p:txBody>
      </p:sp>
      <p:sp>
        <p:nvSpPr>
          <p:cNvPr id="25" name="Slide Number Placeholder 0"/>
          <p:cNvSpPr>
            <a:spLocks noGrp="1"/>
          </p:cNvSpPr>
          <p:nvPr>
            <p:ph type="sldNum" sz="quarter" idx="4294967295"/>
          </p:nvPr>
        </p:nvSpPr>
        <p:spPr>
          <a:xfrm>
            <a:off x="10972800" y="644652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B5F"/>
                </a:solidFill>
                <a:latin typeface="Calibri"/>
                <a:ea typeface="Calibri"/>
                <a:cs typeface="Calibri"/>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91672" cy="777240"/>
          </a:xfrm>
          <a:prstGeom prst="rect">
            <a:avLst/>
          </a:prstGeom>
          <a:noFill/>
          <a:ln/>
        </p:spPr>
        <p:txBody>
          <a:bodyPr wrap="square" lIns="0" tIns="0" rIns="0" bIns="0" rtlCol="0" anchor="ctr"/>
          <a:lstStyle/>
          <a:p>
            <a:pPr marL="0" indent="0" algn="l">
              <a:buNone/>
            </a:pPr>
            <a:r>
              <a:rPr lang="en-US" sz="3400" b="1" dirty="0">
                <a:solidFill>
                  <a:srgbClr val="1F4D2B"/>
                </a:solidFill>
                <a:latin typeface="Cambria" pitchFamily="34" charset="0"/>
                <a:ea typeface="Cambria" pitchFamily="34" charset="-122"/>
                <a:cs typeface="Cambria" pitchFamily="34" charset="-120"/>
              </a:rPr>
              <a:t>Mô hình 1: Matrix Factorization (baseline)</a:t>
            </a:r>
            <a:endParaRPr lang="en-US" sz="3400" dirty="0"/>
          </a:p>
        </p:txBody>
      </p:sp>
      <p:sp>
        <p:nvSpPr>
          <p:cNvPr id="4" name="mf_u"/>
          <p:cNvSpPr/>
          <p:nvPr/>
        </p:nvSpPr>
        <p:spPr>
          <a:xfrm>
            <a:off x="548640" y="1371600"/>
            <a:ext cx="1828800" cy="731520"/>
          </a:xfrm>
          <a:prstGeom prst="roundRect">
            <a:avLst>
              <a:gd name="adj" fmla="val 10000"/>
            </a:avLst>
          </a:prstGeom>
          <a:solidFill>
            <a:srgbClr val="E4E8E1"/>
          </a:solidFill>
          <a:ln w="12700">
            <a:solidFill>
              <a:srgbClr val="E4E8E1"/>
            </a:solidFill>
            <a:prstDash val="solid"/>
          </a:ln>
        </p:spPr>
        <p:txBody>
          <a:bodyPr wrap="square" lIns="762" tIns="762" rIns="762" bIns="762" rtlCol="0" anchor="ctr"/>
          <a:lstStyle/>
          <a:p>
            <a:pPr marL="0" indent="0" algn="ctr">
              <a:buNone/>
            </a:pPr>
            <a:r>
              <a:rPr lang="en-US" sz="1600" b="1" dirty="0">
                <a:solidFill>
                  <a:srgbClr val="1B2A1F"/>
                </a:solidFill>
                <a:latin typeface="Calibri" pitchFamily="34" charset="0"/>
                <a:ea typeface="Calibri" pitchFamily="34" charset="-122"/>
                <a:cs typeface="Calibri" pitchFamily="34" charset="-120"/>
              </a:rPr>
              <a:t>User ID</a:t>
            </a:r>
            <a:endParaRPr lang="en-US" sz="1600" dirty="0"/>
          </a:p>
        </p:txBody>
      </p:sp>
      <p:sp>
        <p:nvSpPr>
          <p:cNvPr id="5" name="mf_i"/>
          <p:cNvSpPr/>
          <p:nvPr/>
        </p:nvSpPr>
        <p:spPr>
          <a:xfrm>
            <a:off x="548640" y="3017520"/>
            <a:ext cx="1828800" cy="731520"/>
          </a:xfrm>
          <a:prstGeom prst="roundRect">
            <a:avLst>
              <a:gd name="adj" fmla="val 10000"/>
            </a:avLst>
          </a:prstGeom>
          <a:solidFill>
            <a:srgbClr val="E4E8E1"/>
          </a:solidFill>
          <a:ln w="12700">
            <a:solidFill>
              <a:srgbClr val="E4E8E1"/>
            </a:solidFill>
            <a:prstDash val="solid"/>
          </a:ln>
        </p:spPr>
        <p:txBody>
          <a:bodyPr wrap="square" lIns="762" tIns="762" rIns="762" bIns="762" rtlCol="0" anchor="ctr"/>
          <a:lstStyle/>
          <a:p>
            <a:pPr marL="0" indent="0" algn="ctr">
              <a:buNone/>
            </a:pPr>
            <a:r>
              <a:rPr lang="en-US" sz="1600" b="1" dirty="0">
                <a:solidFill>
                  <a:srgbClr val="1B2A1F"/>
                </a:solidFill>
                <a:latin typeface="Calibri" pitchFamily="34" charset="0"/>
                <a:ea typeface="Calibri" pitchFamily="34" charset="-122"/>
                <a:cs typeface="Calibri" pitchFamily="34" charset="-120"/>
              </a:rPr>
              <a:t>Item ID</a:t>
            </a:r>
            <a:endParaRPr lang="en-US" sz="1600" dirty="0"/>
          </a:p>
        </p:txBody>
      </p:sp>
      <p:sp>
        <p:nvSpPr>
          <p:cNvPr id="6" name="mf_pu"/>
          <p:cNvSpPr/>
          <p:nvPr/>
        </p:nvSpPr>
        <p:spPr>
          <a:xfrm>
            <a:off x="3108960" y="1371600"/>
            <a:ext cx="2194560" cy="731520"/>
          </a:xfrm>
          <a:prstGeom prst="roundRect">
            <a:avLst>
              <a:gd name="adj" fmla="val 10000"/>
            </a:avLst>
          </a:prstGeom>
          <a:solidFill>
            <a:srgbClr val="2E6FA3"/>
          </a:solidFill>
          <a:ln w="12700">
            <a:solidFill>
              <a:srgbClr val="2E6FA3"/>
            </a:solidFill>
            <a:prstDash val="solid"/>
          </a:ln>
        </p:spPr>
        <p:txBody>
          <a:bodyPr wrap="square" lIns="762" tIns="762" rIns="762" bIns="762"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Embedding p_u</a:t>
            </a:r>
            <a:endParaRPr lang="en-US" sz="1500" dirty="0"/>
          </a:p>
          <a:p>
            <a:pPr marL="0" indent="0" algn="ctr">
              <a:buNone/>
            </a:pPr>
            <a:r>
              <a:rPr lang="en-US" sz="1500" b="1" dirty="0">
                <a:solidFill>
                  <a:srgbClr val="FFFFFF"/>
                </a:solidFill>
                <a:latin typeface="Calibri" pitchFamily="34" charset="0"/>
                <a:ea typeface="Calibri" pitchFamily="34" charset="-122"/>
                <a:cs typeface="Calibri" pitchFamily="34" charset="-120"/>
              </a:rPr>
              <a:t>(64 chiều)</a:t>
            </a:r>
            <a:endParaRPr lang="en-US" sz="1500" dirty="0"/>
          </a:p>
        </p:txBody>
      </p:sp>
      <p:sp>
        <p:nvSpPr>
          <p:cNvPr id="7" name="mf_qi"/>
          <p:cNvSpPr/>
          <p:nvPr/>
        </p:nvSpPr>
        <p:spPr>
          <a:xfrm>
            <a:off x="3108960" y="3017520"/>
            <a:ext cx="2194560" cy="731520"/>
          </a:xfrm>
          <a:prstGeom prst="roundRect">
            <a:avLst>
              <a:gd name="adj" fmla="val 10000"/>
            </a:avLst>
          </a:prstGeom>
          <a:solidFill>
            <a:srgbClr val="2E6FA3"/>
          </a:solidFill>
          <a:ln w="12700">
            <a:solidFill>
              <a:srgbClr val="2E6FA3"/>
            </a:solidFill>
            <a:prstDash val="solid"/>
          </a:ln>
        </p:spPr>
        <p:txBody>
          <a:bodyPr wrap="square" lIns="762" tIns="762" rIns="762" bIns="762"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Embedding q_i</a:t>
            </a:r>
            <a:endParaRPr lang="en-US" sz="1500" dirty="0"/>
          </a:p>
          <a:p>
            <a:pPr marL="0" indent="0" algn="ctr">
              <a:buNone/>
            </a:pPr>
            <a:r>
              <a:rPr lang="en-US" sz="1500" b="1" dirty="0">
                <a:solidFill>
                  <a:srgbClr val="FFFFFF"/>
                </a:solidFill>
                <a:latin typeface="Calibri" pitchFamily="34" charset="0"/>
                <a:ea typeface="Calibri" pitchFamily="34" charset="-122"/>
                <a:cs typeface="Calibri" pitchFamily="34" charset="-120"/>
              </a:rPr>
              <a:t>(64 chiều)</a:t>
            </a:r>
            <a:endParaRPr lang="en-US" sz="1500" dirty="0"/>
          </a:p>
        </p:txBody>
      </p:sp>
      <p:sp>
        <p:nvSpPr>
          <p:cNvPr id="8" name="mf_dot"/>
          <p:cNvSpPr/>
          <p:nvPr/>
        </p:nvSpPr>
        <p:spPr>
          <a:xfrm>
            <a:off x="6035040" y="2103120"/>
            <a:ext cx="2743200" cy="1188720"/>
          </a:xfrm>
          <a:prstGeom prst="roundRect">
            <a:avLst>
              <a:gd name="adj" fmla="val 6154"/>
            </a:avLst>
          </a:prstGeom>
          <a:solidFill>
            <a:srgbClr val="1F4D2B"/>
          </a:solidFill>
          <a:ln w="12700">
            <a:solidFill>
              <a:srgbClr val="1F4D2B"/>
            </a:solidFill>
            <a:prstDash val="solid"/>
          </a:ln>
        </p:spPr>
        <p:txBody>
          <a:bodyPr wrap="square" lIns="762" tIns="762" rIns="762" bIns="762"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⟨p_u, q_i⟩ + b_u + b_i + μ</a:t>
            </a:r>
            <a:endParaRPr lang="en-US" sz="1600" dirty="0"/>
          </a:p>
        </p:txBody>
      </p:sp>
      <p:sp>
        <p:nvSpPr>
          <p:cNvPr id="9" name="mf_out"/>
          <p:cNvSpPr/>
          <p:nvPr/>
        </p:nvSpPr>
        <p:spPr>
          <a:xfrm>
            <a:off x="9509760" y="2286000"/>
            <a:ext cx="2103120" cy="822960"/>
          </a:xfrm>
          <a:prstGeom prst="roundRect">
            <a:avLst>
              <a:gd name="adj" fmla="val 8889"/>
            </a:avLst>
          </a:prstGeom>
          <a:solidFill>
            <a:srgbClr val="3E7D3A"/>
          </a:solidFill>
          <a:ln w="12700">
            <a:solidFill>
              <a:srgbClr val="3E7D3A"/>
            </a:solidFill>
            <a:prstDash val="solid"/>
          </a:ln>
        </p:spPr>
        <p:txBody>
          <a:bodyPr wrap="square" lIns="762" tIns="762" rIns="762" bIns="762"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Điểm xếp hạng ŷ</a:t>
            </a:r>
            <a:endParaRPr lang="en-US" sz="1600" dirty="0"/>
          </a:p>
        </p:txBody>
      </p:sp>
      <p:sp>
        <p:nvSpPr>
          <p:cNvPr id="10" name="Shape 7"/>
          <p:cNvSpPr/>
          <p:nvPr/>
        </p:nvSpPr>
        <p:spPr>
          <a:xfrm>
            <a:off x="2377440" y="1737360"/>
            <a:ext cx="731520" cy="0"/>
          </a:xfrm>
          <a:prstGeom prst="line">
            <a:avLst/>
          </a:prstGeom>
          <a:noFill/>
          <a:ln w="25400">
            <a:solidFill>
              <a:srgbClr val="5C6B5F"/>
            </a:solidFill>
            <a:prstDash val="solid"/>
            <a:tailEnd type="triangle"/>
          </a:ln>
        </p:spPr>
      </p:sp>
      <p:sp>
        <p:nvSpPr>
          <p:cNvPr id="11" name="Shape 8"/>
          <p:cNvSpPr/>
          <p:nvPr/>
        </p:nvSpPr>
        <p:spPr>
          <a:xfrm>
            <a:off x="2377440" y="3383280"/>
            <a:ext cx="731520" cy="0"/>
          </a:xfrm>
          <a:prstGeom prst="line">
            <a:avLst/>
          </a:prstGeom>
          <a:noFill/>
          <a:ln w="25400">
            <a:solidFill>
              <a:srgbClr val="5C6B5F"/>
            </a:solidFill>
            <a:prstDash val="solid"/>
            <a:tailEnd type="triangle"/>
          </a:ln>
        </p:spPr>
      </p:sp>
      <p:sp>
        <p:nvSpPr>
          <p:cNvPr id="12" name="Shape 9"/>
          <p:cNvSpPr/>
          <p:nvPr/>
        </p:nvSpPr>
        <p:spPr>
          <a:xfrm>
            <a:off x="5303520" y="1737360"/>
            <a:ext cx="731520" cy="731520"/>
          </a:xfrm>
          <a:prstGeom prst="line">
            <a:avLst/>
          </a:prstGeom>
          <a:noFill/>
          <a:ln w="25400">
            <a:solidFill>
              <a:srgbClr val="5C6B5F"/>
            </a:solidFill>
            <a:prstDash val="solid"/>
            <a:tailEnd type="triangle"/>
          </a:ln>
        </p:spPr>
      </p:sp>
      <p:sp>
        <p:nvSpPr>
          <p:cNvPr id="13" name="Shape 10"/>
          <p:cNvSpPr/>
          <p:nvPr/>
        </p:nvSpPr>
        <p:spPr>
          <a:xfrm flipV="1">
            <a:off x="5303520" y="2926080"/>
            <a:ext cx="731520" cy="457200"/>
          </a:xfrm>
          <a:prstGeom prst="line">
            <a:avLst/>
          </a:prstGeom>
          <a:noFill/>
          <a:ln w="25400">
            <a:solidFill>
              <a:srgbClr val="5C6B5F"/>
            </a:solidFill>
            <a:prstDash val="solid"/>
            <a:tailEnd type="triangle"/>
          </a:ln>
        </p:spPr>
      </p:sp>
      <p:sp>
        <p:nvSpPr>
          <p:cNvPr id="14" name="Shape 11"/>
          <p:cNvSpPr/>
          <p:nvPr/>
        </p:nvSpPr>
        <p:spPr>
          <a:xfrm>
            <a:off x="8778240" y="2697480"/>
            <a:ext cx="731520" cy="0"/>
          </a:xfrm>
          <a:prstGeom prst="line">
            <a:avLst/>
          </a:prstGeom>
          <a:noFill/>
          <a:ln w="25400">
            <a:solidFill>
              <a:srgbClr val="5C6B5F"/>
            </a:solidFill>
            <a:prstDash val="solid"/>
            <a:tailEnd type="triangle"/>
          </a:ln>
        </p:spPr>
      </p:sp>
      <p:sp>
        <p:nvSpPr>
          <p:cNvPr id="15" name="Text 12"/>
          <p:cNvSpPr txBox="1"/>
          <p:nvPr/>
        </p:nvSpPr>
        <p:spPr>
          <a:xfrm>
            <a:off x="3108960" y="3931920"/>
            <a:ext cx="8503920" cy="365760"/>
          </a:xfrm>
          <a:prstGeom prst="rect">
            <a:avLst/>
          </a:prstGeom>
          <a:noFill/>
          <a:ln/>
        </p:spPr>
        <p:txBody>
          <a:bodyPr wrap="square" lIns="0" tIns="0" rIns="0" bIns="0" rtlCol="0" anchor="t"/>
          <a:lstStyle/>
          <a:p>
            <a:pPr marL="0" indent="0" algn="l">
              <a:buNone/>
            </a:pPr>
            <a:r>
              <a:rPr lang="en-US" sz="1400" dirty="0">
                <a:solidFill>
                  <a:srgbClr val="5C6B5F"/>
                </a:solidFill>
                <a:latin typeface="Calibri" pitchFamily="34" charset="0"/>
                <a:ea typeface="Calibri" pitchFamily="34" charset="-122"/>
                <a:cs typeface="Calibri" pitchFamily="34" charset="-120"/>
              </a:rPr>
              <a:t>Huấn luyện: loss MSE · Adam, lr 5e-4, weight decay 1e-6 · chỉ trên log đã hiển thị</a:t>
            </a:r>
            <a:endParaRPr lang="en-US" sz="1400" dirty="0"/>
          </a:p>
        </p:txBody>
      </p:sp>
      <p:sp>
        <p:nvSpPr>
          <p:cNvPr id="16" name="mc0_bg"/>
          <p:cNvSpPr/>
          <p:nvPr/>
        </p:nvSpPr>
        <p:spPr>
          <a:xfrm>
            <a:off x="548640" y="4434840"/>
            <a:ext cx="3611880" cy="1874520"/>
          </a:xfrm>
          <a:prstGeom prst="roundRect">
            <a:avLst>
              <a:gd name="adj" fmla="val 3902"/>
            </a:avLst>
          </a:prstGeom>
          <a:solidFill>
            <a:srgbClr val="EEF5E6"/>
          </a:solidFill>
          <a:ln w="9525">
            <a:solidFill>
              <a:srgbClr val="DCE8CF"/>
            </a:solidFill>
            <a:prstDash val="solid"/>
          </a:ln>
        </p:spPr>
      </p:sp>
      <p:sp>
        <p:nvSpPr>
          <p:cNvPr id="17" name="mc0_head"/>
          <p:cNvSpPr txBox="1"/>
          <p:nvPr/>
        </p:nvSpPr>
        <p:spPr>
          <a:xfrm>
            <a:off x="731520" y="4544568"/>
            <a:ext cx="3246120" cy="365760"/>
          </a:xfrm>
          <a:prstGeom prst="rect">
            <a:avLst/>
          </a:prstGeom>
          <a:noFill/>
          <a:ln/>
        </p:spPr>
        <p:txBody>
          <a:bodyPr wrap="square" lIns="0" tIns="0" rIns="0" bIns="0" rtlCol="0" anchor="t"/>
          <a:lstStyle/>
          <a:p>
            <a:pPr marL="0" indent="0" algn="l">
              <a:buNone/>
            </a:pPr>
            <a:r>
              <a:rPr lang="en-US" sz="1600" b="1" dirty="0">
                <a:solidFill>
                  <a:srgbClr val="2E6FA3"/>
                </a:solidFill>
                <a:latin typeface="Calibri" pitchFamily="34" charset="0"/>
                <a:ea typeface="Calibri" pitchFamily="34" charset="-122"/>
                <a:cs typeface="Calibri" pitchFamily="34" charset="-120"/>
              </a:rPr>
              <a:t>Ý tưởng</a:t>
            </a:r>
            <a:endParaRPr lang="en-US" sz="1600" dirty="0"/>
          </a:p>
        </p:txBody>
      </p:sp>
      <p:sp>
        <p:nvSpPr>
          <p:cNvPr id="18" name="mc0_body"/>
          <p:cNvSpPr txBox="1"/>
          <p:nvPr/>
        </p:nvSpPr>
        <p:spPr>
          <a:xfrm>
            <a:off x="731520" y="4937760"/>
            <a:ext cx="3246120" cy="1280160"/>
          </a:xfrm>
          <a:prstGeom prst="rect">
            <a:avLst/>
          </a:prstGeom>
          <a:noFill/>
          <a:ln/>
        </p:spPr>
        <p:txBody>
          <a:bodyPr wrap="square" lIns="0" tIns="0" rIns="0" bIns="0" rtlCol="0" anchor="t"/>
          <a:lstStyle/>
          <a:p>
            <a:pPr marL="0" indent="0" algn="l">
              <a:buNone/>
            </a:pPr>
            <a:r>
              <a:rPr lang="en-US" sz="1600" dirty="0">
                <a:solidFill>
                  <a:srgbClr val="1B2A1F"/>
                </a:solidFill>
                <a:latin typeface="Calibri" pitchFamily="34" charset="0"/>
                <a:ea typeface="Calibri" pitchFamily="34" charset="-122"/>
                <a:cs typeface="Calibri" pitchFamily="34" charset="-120"/>
              </a:rPr>
              <a:t>Mỗi user và item là một vector. Điểm = tích vô hướng cộng bias.</a:t>
            </a:r>
            <a:endParaRPr lang="en-US" sz="1600" dirty="0"/>
          </a:p>
        </p:txBody>
      </p:sp>
      <p:sp>
        <p:nvSpPr>
          <p:cNvPr id="19" name="mc1_bg"/>
          <p:cNvSpPr/>
          <p:nvPr/>
        </p:nvSpPr>
        <p:spPr>
          <a:xfrm>
            <a:off x="4297680" y="4434840"/>
            <a:ext cx="3611880" cy="1874520"/>
          </a:xfrm>
          <a:prstGeom prst="roundRect">
            <a:avLst>
              <a:gd name="adj" fmla="val 3902"/>
            </a:avLst>
          </a:prstGeom>
          <a:solidFill>
            <a:srgbClr val="EEF5E6"/>
          </a:solidFill>
          <a:ln w="9525">
            <a:solidFill>
              <a:srgbClr val="DCE8CF"/>
            </a:solidFill>
            <a:prstDash val="solid"/>
          </a:ln>
        </p:spPr>
      </p:sp>
      <p:sp>
        <p:nvSpPr>
          <p:cNvPr id="20" name="mc1_head"/>
          <p:cNvSpPr txBox="1"/>
          <p:nvPr/>
        </p:nvSpPr>
        <p:spPr>
          <a:xfrm>
            <a:off x="4480560" y="4544568"/>
            <a:ext cx="3246120" cy="365760"/>
          </a:xfrm>
          <a:prstGeom prst="rect">
            <a:avLst/>
          </a:prstGeom>
          <a:noFill/>
          <a:ln/>
        </p:spPr>
        <p:txBody>
          <a:bodyPr wrap="square" lIns="0" tIns="0" rIns="0" bIns="0" rtlCol="0" anchor="t"/>
          <a:lstStyle/>
          <a:p>
            <a:pPr marL="0" indent="0" algn="l">
              <a:buNone/>
            </a:pPr>
            <a:r>
              <a:rPr lang="en-US" sz="1600" b="1" dirty="0">
                <a:solidFill>
                  <a:srgbClr val="2E6FA3"/>
                </a:solidFill>
                <a:latin typeface="Calibri" pitchFamily="34" charset="0"/>
                <a:ea typeface="Calibri" pitchFamily="34" charset="-122"/>
                <a:cs typeface="Calibri" pitchFamily="34" charset="-120"/>
              </a:rPr>
              <a:t>Điểm mạnh</a:t>
            </a:r>
            <a:endParaRPr lang="en-US" sz="1600" dirty="0"/>
          </a:p>
        </p:txBody>
      </p:sp>
      <p:sp>
        <p:nvSpPr>
          <p:cNvPr id="21" name="mc1_body"/>
          <p:cNvSpPr txBox="1"/>
          <p:nvPr/>
        </p:nvSpPr>
        <p:spPr>
          <a:xfrm>
            <a:off x="4480560" y="4937760"/>
            <a:ext cx="3246120" cy="1280160"/>
          </a:xfrm>
          <a:prstGeom prst="rect">
            <a:avLst/>
          </a:prstGeom>
          <a:noFill/>
          <a:ln/>
        </p:spPr>
        <p:txBody>
          <a:bodyPr wrap="square" lIns="0" tIns="0" rIns="0" bIns="0" rtlCol="0" anchor="t"/>
          <a:lstStyle/>
          <a:p>
            <a:pPr marL="0" indent="0" algn="l">
              <a:buNone/>
            </a:pPr>
            <a:r>
              <a:rPr lang="en-US" sz="1600" dirty="0">
                <a:solidFill>
                  <a:srgbClr val="1B2A1F"/>
                </a:solidFill>
                <a:latin typeface="Calibri" pitchFamily="34" charset="0"/>
                <a:ea typeface="Calibri" pitchFamily="34" charset="-122"/>
                <a:cs typeface="Calibri" pitchFamily="34" charset="-120"/>
              </a:rPr>
              <a:t>Đơn giản và nhanh (60–160 s/trial trên KuaiRand), ít siêu tham số.</a:t>
            </a:r>
            <a:endParaRPr lang="en-US" sz="1600" dirty="0"/>
          </a:p>
        </p:txBody>
      </p:sp>
      <p:sp>
        <p:nvSpPr>
          <p:cNvPr id="22" name="mc2_bg"/>
          <p:cNvSpPr/>
          <p:nvPr/>
        </p:nvSpPr>
        <p:spPr>
          <a:xfrm>
            <a:off x="8046720" y="4434840"/>
            <a:ext cx="3611880" cy="1874520"/>
          </a:xfrm>
          <a:prstGeom prst="roundRect">
            <a:avLst>
              <a:gd name="adj" fmla="val 3902"/>
            </a:avLst>
          </a:prstGeom>
          <a:solidFill>
            <a:srgbClr val="EEF5E6"/>
          </a:solidFill>
          <a:ln w="9525">
            <a:solidFill>
              <a:srgbClr val="DCE8CF"/>
            </a:solidFill>
            <a:prstDash val="solid"/>
          </a:ln>
        </p:spPr>
      </p:sp>
      <p:sp>
        <p:nvSpPr>
          <p:cNvPr id="23" name="mc2_head"/>
          <p:cNvSpPr txBox="1"/>
          <p:nvPr/>
        </p:nvSpPr>
        <p:spPr>
          <a:xfrm>
            <a:off x="8229600" y="4544568"/>
            <a:ext cx="3246120" cy="365760"/>
          </a:xfrm>
          <a:prstGeom prst="rect">
            <a:avLst/>
          </a:prstGeom>
          <a:noFill/>
          <a:ln/>
        </p:spPr>
        <p:txBody>
          <a:bodyPr wrap="square" lIns="0" tIns="0" rIns="0" bIns="0" rtlCol="0" anchor="t"/>
          <a:lstStyle/>
          <a:p>
            <a:pPr marL="0" indent="0" algn="l">
              <a:buNone/>
            </a:pPr>
            <a:r>
              <a:rPr lang="en-US" sz="1600" b="1" dirty="0">
                <a:solidFill>
                  <a:srgbClr val="2E6FA3"/>
                </a:solidFill>
                <a:latin typeface="Calibri" pitchFamily="34" charset="0"/>
                <a:ea typeface="Calibri" pitchFamily="34" charset="-122"/>
                <a:cs typeface="Calibri" pitchFamily="34" charset="-120"/>
              </a:rPr>
              <a:t>Hạn chế</a:t>
            </a:r>
            <a:endParaRPr lang="en-US" sz="1600" dirty="0"/>
          </a:p>
        </p:txBody>
      </p:sp>
      <p:sp>
        <p:nvSpPr>
          <p:cNvPr id="24" name="mc2_body"/>
          <p:cNvSpPr txBox="1"/>
          <p:nvPr/>
        </p:nvSpPr>
        <p:spPr>
          <a:xfrm>
            <a:off x="8229600" y="4937760"/>
            <a:ext cx="3246120" cy="1280160"/>
          </a:xfrm>
          <a:prstGeom prst="rect">
            <a:avLst/>
          </a:prstGeom>
          <a:noFill/>
          <a:ln/>
        </p:spPr>
        <p:txBody>
          <a:bodyPr wrap="square" lIns="0" tIns="0" rIns="0" bIns="0" rtlCol="0" anchor="t"/>
          <a:lstStyle/>
          <a:p>
            <a:pPr marL="0" indent="0" algn="l">
              <a:buNone/>
            </a:pPr>
            <a:r>
              <a:rPr lang="en-US" sz="1600" dirty="0">
                <a:solidFill>
                  <a:srgbClr val="1B2A1F"/>
                </a:solidFill>
                <a:latin typeface="Calibri" pitchFamily="34" charset="0"/>
                <a:ea typeface="Calibri" pitchFamily="34" charset="-122"/>
                <a:cs typeface="Calibri" pitchFamily="34" charset="-120"/>
              </a:rPr>
              <a:t>Học tương quan trên mẫu đã hiển thị, nên thừa hưởng exposure bias.</a:t>
            </a:r>
            <a:endParaRPr lang="en-US" sz="1600" dirty="0"/>
          </a:p>
        </p:txBody>
      </p:sp>
      <p:sp>
        <p:nvSpPr>
          <p:cNvPr id="25" name="Slide Number Placeholder 0"/>
          <p:cNvSpPr>
            <a:spLocks noGrp="1"/>
          </p:cNvSpPr>
          <p:nvPr>
            <p:ph type="sldNum" sz="quarter" idx="4294967295"/>
          </p:nvPr>
        </p:nvSpPr>
        <p:spPr>
          <a:xfrm>
            <a:off x="10972800" y="644652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B5F"/>
                </a:solidFill>
                <a:latin typeface="Calibri"/>
                <a:ea typeface="Calibri"/>
                <a:cs typeface="Calibri"/>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91672" cy="777240"/>
          </a:xfrm>
          <a:prstGeom prst="rect">
            <a:avLst/>
          </a:prstGeom>
          <a:noFill/>
          <a:ln/>
        </p:spPr>
        <p:txBody>
          <a:bodyPr wrap="square" lIns="0" tIns="0" rIns="0" bIns="0" rtlCol="0" anchor="ctr"/>
          <a:lstStyle/>
          <a:p>
            <a:pPr marL="0" indent="0" algn="l">
              <a:buNone/>
            </a:pPr>
            <a:r>
              <a:rPr lang="en-US" sz="3400" b="1" dirty="0">
                <a:solidFill>
                  <a:srgbClr val="1F4D2B"/>
                </a:solidFill>
                <a:latin typeface="Cambria" pitchFamily="34" charset="0"/>
                <a:ea typeface="Cambria" pitchFamily="34" charset="-122"/>
                <a:cs typeface="Cambria" pitchFamily="34" charset="-120"/>
              </a:rPr>
              <a:t>Mô hình 2: DR-BIAS + CDR</a:t>
            </a:r>
            <a:endParaRPr lang="en-US" sz="3400" dirty="0"/>
          </a:p>
        </p:txBody>
      </p:sp>
      <p:sp>
        <p:nvSpPr>
          <p:cNvPr id="4" name="cdr_obs"/>
          <p:cNvSpPr/>
          <p:nvPr/>
        </p:nvSpPr>
        <p:spPr>
          <a:xfrm>
            <a:off x="548640" y="1325880"/>
            <a:ext cx="2103120" cy="731520"/>
          </a:xfrm>
          <a:prstGeom prst="roundRect">
            <a:avLst>
              <a:gd name="adj" fmla="val 10000"/>
            </a:avLst>
          </a:prstGeom>
          <a:solidFill>
            <a:srgbClr val="E4E8E1"/>
          </a:solidFill>
          <a:ln w="12700">
            <a:solidFill>
              <a:srgbClr val="E4E8E1"/>
            </a:solidFill>
            <a:prstDash val="solid"/>
          </a:ln>
        </p:spPr>
        <p:txBody>
          <a:bodyPr wrap="square" lIns="762" tIns="762" rIns="762" bIns="762" rtlCol="0" anchor="ctr"/>
          <a:lstStyle/>
          <a:p>
            <a:pPr marL="0" indent="0" algn="ctr">
              <a:buNone/>
            </a:pPr>
            <a:r>
              <a:rPr lang="en-US" sz="1500" b="1" dirty="0">
                <a:solidFill>
                  <a:srgbClr val="1B2A1F"/>
                </a:solidFill>
                <a:latin typeface="Calibri" pitchFamily="34" charset="0"/>
                <a:ea typeface="Calibri" pitchFamily="34" charset="-122"/>
                <a:cs typeface="Calibri" pitchFamily="34" charset="-120"/>
              </a:rPr>
              <a:t>Mẫu quan sát</a:t>
            </a:r>
            <a:endParaRPr lang="en-US" sz="1500" dirty="0"/>
          </a:p>
          <a:p>
            <a:pPr marL="0" indent="0" algn="ctr">
              <a:buNone/>
            </a:pPr>
            <a:r>
              <a:rPr lang="en-US" sz="1500" b="1" dirty="0">
                <a:solidFill>
                  <a:srgbClr val="1B2A1F"/>
                </a:solidFill>
                <a:latin typeface="Calibri" pitchFamily="34" charset="0"/>
                <a:ea typeface="Calibri" pitchFamily="34" charset="-122"/>
                <a:cs typeface="Calibri" pitchFamily="34" charset="-120"/>
              </a:rPr>
              <a:t>(u, i, y)</a:t>
            </a:r>
            <a:endParaRPr lang="en-US" sz="1500" dirty="0"/>
          </a:p>
        </p:txBody>
      </p:sp>
      <p:sp>
        <p:nvSpPr>
          <p:cNvPr id="5" name="cdr_f"/>
          <p:cNvSpPr/>
          <p:nvPr/>
        </p:nvSpPr>
        <p:spPr>
          <a:xfrm>
            <a:off x="3200400" y="1325880"/>
            <a:ext cx="2743200" cy="731520"/>
          </a:xfrm>
          <a:prstGeom prst="roundRect">
            <a:avLst>
              <a:gd name="adj" fmla="val 10000"/>
            </a:avLst>
          </a:prstGeom>
          <a:solidFill>
            <a:srgbClr val="E07B1F"/>
          </a:solidFill>
          <a:ln w="12700">
            <a:solidFill>
              <a:srgbClr val="E07B1F"/>
            </a:solidFill>
            <a:prstDash val="solid"/>
          </a:ln>
        </p:spPr>
        <p:txBody>
          <a:bodyPr wrap="square" lIns="762" tIns="762" rIns="762" bIns="762"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Recommender f_Θ (MF)</a:t>
            </a:r>
            <a:endParaRPr lang="en-US" sz="1500" dirty="0"/>
          </a:p>
          <a:p>
            <a:pPr marL="0" indent="0" algn="ctr">
              <a:buNone/>
            </a:pPr>
            <a:r>
              <a:rPr lang="en-US" sz="1500" b="1" dirty="0">
                <a:solidFill>
                  <a:srgbClr val="FFFFFF"/>
                </a:solidFill>
                <a:latin typeface="Calibri" pitchFamily="34" charset="0"/>
                <a:ea typeface="Calibri" pitchFamily="34" charset="-122"/>
                <a:cs typeface="Calibri" pitchFamily="34" charset="-120"/>
              </a:rPr>
              <a:t>khởi tạo từ MF-MSE</a:t>
            </a:r>
            <a:endParaRPr lang="en-US" sz="1500" dirty="0"/>
          </a:p>
        </p:txBody>
      </p:sp>
      <p:sp>
        <p:nvSpPr>
          <p:cNvPr id="6" name="cdr_unobs"/>
          <p:cNvSpPr/>
          <p:nvPr/>
        </p:nvSpPr>
        <p:spPr>
          <a:xfrm>
            <a:off x="548640" y="3154680"/>
            <a:ext cx="2103120" cy="731520"/>
          </a:xfrm>
          <a:prstGeom prst="roundRect">
            <a:avLst>
              <a:gd name="adj" fmla="val 10000"/>
            </a:avLst>
          </a:prstGeom>
          <a:solidFill>
            <a:srgbClr val="E4E8E1"/>
          </a:solidFill>
          <a:ln w="12700">
            <a:solidFill>
              <a:srgbClr val="E4E8E1"/>
            </a:solidFill>
            <a:prstDash val="solid"/>
          </a:ln>
        </p:spPr>
        <p:txBody>
          <a:bodyPr wrap="square" lIns="762" tIns="762" rIns="762" bIns="762" rtlCol="0" anchor="ctr"/>
          <a:lstStyle/>
          <a:p>
            <a:pPr marL="0" indent="0" algn="ctr">
              <a:buNone/>
            </a:pPr>
            <a:r>
              <a:rPr lang="en-US" sz="1500" b="1" dirty="0">
                <a:solidFill>
                  <a:srgbClr val="1B2A1F"/>
                </a:solidFill>
                <a:latin typeface="Calibri" pitchFamily="34" charset="0"/>
                <a:ea typeface="Calibri" pitchFamily="34" charset="-122"/>
                <a:cs typeface="Calibri" pitchFamily="34" charset="-120"/>
              </a:rPr>
              <a:t>Cặp counterfactual</a:t>
            </a:r>
            <a:endParaRPr lang="en-US" sz="1500" dirty="0"/>
          </a:p>
          <a:p>
            <a:pPr marL="0" indent="0" algn="ctr">
              <a:buNone/>
            </a:pPr>
            <a:r>
              <a:rPr lang="en-US" sz="1500" b="1" dirty="0">
                <a:solidFill>
                  <a:srgbClr val="1B2A1F"/>
                </a:solidFill>
                <a:latin typeface="Calibri" pitchFamily="34" charset="0"/>
                <a:ea typeface="Calibri" pitchFamily="34" charset="-122"/>
                <a:cs typeface="Calibri" pitchFamily="34" charset="-120"/>
              </a:rPr>
              <a:t>(toàn bộ U×I)</a:t>
            </a:r>
            <a:endParaRPr lang="en-US" sz="1500" dirty="0"/>
          </a:p>
        </p:txBody>
      </p:sp>
      <p:sp>
        <p:nvSpPr>
          <p:cNvPr id="7" name="cdr_g"/>
          <p:cNvSpPr/>
          <p:nvPr/>
        </p:nvSpPr>
        <p:spPr>
          <a:xfrm>
            <a:off x="3200400" y="3154680"/>
            <a:ext cx="2743200" cy="731520"/>
          </a:xfrm>
          <a:prstGeom prst="roundRect">
            <a:avLst>
              <a:gd name="adj" fmla="val 10000"/>
            </a:avLst>
          </a:prstGeom>
          <a:solidFill>
            <a:srgbClr val="E07B1F"/>
          </a:solidFill>
          <a:ln w="12700">
            <a:solidFill>
              <a:srgbClr val="E07B1F"/>
            </a:solidFill>
            <a:prstDash val="solid"/>
          </a:ln>
        </p:spPr>
        <p:txBody>
          <a:bodyPr wrap="square" lIns="762" tIns="762" rIns="762" bIns="762"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Imputation g_Ψ</a:t>
            </a:r>
            <a:endParaRPr lang="en-US" sz="1500" dirty="0"/>
          </a:p>
          <a:p>
            <a:pPr marL="0" indent="0" algn="ctr">
              <a:buNone/>
            </a:pPr>
            <a:r>
              <a:rPr lang="en-US" sz="1500" b="1" dirty="0">
                <a:solidFill>
                  <a:srgbClr val="FFFFFF"/>
                </a:solidFill>
                <a:latin typeface="Calibri" pitchFamily="34" charset="0"/>
                <a:ea typeface="Calibri" pitchFamily="34" charset="-122"/>
                <a:cs typeface="Calibri" pitchFamily="34" charset="-120"/>
              </a:rPr>
              <a:t>+ MC-dropout (p=0.5)</a:t>
            </a:r>
            <a:endParaRPr lang="en-US" sz="1500" dirty="0"/>
          </a:p>
        </p:txBody>
      </p:sp>
      <p:sp>
        <p:nvSpPr>
          <p:cNvPr id="8" name="cdr_e"/>
          <p:cNvSpPr/>
          <p:nvPr/>
        </p:nvSpPr>
        <p:spPr>
          <a:xfrm>
            <a:off x="6492240" y="3154680"/>
            <a:ext cx="2286000" cy="731520"/>
          </a:xfrm>
          <a:prstGeom prst="roundRect">
            <a:avLst>
              <a:gd name="adj" fmla="val 10000"/>
            </a:avLst>
          </a:prstGeom>
          <a:solidFill>
            <a:srgbClr val="E07B1F"/>
          </a:solidFill>
          <a:ln w="12700">
            <a:solidFill>
              <a:srgbClr val="E07B1F"/>
            </a:solidFill>
            <a:prstDash val="solid"/>
          </a:ln>
        </p:spPr>
        <p:txBody>
          <a:bodyPr wrap="square" lIns="762" tIns="762" rIns="762" bIns="762"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Lỗi ước lượng ê,</a:t>
            </a:r>
            <a:endParaRPr lang="en-US" sz="1500" dirty="0"/>
          </a:p>
          <a:p>
            <a:pPr marL="0" indent="0" algn="ctr">
              <a:buNone/>
            </a:pPr>
            <a:r>
              <a:rPr lang="en-US" sz="1500" b="1" dirty="0">
                <a:solidFill>
                  <a:srgbClr val="FFFFFF"/>
                </a:solidFill>
                <a:latin typeface="Calibri" pitchFamily="34" charset="0"/>
                <a:ea typeface="Calibri" pitchFamily="34" charset="-122"/>
                <a:cs typeface="Calibri" pitchFamily="34" charset="-120"/>
              </a:rPr>
              <a:t>phương sai σ²</a:t>
            </a:r>
            <a:endParaRPr lang="en-US" sz="1500" dirty="0"/>
          </a:p>
        </p:txBody>
      </p:sp>
      <p:sp>
        <p:nvSpPr>
          <p:cNvPr id="9" name="cdr_loss"/>
          <p:cNvSpPr/>
          <p:nvPr/>
        </p:nvSpPr>
        <p:spPr>
          <a:xfrm>
            <a:off x="9235440" y="2011680"/>
            <a:ext cx="2377440" cy="1188720"/>
          </a:xfrm>
          <a:prstGeom prst="roundRect">
            <a:avLst>
              <a:gd name="adj" fmla="val 6154"/>
            </a:avLst>
          </a:prstGeom>
          <a:solidFill>
            <a:srgbClr val="1F4D2B"/>
          </a:solidFill>
          <a:ln w="12700">
            <a:solidFill>
              <a:srgbClr val="1F4D2B"/>
            </a:solidFill>
            <a:prstDash val="solid"/>
          </a:ln>
        </p:spPr>
        <p:txBody>
          <a:bodyPr wrap="square" lIns="762" tIns="762" rIns="762" bIns="762"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Loss doubly-robust</a:t>
            </a:r>
            <a:endParaRPr lang="en-US" sz="1500" dirty="0"/>
          </a:p>
          <a:p>
            <a:pPr marL="0" indent="0" algn="ctr">
              <a:buNone/>
            </a:pPr>
            <a:r>
              <a:rPr lang="en-US" sz="1500" b="1" dirty="0">
                <a:solidFill>
                  <a:srgbClr val="FFFFFF"/>
                </a:solidFill>
                <a:latin typeface="Calibri" pitchFamily="34" charset="0"/>
                <a:ea typeface="Calibri" pitchFamily="34" charset="-122"/>
                <a:cs typeface="Calibri" pitchFamily="34" charset="-120"/>
              </a:rPr>
              <a:t>lọc: chỉ giữ σ² &lt; τ</a:t>
            </a:r>
            <a:endParaRPr lang="en-US" sz="1500" dirty="0"/>
          </a:p>
        </p:txBody>
      </p:sp>
      <p:sp>
        <p:nvSpPr>
          <p:cNvPr id="10" name="Shape 7"/>
          <p:cNvSpPr/>
          <p:nvPr/>
        </p:nvSpPr>
        <p:spPr>
          <a:xfrm>
            <a:off x="2651760" y="1691640"/>
            <a:ext cx="548640" cy="0"/>
          </a:xfrm>
          <a:prstGeom prst="line">
            <a:avLst/>
          </a:prstGeom>
          <a:noFill/>
          <a:ln w="25400">
            <a:solidFill>
              <a:srgbClr val="5C6B5F"/>
            </a:solidFill>
            <a:prstDash val="solid"/>
            <a:tailEnd type="triangle"/>
          </a:ln>
        </p:spPr>
      </p:sp>
      <p:sp>
        <p:nvSpPr>
          <p:cNvPr id="11" name="Shape 8"/>
          <p:cNvSpPr/>
          <p:nvPr/>
        </p:nvSpPr>
        <p:spPr>
          <a:xfrm>
            <a:off x="2651760" y="3520440"/>
            <a:ext cx="548640" cy="0"/>
          </a:xfrm>
          <a:prstGeom prst="line">
            <a:avLst/>
          </a:prstGeom>
          <a:noFill/>
          <a:ln w="25400">
            <a:solidFill>
              <a:srgbClr val="5C6B5F"/>
            </a:solidFill>
            <a:prstDash val="solid"/>
            <a:tailEnd type="triangle"/>
          </a:ln>
        </p:spPr>
      </p:sp>
      <p:sp>
        <p:nvSpPr>
          <p:cNvPr id="12" name="Shape 9"/>
          <p:cNvSpPr/>
          <p:nvPr/>
        </p:nvSpPr>
        <p:spPr>
          <a:xfrm>
            <a:off x="5943600" y="3520440"/>
            <a:ext cx="548640" cy="0"/>
          </a:xfrm>
          <a:prstGeom prst="line">
            <a:avLst/>
          </a:prstGeom>
          <a:noFill/>
          <a:ln w="25400">
            <a:solidFill>
              <a:srgbClr val="5C6B5F"/>
            </a:solidFill>
            <a:prstDash val="solid"/>
            <a:tailEnd type="triangle"/>
          </a:ln>
        </p:spPr>
      </p:sp>
      <p:sp>
        <p:nvSpPr>
          <p:cNvPr id="13" name="Shape 10"/>
          <p:cNvSpPr/>
          <p:nvPr/>
        </p:nvSpPr>
        <p:spPr>
          <a:xfrm>
            <a:off x="5943600" y="1691640"/>
            <a:ext cx="3291840" cy="685800"/>
          </a:xfrm>
          <a:prstGeom prst="line">
            <a:avLst/>
          </a:prstGeom>
          <a:noFill/>
          <a:ln w="25400">
            <a:solidFill>
              <a:srgbClr val="5C6B5F"/>
            </a:solidFill>
            <a:prstDash val="solid"/>
            <a:tailEnd type="triangle"/>
          </a:ln>
        </p:spPr>
      </p:sp>
      <p:sp>
        <p:nvSpPr>
          <p:cNvPr id="14" name="Shape 11"/>
          <p:cNvSpPr/>
          <p:nvPr/>
        </p:nvSpPr>
        <p:spPr>
          <a:xfrm flipV="1">
            <a:off x="8778240" y="2926080"/>
            <a:ext cx="457200" cy="594360"/>
          </a:xfrm>
          <a:prstGeom prst="line">
            <a:avLst/>
          </a:prstGeom>
          <a:noFill/>
          <a:ln w="25400">
            <a:solidFill>
              <a:srgbClr val="5C6B5F"/>
            </a:solidFill>
            <a:prstDash val="solid"/>
            <a:tailEnd type="triangle"/>
          </a:ln>
        </p:spPr>
      </p:sp>
      <p:sp>
        <p:nvSpPr>
          <p:cNvPr id="15" name="Text 12"/>
          <p:cNvSpPr txBox="1"/>
          <p:nvPr/>
        </p:nvSpPr>
        <p:spPr>
          <a:xfrm>
            <a:off x="548640" y="4023360"/>
            <a:ext cx="11064240" cy="365760"/>
          </a:xfrm>
          <a:prstGeom prst="rect">
            <a:avLst/>
          </a:prstGeom>
          <a:noFill/>
          <a:ln/>
        </p:spPr>
        <p:txBody>
          <a:bodyPr wrap="square" lIns="0" tIns="0" rIns="0" bIns="0" rtlCol="0" anchor="t"/>
          <a:lstStyle/>
          <a:p>
            <a:pPr marL="0" indent="0" algn="l">
              <a:buNone/>
            </a:pPr>
            <a:r>
              <a:rPr lang="en-US" sz="1400" i="1" dirty="0">
                <a:solidFill>
                  <a:srgbClr val="5C6B5F"/>
                </a:solidFill>
                <a:latin typeface="Calibri" pitchFamily="34" charset="0"/>
                <a:ea typeface="Calibri" pitchFamily="34" charset="-122"/>
                <a:cs typeface="Calibri" pitchFamily="34" charset="-120"/>
              </a:rPr>
              <a:t>L = Σ inv_p·BCE − Σ ê·1[σ²&lt;τ] + Σ_{U×I} ê·1[σ²&lt;τ]      (inv_p = 1 / propensity; τ = 10; chế độ tác giả)</a:t>
            </a:r>
            <a:endParaRPr lang="en-US" sz="1400" dirty="0"/>
          </a:p>
        </p:txBody>
      </p:sp>
      <p:sp>
        <p:nvSpPr>
          <p:cNvPr id="16" name="mc0_bg"/>
          <p:cNvSpPr/>
          <p:nvPr/>
        </p:nvSpPr>
        <p:spPr>
          <a:xfrm>
            <a:off x="548640" y="4434840"/>
            <a:ext cx="3611880" cy="1874520"/>
          </a:xfrm>
          <a:prstGeom prst="roundRect">
            <a:avLst>
              <a:gd name="adj" fmla="val 3902"/>
            </a:avLst>
          </a:prstGeom>
          <a:solidFill>
            <a:srgbClr val="EEF5E6"/>
          </a:solidFill>
          <a:ln w="9525">
            <a:solidFill>
              <a:srgbClr val="DCE8CF"/>
            </a:solidFill>
            <a:prstDash val="solid"/>
          </a:ln>
        </p:spPr>
      </p:sp>
      <p:sp>
        <p:nvSpPr>
          <p:cNvPr id="17" name="mc0_head"/>
          <p:cNvSpPr txBox="1"/>
          <p:nvPr/>
        </p:nvSpPr>
        <p:spPr>
          <a:xfrm>
            <a:off x="731520" y="4544568"/>
            <a:ext cx="3246120" cy="365760"/>
          </a:xfrm>
          <a:prstGeom prst="rect">
            <a:avLst/>
          </a:prstGeom>
          <a:noFill/>
          <a:ln/>
        </p:spPr>
        <p:txBody>
          <a:bodyPr wrap="square" lIns="0" tIns="0" rIns="0" bIns="0" rtlCol="0" anchor="t"/>
          <a:lstStyle/>
          <a:p>
            <a:pPr marL="0" indent="0" algn="l">
              <a:buNone/>
            </a:pPr>
            <a:r>
              <a:rPr lang="en-US" sz="1600" b="1" dirty="0">
                <a:solidFill>
                  <a:srgbClr val="E07B1F"/>
                </a:solidFill>
                <a:latin typeface="Calibri" pitchFamily="34" charset="0"/>
                <a:ea typeface="Calibri" pitchFamily="34" charset="-122"/>
                <a:cs typeface="Calibri" pitchFamily="34" charset="-120"/>
              </a:rPr>
              <a:t>Ý tưởng</a:t>
            </a:r>
            <a:endParaRPr lang="en-US" sz="1600" dirty="0"/>
          </a:p>
        </p:txBody>
      </p:sp>
      <p:sp>
        <p:nvSpPr>
          <p:cNvPr id="18" name="mc0_body"/>
          <p:cNvSpPr txBox="1"/>
          <p:nvPr/>
        </p:nvSpPr>
        <p:spPr>
          <a:xfrm>
            <a:off x="731520" y="4937760"/>
            <a:ext cx="3246120" cy="1280160"/>
          </a:xfrm>
          <a:prstGeom prst="rect">
            <a:avLst/>
          </a:prstGeom>
          <a:noFill/>
          <a:ln/>
        </p:spPr>
        <p:txBody>
          <a:bodyPr wrap="square" lIns="0" tIns="0" rIns="0" bIns="0" rtlCol="0" anchor="t"/>
          <a:lstStyle/>
          <a:p>
            <a:pPr marL="0" indent="0" algn="l">
              <a:buNone/>
            </a:pPr>
            <a:r>
              <a:rPr lang="en-US" sz="1600" dirty="0">
                <a:solidFill>
                  <a:srgbClr val="1B2A1F"/>
                </a:solidFill>
                <a:latin typeface="Calibri" pitchFamily="34" charset="0"/>
                <a:ea typeface="Calibri" pitchFamily="34" charset="-122"/>
                <a:cs typeface="Calibri" pitchFamily="34" charset="-120"/>
              </a:rPr>
              <a:t>Bù thiên lệch bằng nghịch đảo propensity và imputation; MC-dropout giữ ước lượng bảo thủ.</a:t>
            </a:r>
            <a:endParaRPr lang="en-US" sz="1600" dirty="0"/>
          </a:p>
        </p:txBody>
      </p:sp>
      <p:sp>
        <p:nvSpPr>
          <p:cNvPr id="19" name="mc1_bg"/>
          <p:cNvSpPr/>
          <p:nvPr/>
        </p:nvSpPr>
        <p:spPr>
          <a:xfrm>
            <a:off x="4297680" y="4434840"/>
            <a:ext cx="3611880" cy="1874520"/>
          </a:xfrm>
          <a:prstGeom prst="roundRect">
            <a:avLst>
              <a:gd name="adj" fmla="val 3902"/>
            </a:avLst>
          </a:prstGeom>
          <a:solidFill>
            <a:srgbClr val="EEF5E6"/>
          </a:solidFill>
          <a:ln w="9525">
            <a:solidFill>
              <a:srgbClr val="DCE8CF"/>
            </a:solidFill>
            <a:prstDash val="solid"/>
          </a:ln>
        </p:spPr>
      </p:sp>
      <p:sp>
        <p:nvSpPr>
          <p:cNvPr id="20" name="mc1_head"/>
          <p:cNvSpPr txBox="1"/>
          <p:nvPr/>
        </p:nvSpPr>
        <p:spPr>
          <a:xfrm>
            <a:off x="4480560" y="4544568"/>
            <a:ext cx="3246120" cy="365760"/>
          </a:xfrm>
          <a:prstGeom prst="rect">
            <a:avLst/>
          </a:prstGeom>
          <a:noFill/>
          <a:ln/>
        </p:spPr>
        <p:txBody>
          <a:bodyPr wrap="square" lIns="0" tIns="0" rIns="0" bIns="0" rtlCol="0" anchor="t"/>
          <a:lstStyle/>
          <a:p>
            <a:pPr marL="0" indent="0" algn="l">
              <a:buNone/>
            </a:pPr>
            <a:r>
              <a:rPr lang="en-US" sz="1600" b="1" dirty="0">
                <a:solidFill>
                  <a:srgbClr val="E07B1F"/>
                </a:solidFill>
                <a:latin typeface="Calibri" pitchFamily="34" charset="0"/>
                <a:ea typeface="Calibri" pitchFamily="34" charset="-122"/>
                <a:cs typeface="Calibri" pitchFamily="34" charset="-120"/>
              </a:rPr>
              <a:t>Điểm mạnh</a:t>
            </a:r>
            <a:endParaRPr lang="en-US" sz="1600" dirty="0"/>
          </a:p>
        </p:txBody>
      </p:sp>
      <p:sp>
        <p:nvSpPr>
          <p:cNvPr id="21" name="mc1_body"/>
          <p:cNvSpPr txBox="1"/>
          <p:nvPr/>
        </p:nvSpPr>
        <p:spPr>
          <a:xfrm>
            <a:off x="4480560" y="4937760"/>
            <a:ext cx="3246120" cy="1280160"/>
          </a:xfrm>
          <a:prstGeom prst="rect">
            <a:avLst/>
          </a:prstGeom>
          <a:noFill/>
          <a:ln/>
        </p:spPr>
        <p:txBody>
          <a:bodyPr wrap="square" lIns="0" tIns="0" rIns="0" bIns="0" rtlCol="0" anchor="t"/>
          <a:lstStyle/>
          <a:p>
            <a:pPr marL="0" indent="0" algn="l">
              <a:buNone/>
            </a:pPr>
            <a:r>
              <a:rPr lang="en-US" sz="1600" dirty="0">
                <a:solidFill>
                  <a:srgbClr val="1B2A1F"/>
                </a:solidFill>
                <a:latin typeface="Calibri" pitchFamily="34" charset="0"/>
                <a:ea typeface="Calibri" pitchFamily="34" charset="-122"/>
                <a:cs typeface="Calibri" pitchFamily="34" charset="-120"/>
              </a:rPr>
              <a:t>Nền tảng lý thuyết: không chệch nếu propensity hoặc imputation đúng.</a:t>
            </a:r>
            <a:endParaRPr lang="en-US" sz="1600" dirty="0"/>
          </a:p>
        </p:txBody>
      </p:sp>
      <p:sp>
        <p:nvSpPr>
          <p:cNvPr id="22" name="mc2_bg"/>
          <p:cNvSpPr/>
          <p:nvPr/>
        </p:nvSpPr>
        <p:spPr>
          <a:xfrm>
            <a:off x="8046720" y="4434840"/>
            <a:ext cx="3611880" cy="1874520"/>
          </a:xfrm>
          <a:prstGeom prst="roundRect">
            <a:avLst>
              <a:gd name="adj" fmla="val 3902"/>
            </a:avLst>
          </a:prstGeom>
          <a:solidFill>
            <a:srgbClr val="EEF5E6"/>
          </a:solidFill>
          <a:ln w="9525">
            <a:solidFill>
              <a:srgbClr val="DCE8CF"/>
            </a:solidFill>
            <a:prstDash val="solid"/>
          </a:ln>
        </p:spPr>
      </p:sp>
      <p:sp>
        <p:nvSpPr>
          <p:cNvPr id="23" name="mc2_head"/>
          <p:cNvSpPr txBox="1"/>
          <p:nvPr/>
        </p:nvSpPr>
        <p:spPr>
          <a:xfrm>
            <a:off x="8229600" y="4544568"/>
            <a:ext cx="3246120" cy="365760"/>
          </a:xfrm>
          <a:prstGeom prst="rect">
            <a:avLst/>
          </a:prstGeom>
          <a:noFill/>
          <a:ln/>
        </p:spPr>
        <p:txBody>
          <a:bodyPr wrap="square" lIns="0" tIns="0" rIns="0" bIns="0" rtlCol="0" anchor="t"/>
          <a:lstStyle/>
          <a:p>
            <a:pPr marL="0" indent="0" algn="l">
              <a:buNone/>
            </a:pPr>
            <a:r>
              <a:rPr lang="en-US" sz="1600" b="1" dirty="0">
                <a:solidFill>
                  <a:srgbClr val="E07B1F"/>
                </a:solidFill>
                <a:latin typeface="Calibri" pitchFamily="34" charset="0"/>
                <a:ea typeface="Calibri" pitchFamily="34" charset="-122"/>
                <a:cs typeface="Calibri" pitchFamily="34" charset="-120"/>
              </a:rPr>
              <a:t>Hạn chế</a:t>
            </a:r>
            <a:endParaRPr lang="en-US" sz="1600" dirty="0"/>
          </a:p>
        </p:txBody>
      </p:sp>
      <p:sp>
        <p:nvSpPr>
          <p:cNvPr id="24" name="mc2_body"/>
          <p:cNvSpPr txBox="1"/>
          <p:nvPr/>
        </p:nvSpPr>
        <p:spPr>
          <a:xfrm>
            <a:off x="8229600" y="4937760"/>
            <a:ext cx="3246120" cy="1280160"/>
          </a:xfrm>
          <a:prstGeom prst="rect">
            <a:avLst/>
          </a:prstGeom>
          <a:noFill/>
          <a:ln/>
        </p:spPr>
        <p:txBody>
          <a:bodyPr wrap="square" lIns="0" tIns="0" rIns="0" bIns="0" rtlCol="0" anchor="t"/>
          <a:lstStyle/>
          <a:p>
            <a:pPr marL="0" indent="0" algn="l">
              <a:buNone/>
            </a:pPr>
            <a:r>
              <a:rPr lang="en-US" sz="1600" dirty="0">
                <a:solidFill>
                  <a:srgbClr val="1B2A1F"/>
                </a:solidFill>
                <a:latin typeface="Calibri" pitchFamily="34" charset="0"/>
                <a:ea typeface="Calibri" pitchFamily="34" charset="-122"/>
                <a:cs typeface="Calibri" pitchFamily="34" charset="-120"/>
              </a:rPr>
              <a:t>Cần propensity (KuaiRand chỉ có proxy); trên Coat điểm tốt nhất đến từ khởi tạo MF-MSE (epoch 1).</a:t>
            </a:r>
            <a:endParaRPr lang="en-US" sz="1600" dirty="0"/>
          </a:p>
        </p:txBody>
      </p:sp>
      <p:sp>
        <p:nvSpPr>
          <p:cNvPr id="25" name="Slide Number Placeholder 0"/>
          <p:cNvSpPr>
            <a:spLocks noGrp="1"/>
          </p:cNvSpPr>
          <p:nvPr>
            <p:ph type="sldNum" sz="quarter" idx="4294967295"/>
          </p:nvPr>
        </p:nvSpPr>
        <p:spPr>
          <a:xfrm>
            <a:off x="10972800" y="644652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B5F"/>
                </a:solidFill>
                <a:latin typeface="Calibri"/>
                <a:ea typeface="Calibri"/>
                <a:cs typeface="Calibri"/>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91672" cy="777240"/>
          </a:xfrm>
          <a:prstGeom prst="rect">
            <a:avLst/>
          </a:prstGeom>
          <a:noFill/>
          <a:ln/>
        </p:spPr>
        <p:txBody>
          <a:bodyPr wrap="square" lIns="0" tIns="0" rIns="0" bIns="0" rtlCol="0" anchor="ctr"/>
          <a:lstStyle/>
          <a:p>
            <a:pPr marL="0" indent="0" algn="l">
              <a:buNone/>
            </a:pPr>
            <a:r>
              <a:rPr lang="en-US" sz="3400" b="1" dirty="0">
                <a:solidFill>
                  <a:srgbClr val="1F4D2B"/>
                </a:solidFill>
                <a:latin typeface="Cambria" pitchFamily="34" charset="0"/>
                <a:ea typeface="Cambria" pitchFamily="34" charset="-122"/>
                <a:cs typeface="Cambria" pitchFamily="34" charset="-120"/>
              </a:rPr>
              <a:t>Mô hình 3: IViDR (IV + iVAE, 2 giai đoạn)</a:t>
            </a:r>
            <a:endParaRPr lang="en-US" sz="3400" dirty="0"/>
          </a:p>
        </p:txBody>
      </p:sp>
      <p:sp>
        <p:nvSpPr>
          <p:cNvPr id="4" name="iv_t"/>
          <p:cNvSpPr/>
          <p:nvPr/>
        </p:nvSpPr>
        <p:spPr>
          <a:xfrm>
            <a:off x="548640" y="1280160"/>
            <a:ext cx="1828800" cy="731520"/>
          </a:xfrm>
          <a:prstGeom prst="roundRect">
            <a:avLst>
              <a:gd name="adj" fmla="val 10000"/>
            </a:avLst>
          </a:prstGeom>
          <a:solidFill>
            <a:srgbClr val="E4E8E1"/>
          </a:solidFill>
          <a:ln w="12700">
            <a:solidFill>
              <a:srgbClr val="E4E8E1"/>
            </a:solidFill>
            <a:prstDash val="solid"/>
          </a:ln>
        </p:spPr>
        <p:txBody>
          <a:bodyPr wrap="square" lIns="762" tIns="762" rIns="762" bIns="762" rtlCol="0" anchor="ctr"/>
          <a:lstStyle/>
          <a:p>
            <a:pPr marL="0" indent="0" algn="ctr">
              <a:buNone/>
            </a:pPr>
            <a:r>
              <a:rPr lang="en-US" sz="1400" b="1" dirty="0">
                <a:solidFill>
                  <a:srgbClr val="1B2A1F"/>
                </a:solidFill>
                <a:latin typeface="Calibri" pitchFamily="34" charset="0"/>
                <a:ea typeface="Calibri" pitchFamily="34" charset="-122"/>
                <a:cs typeface="Calibri" pitchFamily="34" charset="-120"/>
              </a:rPr>
              <a:t>Embedding item T</a:t>
            </a:r>
            <a:endParaRPr lang="en-US" sz="1400" dirty="0"/>
          </a:p>
          <a:p>
            <a:pPr marL="0" indent="0" algn="ctr">
              <a:buNone/>
            </a:pPr>
            <a:r>
              <a:rPr lang="en-US" sz="1400" b="1" dirty="0">
                <a:solidFill>
                  <a:srgbClr val="1B2A1F"/>
                </a:solidFill>
                <a:latin typeface="Calibri" pitchFamily="34" charset="0"/>
                <a:ea typeface="Calibri" pitchFamily="34" charset="-122"/>
                <a:cs typeface="Calibri" pitchFamily="34" charset="-120"/>
              </a:rPr>
              <a:t>(từ MF-MSE)</a:t>
            </a:r>
            <a:endParaRPr lang="en-US" sz="1400" dirty="0"/>
          </a:p>
        </p:txBody>
      </p:sp>
      <p:sp>
        <p:nvSpPr>
          <p:cNvPr id="5" name="iv_a"/>
          <p:cNvSpPr/>
          <p:nvPr/>
        </p:nvSpPr>
        <p:spPr>
          <a:xfrm>
            <a:off x="548640" y="3063240"/>
            <a:ext cx="1828800" cy="731520"/>
          </a:xfrm>
          <a:prstGeom prst="roundRect">
            <a:avLst>
              <a:gd name="adj" fmla="val 10000"/>
            </a:avLst>
          </a:prstGeom>
          <a:solidFill>
            <a:srgbClr val="E4E8E1"/>
          </a:solidFill>
          <a:ln w="12700">
            <a:solidFill>
              <a:srgbClr val="E4E8E1"/>
            </a:solidFill>
            <a:prstDash val="solid"/>
          </a:ln>
        </p:spPr>
        <p:txBody>
          <a:bodyPr wrap="square" lIns="762" tIns="762" rIns="762" bIns="762" rtlCol="0" anchor="ctr"/>
          <a:lstStyle/>
          <a:p>
            <a:pPr marL="0" indent="0" algn="ctr">
              <a:buNone/>
            </a:pPr>
            <a:r>
              <a:rPr lang="en-US" sz="1400" b="1" dirty="0">
                <a:solidFill>
                  <a:srgbClr val="1B2A1F"/>
                </a:solidFill>
                <a:latin typeface="Calibri" pitchFamily="34" charset="0"/>
                <a:ea typeface="Calibri" pitchFamily="34" charset="-122"/>
                <a:cs typeface="Calibri" pitchFamily="34" charset="-120"/>
              </a:rPr>
              <a:t>Vector exposure A</a:t>
            </a:r>
            <a:endParaRPr lang="en-US" sz="1400" dirty="0"/>
          </a:p>
          <a:p>
            <a:pPr marL="0" indent="0" algn="ctr">
              <a:buNone/>
            </a:pPr>
            <a:r>
              <a:rPr lang="en-US" sz="1400" b="1" dirty="0">
                <a:solidFill>
                  <a:srgbClr val="1B2A1F"/>
                </a:solidFill>
                <a:latin typeface="Calibri" pitchFamily="34" charset="0"/>
                <a:ea typeface="Calibri" pitchFamily="34" charset="-122"/>
                <a:cs typeface="Calibri" pitchFamily="34" charset="-120"/>
              </a:rPr>
              <a:t>(user × item)</a:t>
            </a:r>
            <a:endParaRPr lang="en-US" sz="1400" dirty="0"/>
          </a:p>
        </p:txBody>
      </p:sp>
      <p:sp>
        <p:nvSpPr>
          <p:cNvPr id="6" name="iv_mod"/>
          <p:cNvSpPr/>
          <p:nvPr/>
        </p:nvSpPr>
        <p:spPr>
          <a:xfrm>
            <a:off x="2743200" y="1097280"/>
            <a:ext cx="2377440" cy="1097280"/>
          </a:xfrm>
          <a:prstGeom prst="roundRect">
            <a:avLst>
              <a:gd name="adj" fmla="val 6667"/>
            </a:avLst>
          </a:prstGeom>
          <a:solidFill>
            <a:srgbClr val="6B4FA0"/>
          </a:solidFill>
          <a:ln w="12700">
            <a:solidFill>
              <a:srgbClr val="6B4FA0"/>
            </a:solidFill>
            <a:prstDash val="solid"/>
          </a:ln>
        </p:spPr>
        <p:txBody>
          <a:bodyPr wrap="square" lIns="762" tIns="762" rIns="762" bIns="762"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2SLS theo item:</a:t>
            </a:r>
            <a:endParaRPr lang="en-US" sz="1400" dirty="0"/>
          </a:p>
          <a:p>
            <a:pPr marL="0" indent="0" algn="ctr">
              <a:buNone/>
            </a:pPr>
            <a:r>
              <a:rPr lang="en-US" sz="1400" b="1" dirty="0">
                <a:solidFill>
                  <a:srgbClr val="FFFFFF"/>
                </a:solidFill>
                <a:latin typeface="Calibri" pitchFamily="34" charset="0"/>
                <a:ea typeface="Calibri" pitchFamily="34" charset="-122"/>
                <a:cs typeface="Calibri" pitchFamily="34" charset="-120"/>
              </a:rPr>
              <a:t>IV = đặc trưng TB</a:t>
            </a:r>
            <a:endParaRPr lang="en-US" sz="1400" dirty="0"/>
          </a:p>
          <a:p>
            <a:pPr marL="0" indent="0" algn="ctr">
              <a:buNone/>
            </a:pPr>
            <a:r>
              <a:rPr lang="en-US" sz="1400" b="1" dirty="0">
                <a:solidFill>
                  <a:srgbClr val="FFFFFF"/>
                </a:solidFill>
                <a:latin typeface="Calibri" pitchFamily="34" charset="0"/>
                <a:ea typeface="Calibri" pitchFamily="34" charset="-122"/>
                <a:cs typeface="Calibri" pitchFamily="34" charset="-120"/>
              </a:rPr>
              <a:t>của user đã thấy item</a:t>
            </a:r>
            <a:endParaRPr lang="en-US" sz="1400" dirty="0"/>
          </a:p>
          <a:p>
            <a:pPr marL="0" indent="0" algn="ctr">
              <a:buNone/>
            </a:pPr>
            <a:r>
              <a:rPr lang="en-US" sz="1400" b="1" dirty="0">
                <a:solidFill>
                  <a:srgbClr val="FFFFFF"/>
                </a:solidFill>
                <a:latin typeface="Calibri" pitchFamily="34" charset="0"/>
                <a:ea typeface="Calibri" pitchFamily="34" charset="-122"/>
                <a:cs typeface="Calibri" pitchFamily="34" charset="-120"/>
              </a:rPr>
              <a:t>→ X_re</a:t>
            </a:r>
            <a:endParaRPr lang="en-US" sz="1400" dirty="0"/>
          </a:p>
        </p:txBody>
      </p:sp>
      <p:sp>
        <p:nvSpPr>
          <p:cNvPr id="7" name="iv_v1"/>
          <p:cNvSpPr/>
          <p:nvPr/>
        </p:nvSpPr>
        <p:spPr>
          <a:xfrm>
            <a:off x="5486400" y="1280160"/>
            <a:ext cx="1828800" cy="731520"/>
          </a:xfrm>
          <a:prstGeom prst="roundRect">
            <a:avLst>
              <a:gd name="adj" fmla="val 10000"/>
            </a:avLst>
          </a:prstGeom>
          <a:solidFill>
            <a:srgbClr val="6B4FA0"/>
          </a:solidFill>
          <a:ln w="12700">
            <a:solidFill>
              <a:srgbClr val="6B4FA0"/>
            </a:solidFill>
            <a:prstDash val="solid"/>
          </a:ln>
        </p:spPr>
        <p:txBody>
          <a:bodyPr wrap="square" lIns="762" tIns="762" rIns="762" bIns="762"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iVAE₁</a:t>
            </a:r>
            <a:endParaRPr lang="en-US" sz="1400" dirty="0"/>
          </a:p>
          <a:p>
            <a:pPr marL="0" indent="0" algn="ctr">
              <a:buNone/>
            </a:pPr>
            <a:r>
              <a:rPr lang="en-US" sz="1400" b="1" dirty="0">
                <a:solidFill>
                  <a:srgbClr val="FFFFFF"/>
                </a:solidFill>
                <a:latin typeface="Calibri" pitchFamily="34" charset="0"/>
                <a:ea typeface="Calibri" pitchFamily="34" charset="-122"/>
                <a:cs typeface="Calibri" pitchFamily="34" charset="-120"/>
              </a:rPr>
              <a:t>(A ghép X_re)</a:t>
            </a:r>
            <a:endParaRPr lang="en-US" sz="1400" dirty="0"/>
          </a:p>
        </p:txBody>
      </p:sp>
      <p:sp>
        <p:nvSpPr>
          <p:cNvPr id="8" name="iv_v2"/>
          <p:cNvSpPr/>
          <p:nvPr/>
        </p:nvSpPr>
        <p:spPr>
          <a:xfrm>
            <a:off x="5486400" y="3063240"/>
            <a:ext cx="1828800" cy="731520"/>
          </a:xfrm>
          <a:prstGeom prst="roundRect">
            <a:avLst>
              <a:gd name="adj" fmla="val 10000"/>
            </a:avLst>
          </a:prstGeom>
          <a:solidFill>
            <a:srgbClr val="6B4FA0"/>
          </a:solidFill>
          <a:ln w="12700">
            <a:solidFill>
              <a:srgbClr val="6B4FA0"/>
            </a:solidFill>
            <a:prstDash val="solid"/>
          </a:ln>
        </p:spPr>
        <p:txBody>
          <a:bodyPr wrap="square" lIns="762" tIns="762" rIns="762" bIns="762"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iVAE₂</a:t>
            </a:r>
            <a:endParaRPr lang="en-US" sz="1400" dirty="0"/>
          </a:p>
          <a:p>
            <a:pPr marL="0" indent="0" algn="ctr">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9" name="iv_c"/>
          <p:cNvSpPr/>
          <p:nvPr/>
        </p:nvSpPr>
        <p:spPr>
          <a:xfrm>
            <a:off x="7680960" y="2148840"/>
            <a:ext cx="2011680" cy="1097280"/>
          </a:xfrm>
          <a:prstGeom prst="roundRect">
            <a:avLst>
              <a:gd name="adj" fmla="val 6667"/>
            </a:avLst>
          </a:prstGeom>
          <a:solidFill>
            <a:srgbClr val="1F4D2B"/>
          </a:solidFill>
          <a:ln w="12700">
            <a:solidFill>
              <a:srgbClr val="1F4D2B"/>
            </a:solidFill>
            <a:prstDash val="solid"/>
          </a:ln>
        </p:spPr>
        <p:txBody>
          <a:bodyPr wrap="square" lIns="762" tIns="762" rIns="762" bIns="762"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C = 0.9·C₁ + 0.9·C₂</a:t>
            </a:r>
            <a:endParaRPr lang="en-US" sz="1400" dirty="0"/>
          </a:p>
        </p:txBody>
      </p:sp>
      <p:sp>
        <p:nvSpPr>
          <p:cNvPr id="10" name="iv_out"/>
          <p:cNvSpPr/>
          <p:nvPr/>
        </p:nvSpPr>
        <p:spPr>
          <a:xfrm>
            <a:off x="10058400" y="2011680"/>
            <a:ext cx="1581912" cy="1371600"/>
          </a:xfrm>
          <a:prstGeom prst="roundRect">
            <a:avLst>
              <a:gd name="adj" fmla="val 5333"/>
            </a:avLst>
          </a:prstGeom>
          <a:solidFill>
            <a:srgbClr val="3E7D3A"/>
          </a:solidFill>
          <a:ln w="12700">
            <a:solidFill>
              <a:srgbClr val="3E7D3A"/>
            </a:solidFill>
            <a:prstDash val="solid"/>
          </a:ln>
        </p:spPr>
        <p:txBody>
          <a:bodyPr wrap="square" lIns="762" tIns="762" rIns="762" bIns="762"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Điểm:</a:t>
            </a:r>
            <a:endParaRPr lang="en-US" sz="1400" dirty="0"/>
          </a:p>
          <a:p>
            <a:pPr marL="0" indent="0" algn="ctr">
              <a:buNone/>
            </a:pPr>
            <a:r>
              <a:rPr lang="en-US" sz="1400" b="1" dirty="0">
                <a:solidFill>
                  <a:srgbClr val="FFFFFF"/>
                </a:solidFill>
                <a:latin typeface="Calibri" pitchFamily="34" charset="0"/>
                <a:ea typeface="Calibri" pitchFamily="34" charset="-122"/>
                <a:cs typeface="Calibri" pitchFamily="34" charset="-120"/>
              </a:rPr>
              <a:t>MF + ⟨item_emb, C_u⟩</a:t>
            </a:r>
            <a:endParaRPr lang="en-US" sz="1400" dirty="0"/>
          </a:p>
        </p:txBody>
      </p:sp>
      <p:sp>
        <p:nvSpPr>
          <p:cNvPr id="11" name="iv_mf"/>
          <p:cNvSpPr/>
          <p:nvPr/>
        </p:nvSpPr>
        <p:spPr>
          <a:xfrm>
            <a:off x="7680960" y="3611880"/>
            <a:ext cx="2011680" cy="457200"/>
          </a:xfrm>
          <a:prstGeom prst="roundRect">
            <a:avLst>
              <a:gd name="adj" fmla="val 16000"/>
            </a:avLst>
          </a:prstGeom>
          <a:solidFill>
            <a:srgbClr val="E4E8E1"/>
          </a:solidFill>
          <a:ln w="12700">
            <a:solidFill>
              <a:srgbClr val="E4E8E1"/>
            </a:solidFill>
            <a:prstDash val="solid"/>
          </a:ln>
        </p:spPr>
        <p:txBody>
          <a:bodyPr wrap="square" lIns="762" tIns="762" rIns="762" bIns="762" rtlCol="0" anchor="ctr"/>
          <a:lstStyle/>
          <a:p>
            <a:pPr marL="0" indent="0" algn="ctr">
              <a:buNone/>
            </a:pPr>
            <a:r>
              <a:rPr lang="en-US" sz="1400" b="1" dirty="0">
                <a:solidFill>
                  <a:srgbClr val="1B2A1F"/>
                </a:solidFill>
                <a:latin typeface="Calibri" pitchFamily="34" charset="0"/>
                <a:ea typeface="Calibri" pitchFamily="34" charset="-122"/>
                <a:cs typeface="Calibri" pitchFamily="34" charset="-120"/>
              </a:rPr>
              <a:t>MF(u, i)</a:t>
            </a:r>
            <a:endParaRPr lang="en-US" sz="1400" dirty="0"/>
          </a:p>
        </p:txBody>
      </p:sp>
      <p:sp>
        <p:nvSpPr>
          <p:cNvPr id="12" name="Shape 9"/>
          <p:cNvSpPr/>
          <p:nvPr/>
        </p:nvSpPr>
        <p:spPr>
          <a:xfrm>
            <a:off x="2377440" y="1645920"/>
            <a:ext cx="365760" cy="0"/>
          </a:xfrm>
          <a:prstGeom prst="line">
            <a:avLst/>
          </a:prstGeom>
          <a:noFill/>
          <a:ln w="25400">
            <a:solidFill>
              <a:srgbClr val="5C6B5F"/>
            </a:solidFill>
            <a:prstDash val="solid"/>
            <a:tailEnd type="triangle"/>
          </a:ln>
        </p:spPr>
      </p:sp>
      <p:sp>
        <p:nvSpPr>
          <p:cNvPr id="13" name="Shape 10"/>
          <p:cNvSpPr/>
          <p:nvPr/>
        </p:nvSpPr>
        <p:spPr>
          <a:xfrm>
            <a:off x="5120640" y="1645920"/>
            <a:ext cx="365760" cy="0"/>
          </a:xfrm>
          <a:prstGeom prst="line">
            <a:avLst/>
          </a:prstGeom>
          <a:noFill/>
          <a:ln w="25400">
            <a:solidFill>
              <a:srgbClr val="5C6B5F"/>
            </a:solidFill>
            <a:prstDash val="solid"/>
            <a:tailEnd type="triangle"/>
          </a:ln>
        </p:spPr>
      </p:sp>
      <p:sp>
        <p:nvSpPr>
          <p:cNvPr id="14" name="Shape 11"/>
          <p:cNvSpPr/>
          <p:nvPr/>
        </p:nvSpPr>
        <p:spPr>
          <a:xfrm>
            <a:off x="2377440" y="3429000"/>
            <a:ext cx="3108960" cy="0"/>
          </a:xfrm>
          <a:prstGeom prst="line">
            <a:avLst/>
          </a:prstGeom>
          <a:noFill/>
          <a:ln w="25400">
            <a:solidFill>
              <a:srgbClr val="5C6B5F"/>
            </a:solidFill>
            <a:prstDash val="solid"/>
            <a:tailEnd type="triangle"/>
          </a:ln>
        </p:spPr>
      </p:sp>
      <p:sp>
        <p:nvSpPr>
          <p:cNvPr id="15" name="Shape 12"/>
          <p:cNvSpPr/>
          <p:nvPr/>
        </p:nvSpPr>
        <p:spPr>
          <a:xfrm>
            <a:off x="7315200" y="1645920"/>
            <a:ext cx="365760" cy="822960"/>
          </a:xfrm>
          <a:prstGeom prst="line">
            <a:avLst/>
          </a:prstGeom>
          <a:noFill/>
          <a:ln w="25400">
            <a:solidFill>
              <a:srgbClr val="5C6B5F"/>
            </a:solidFill>
            <a:prstDash val="solid"/>
            <a:tailEnd type="triangle"/>
          </a:ln>
        </p:spPr>
      </p:sp>
      <p:sp>
        <p:nvSpPr>
          <p:cNvPr id="16" name="Shape 13"/>
          <p:cNvSpPr/>
          <p:nvPr/>
        </p:nvSpPr>
        <p:spPr>
          <a:xfrm flipV="1">
            <a:off x="7315200" y="2926080"/>
            <a:ext cx="365760" cy="502920"/>
          </a:xfrm>
          <a:prstGeom prst="line">
            <a:avLst/>
          </a:prstGeom>
          <a:noFill/>
          <a:ln w="25400">
            <a:solidFill>
              <a:srgbClr val="5C6B5F"/>
            </a:solidFill>
            <a:prstDash val="solid"/>
            <a:tailEnd type="triangle"/>
          </a:ln>
        </p:spPr>
      </p:sp>
      <p:sp>
        <p:nvSpPr>
          <p:cNvPr id="17" name="Shape 14"/>
          <p:cNvSpPr/>
          <p:nvPr/>
        </p:nvSpPr>
        <p:spPr>
          <a:xfrm>
            <a:off x="9692640" y="2697480"/>
            <a:ext cx="365760" cy="0"/>
          </a:xfrm>
          <a:prstGeom prst="line">
            <a:avLst/>
          </a:prstGeom>
          <a:noFill/>
          <a:ln w="25400">
            <a:solidFill>
              <a:srgbClr val="5C6B5F"/>
            </a:solidFill>
            <a:prstDash val="solid"/>
            <a:tailEnd type="triangle"/>
          </a:ln>
        </p:spPr>
      </p:sp>
      <p:sp>
        <p:nvSpPr>
          <p:cNvPr id="18" name="Shape 15"/>
          <p:cNvSpPr/>
          <p:nvPr/>
        </p:nvSpPr>
        <p:spPr>
          <a:xfrm flipV="1">
            <a:off x="9692640" y="3383280"/>
            <a:ext cx="731520" cy="457200"/>
          </a:xfrm>
          <a:prstGeom prst="line">
            <a:avLst/>
          </a:prstGeom>
          <a:noFill/>
          <a:ln w="25400">
            <a:solidFill>
              <a:srgbClr val="5C6B5F"/>
            </a:solidFill>
            <a:prstDash val="solid"/>
            <a:tailEnd type="triangle"/>
          </a:ln>
        </p:spPr>
      </p:sp>
      <p:sp>
        <p:nvSpPr>
          <p:cNvPr id="19" name="Text 16"/>
          <p:cNvSpPr txBox="1"/>
          <p:nvPr/>
        </p:nvSpPr>
        <p:spPr>
          <a:xfrm>
            <a:off x="548640" y="4023360"/>
            <a:ext cx="6949440" cy="320040"/>
          </a:xfrm>
          <a:prstGeom prst="rect">
            <a:avLst/>
          </a:prstGeom>
          <a:noFill/>
          <a:ln/>
        </p:spPr>
        <p:txBody>
          <a:bodyPr wrap="square" lIns="0" tIns="0" rIns="0" bIns="0" rtlCol="0" anchor="t"/>
          <a:lstStyle/>
          <a:p>
            <a:pPr marL="0" indent="0" algn="l">
              <a:buNone/>
            </a:pPr>
            <a:r>
              <a:rPr lang="en-US" sz="1200" dirty="0">
                <a:solidFill>
                  <a:srgbClr val="5C6B5F"/>
                </a:solidFill>
                <a:latin typeface="Calibri" pitchFamily="34" charset="0"/>
                <a:ea typeface="Calibri" pitchFamily="34" charset="-122"/>
                <a:cs typeface="Calibri" pitchFamily="34" charset="-120"/>
              </a:rPr>
              <a:t>Giai đoạn 1: học C bằng ELBO (KL anneal) · Giai đoạn 2: MSE, lr 5e-4, wd 1e-6, C cố định</a:t>
            </a:r>
            <a:endParaRPr lang="en-US" sz="1200" dirty="0"/>
          </a:p>
        </p:txBody>
      </p:sp>
      <p:sp>
        <p:nvSpPr>
          <p:cNvPr id="20" name="mc0_bg"/>
          <p:cNvSpPr/>
          <p:nvPr/>
        </p:nvSpPr>
        <p:spPr>
          <a:xfrm>
            <a:off x="548640" y="4434840"/>
            <a:ext cx="3611880" cy="1874520"/>
          </a:xfrm>
          <a:prstGeom prst="roundRect">
            <a:avLst>
              <a:gd name="adj" fmla="val 3902"/>
            </a:avLst>
          </a:prstGeom>
          <a:solidFill>
            <a:srgbClr val="EEF5E6"/>
          </a:solidFill>
          <a:ln w="9525">
            <a:solidFill>
              <a:srgbClr val="DCE8CF"/>
            </a:solidFill>
            <a:prstDash val="solid"/>
          </a:ln>
        </p:spPr>
      </p:sp>
      <p:sp>
        <p:nvSpPr>
          <p:cNvPr id="21" name="mc0_head"/>
          <p:cNvSpPr txBox="1"/>
          <p:nvPr/>
        </p:nvSpPr>
        <p:spPr>
          <a:xfrm>
            <a:off x="731520" y="4544568"/>
            <a:ext cx="3246120" cy="365760"/>
          </a:xfrm>
          <a:prstGeom prst="rect">
            <a:avLst/>
          </a:prstGeom>
          <a:noFill/>
          <a:ln/>
        </p:spPr>
        <p:txBody>
          <a:bodyPr wrap="square" lIns="0" tIns="0" rIns="0" bIns="0" rtlCol="0" anchor="t"/>
          <a:lstStyle/>
          <a:p>
            <a:pPr marL="0" indent="0" algn="l">
              <a:buNone/>
            </a:pPr>
            <a:r>
              <a:rPr lang="en-US" sz="1600" b="1" dirty="0">
                <a:solidFill>
                  <a:srgbClr val="6B4FA0"/>
                </a:solidFill>
                <a:latin typeface="Calibri" pitchFamily="34" charset="0"/>
                <a:ea typeface="Calibri" pitchFamily="34" charset="-122"/>
                <a:cs typeface="Calibri" pitchFamily="34" charset="-120"/>
              </a:rPr>
              <a:t>Ý tưởng</a:t>
            </a:r>
            <a:endParaRPr lang="en-US" sz="1600" dirty="0"/>
          </a:p>
        </p:txBody>
      </p:sp>
      <p:sp>
        <p:nvSpPr>
          <p:cNvPr id="22" name="mc0_body"/>
          <p:cNvSpPr txBox="1"/>
          <p:nvPr/>
        </p:nvSpPr>
        <p:spPr>
          <a:xfrm>
            <a:off x="731520" y="4937760"/>
            <a:ext cx="3246120" cy="1280160"/>
          </a:xfrm>
          <a:prstGeom prst="rect">
            <a:avLst/>
          </a:prstGeom>
          <a:noFill/>
          <a:ln/>
        </p:spPr>
        <p:txBody>
          <a:bodyPr wrap="square" lIns="0" tIns="0" rIns="0" bIns="0" rtlCol="0" anchor="t"/>
          <a:lstStyle/>
          <a:p>
            <a:pPr marL="0" indent="0" algn="l">
              <a:buNone/>
            </a:pPr>
            <a:r>
              <a:rPr lang="en-US" sz="1600" dirty="0">
                <a:solidFill>
                  <a:srgbClr val="1B2A1F"/>
                </a:solidFill>
                <a:latin typeface="Calibri" pitchFamily="34" charset="0"/>
                <a:ea typeface="Calibri" pitchFamily="34" charset="-122"/>
                <a:cs typeface="Calibri" pitchFamily="34" charset="-120"/>
              </a:rPr>
              <a:t>iVAE suy ra latent confounder C từ exposure (có tái dựng IV), rồi cộng ⟨item, C⟩ vào điểm MF.</a:t>
            </a:r>
            <a:endParaRPr lang="en-US" sz="1600" dirty="0"/>
          </a:p>
        </p:txBody>
      </p:sp>
      <p:sp>
        <p:nvSpPr>
          <p:cNvPr id="23" name="mc1_bg"/>
          <p:cNvSpPr/>
          <p:nvPr/>
        </p:nvSpPr>
        <p:spPr>
          <a:xfrm>
            <a:off x="4297680" y="4434840"/>
            <a:ext cx="3611880" cy="1874520"/>
          </a:xfrm>
          <a:prstGeom prst="roundRect">
            <a:avLst>
              <a:gd name="adj" fmla="val 3902"/>
            </a:avLst>
          </a:prstGeom>
          <a:solidFill>
            <a:srgbClr val="EEF5E6"/>
          </a:solidFill>
          <a:ln w="9525">
            <a:solidFill>
              <a:srgbClr val="DCE8CF"/>
            </a:solidFill>
            <a:prstDash val="solid"/>
          </a:ln>
        </p:spPr>
      </p:sp>
      <p:sp>
        <p:nvSpPr>
          <p:cNvPr id="24" name="mc1_head"/>
          <p:cNvSpPr txBox="1"/>
          <p:nvPr/>
        </p:nvSpPr>
        <p:spPr>
          <a:xfrm>
            <a:off x="4480560" y="4544568"/>
            <a:ext cx="3246120" cy="365760"/>
          </a:xfrm>
          <a:prstGeom prst="rect">
            <a:avLst/>
          </a:prstGeom>
          <a:noFill/>
          <a:ln/>
        </p:spPr>
        <p:txBody>
          <a:bodyPr wrap="square" lIns="0" tIns="0" rIns="0" bIns="0" rtlCol="0" anchor="t"/>
          <a:lstStyle/>
          <a:p>
            <a:pPr marL="0" indent="0" algn="l">
              <a:buNone/>
            </a:pPr>
            <a:r>
              <a:rPr lang="en-US" sz="1600" b="1" dirty="0">
                <a:solidFill>
                  <a:srgbClr val="6B4FA0"/>
                </a:solidFill>
                <a:latin typeface="Calibri" pitchFamily="34" charset="0"/>
                <a:ea typeface="Calibri" pitchFamily="34" charset="-122"/>
                <a:cs typeface="Calibri" pitchFamily="34" charset="-120"/>
              </a:rPr>
              <a:t>Điểm mạnh</a:t>
            </a:r>
            <a:endParaRPr lang="en-US" sz="1600" dirty="0"/>
          </a:p>
        </p:txBody>
      </p:sp>
      <p:sp>
        <p:nvSpPr>
          <p:cNvPr id="25" name="mc1_body"/>
          <p:cNvSpPr txBox="1"/>
          <p:nvPr/>
        </p:nvSpPr>
        <p:spPr>
          <a:xfrm>
            <a:off x="4480560" y="4937760"/>
            <a:ext cx="3246120" cy="1280160"/>
          </a:xfrm>
          <a:prstGeom prst="rect">
            <a:avLst/>
          </a:prstGeom>
          <a:noFill/>
          <a:ln/>
        </p:spPr>
        <p:txBody>
          <a:bodyPr wrap="square" lIns="0" tIns="0" rIns="0" bIns="0" rtlCol="0" anchor="t"/>
          <a:lstStyle/>
          <a:p>
            <a:pPr marL="0" indent="0" algn="l">
              <a:buNone/>
            </a:pPr>
            <a:r>
              <a:rPr lang="en-US" sz="1600" dirty="0">
                <a:solidFill>
                  <a:srgbClr val="1B2A1F"/>
                </a:solidFill>
                <a:latin typeface="Calibri" pitchFamily="34" charset="0"/>
                <a:ea typeface="Calibri" pitchFamily="34" charset="-122"/>
                <a:cs typeface="Calibri" pitchFamily="34" charset="-120"/>
              </a:rPr>
              <a:t>Coat: 0.5712, hơn MF +0.031 (p = 0.002, thắng 10/10 seed).</a:t>
            </a:r>
            <a:endParaRPr lang="en-US" sz="1600" dirty="0"/>
          </a:p>
        </p:txBody>
      </p:sp>
      <p:sp>
        <p:nvSpPr>
          <p:cNvPr id="26" name="mc2_bg"/>
          <p:cNvSpPr/>
          <p:nvPr/>
        </p:nvSpPr>
        <p:spPr>
          <a:xfrm>
            <a:off x="8046720" y="4434840"/>
            <a:ext cx="3611880" cy="1874520"/>
          </a:xfrm>
          <a:prstGeom prst="roundRect">
            <a:avLst>
              <a:gd name="adj" fmla="val 3902"/>
            </a:avLst>
          </a:prstGeom>
          <a:solidFill>
            <a:srgbClr val="EEF5E6"/>
          </a:solidFill>
          <a:ln w="9525">
            <a:solidFill>
              <a:srgbClr val="DCE8CF"/>
            </a:solidFill>
            <a:prstDash val="solid"/>
          </a:ln>
        </p:spPr>
      </p:sp>
      <p:sp>
        <p:nvSpPr>
          <p:cNvPr id="27" name="mc2_head"/>
          <p:cNvSpPr txBox="1"/>
          <p:nvPr/>
        </p:nvSpPr>
        <p:spPr>
          <a:xfrm>
            <a:off x="8229600" y="4544568"/>
            <a:ext cx="3246120" cy="365760"/>
          </a:xfrm>
          <a:prstGeom prst="rect">
            <a:avLst/>
          </a:prstGeom>
          <a:noFill/>
          <a:ln/>
        </p:spPr>
        <p:txBody>
          <a:bodyPr wrap="square" lIns="0" tIns="0" rIns="0" bIns="0" rtlCol="0" anchor="t"/>
          <a:lstStyle/>
          <a:p>
            <a:pPr marL="0" indent="0" algn="l">
              <a:buNone/>
            </a:pPr>
            <a:r>
              <a:rPr lang="en-US" sz="1600" b="1" dirty="0">
                <a:solidFill>
                  <a:srgbClr val="6B4FA0"/>
                </a:solidFill>
                <a:latin typeface="Calibri" pitchFamily="34" charset="0"/>
                <a:ea typeface="Calibri" pitchFamily="34" charset="-122"/>
                <a:cs typeface="Calibri" pitchFamily="34" charset="-120"/>
              </a:rPr>
              <a:t>Hạn chế</a:t>
            </a:r>
            <a:endParaRPr lang="en-US" sz="1600" dirty="0"/>
          </a:p>
        </p:txBody>
      </p:sp>
      <p:sp>
        <p:nvSpPr>
          <p:cNvPr id="28" name="mc2_body"/>
          <p:cNvSpPr txBox="1"/>
          <p:nvPr/>
        </p:nvSpPr>
        <p:spPr>
          <a:xfrm>
            <a:off x="8229600" y="4937760"/>
            <a:ext cx="3246120" cy="1280160"/>
          </a:xfrm>
          <a:prstGeom prst="rect">
            <a:avLst/>
          </a:prstGeom>
          <a:noFill/>
          <a:ln/>
        </p:spPr>
        <p:txBody>
          <a:bodyPr wrap="square" lIns="0" tIns="0" rIns="0" bIns="0" rtlCol="0" anchor="t"/>
          <a:lstStyle/>
          <a:p>
            <a:pPr marL="0" indent="0" algn="l">
              <a:buNone/>
            </a:pPr>
            <a:r>
              <a:rPr lang="en-US" sz="1600" dirty="0">
                <a:solidFill>
                  <a:srgbClr val="1B2A1F"/>
                </a:solidFill>
                <a:latin typeface="Calibri" pitchFamily="34" charset="0"/>
                <a:ea typeface="Calibri" pitchFamily="34" charset="-122"/>
                <a:cs typeface="Calibri" pitchFamily="34" charset="-120"/>
              </a:rPr>
              <a:t>Chỉ hơn iDCF +0.0009 (p = 0.28); nhánh IV là giả định vì không có code gốc.</a:t>
            </a:r>
            <a:endParaRPr lang="en-US" sz="1600" dirty="0"/>
          </a:p>
        </p:txBody>
      </p:sp>
      <p:sp>
        <p:nvSpPr>
          <p:cNvPr id="3" name="Slide Number Placeholder 0"/>
          <p:cNvSpPr>
            <a:spLocks noGrp="1"/>
          </p:cNvSpPr>
          <p:nvPr>
            <p:ph type="sldNum" sz="quarter" idx="4294967295"/>
          </p:nvPr>
        </p:nvSpPr>
        <p:spPr>
          <a:xfrm>
            <a:off x="10972800" y="644652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B5F"/>
                </a:solidFill>
                <a:latin typeface="Calibri"/>
                <a:ea typeface="Calibri"/>
                <a:cs typeface="Calibri"/>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91672" cy="777240"/>
          </a:xfrm>
          <a:prstGeom prst="rect">
            <a:avLst/>
          </a:prstGeom>
          <a:noFill/>
          <a:ln/>
        </p:spPr>
        <p:txBody>
          <a:bodyPr wrap="square" lIns="0" tIns="0" rIns="0" bIns="0" rtlCol="0" anchor="ctr"/>
          <a:lstStyle/>
          <a:p>
            <a:pPr marL="0" indent="0" algn="l">
              <a:buNone/>
            </a:pPr>
            <a:r>
              <a:rPr lang="en-US" sz="3400" b="1" dirty="0">
                <a:solidFill>
                  <a:srgbClr val="1F4D2B"/>
                </a:solidFill>
                <a:latin typeface="Cambria" pitchFamily="34" charset="0"/>
                <a:ea typeface="Cambria" pitchFamily="34" charset="-122"/>
                <a:cs typeface="Cambria" pitchFamily="34" charset="-120"/>
              </a:rPr>
              <a:t>So sánh ba mô hình</a:t>
            </a:r>
            <a:endParaRPr lang="en-US" sz="34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11091672" cy="4846320"/>
        </p:xfrm>
        <a:graphic>
          <a:graphicData uri="http://schemas.openxmlformats.org/drawingml/2006/table">
            <a:tbl>
              <a:tblPr/>
              <a:tblGrid>
                <a:gridCol w="246888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gridCol w="3319272">
                  <a:extLst>
                    <a:ext uri="{9D8B030D-6E8A-4147-A177-3AD203B41FA5}">
                      <a16:colId xmlns:a16="http://schemas.microsoft.com/office/drawing/2014/main" val="20003"/>
                    </a:ext>
                  </a:extLst>
                </a:gridCol>
              </a:tblGrid>
              <a:tr h="484632">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Tiêu chí</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solidFill>
                      <a:srgbClr val="1F4D2B"/>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MF</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solidFill>
                      <a:srgbClr val="2E6FA3"/>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DR-BIAS + CDR</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solidFill>
                      <a:srgbClr val="E07B1F"/>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IViDR</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solidFill>
                      <a:srgbClr val="6B4FA0"/>
                    </a:solidFill>
                  </a:tcPr>
                </a:tc>
                <a:extLst>
                  <a:ext uri="{0D108BD9-81ED-4DB2-BD59-A6C34878D82A}">
                    <a16:rowId xmlns:a16="http://schemas.microsoft.com/office/drawing/2014/main" val="10000"/>
                  </a:ext>
                </a:extLst>
              </a:tr>
              <a:tr h="484632">
                <a:tc>
                  <a:txBody>
                    <a:bodyPr/>
                    <a:lstStyle/>
                    <a:p>
                      <a:pPr marL="0" indent="0">
                        <a:buNone/>
                      </a:pPr>
                      <a:r>
                        <a:rPr lang="en-US" sz="1400" b="1" dirty="0">
                          <a:solidFill>
                            <a:srgbClr val="1B2A1F"/>
                          </a:solidFill>
                          <a:latin typeface="Calibri" pitchFamily="34" charset="0"/>
                          <a:ea typeface="Calibri" pitchFamily="34" charset="-122"/>
                          <a:cs typeface="Calibri" pitchFamily="34" charset="-120"/>
                        </a:rPr>
                        <a:t>Triết lý</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solidFill>
                      <a:srgbClr val="EEF5E6"/>
                    </a:solidFill>
                  </a:tcPr>
                </a:tc>
                <a:tc>
                  <a:txBody>
                    <a:bodyPr/>
                    <a:lstStyle/>
                    <a:p>
                      <a:pPr marL="0" indent="0">
                        <a:buNone/>
                      </a:pPr>
                      <a:r>
                        <a:rPr lang="en-US" sz="1400" dirty="0">
                          <a:solidFill>
                            <a:srgbClr val="1B2A1F"/>
                          </a:solidFill>
                          <a:latin typeface="Calibri" pitchFamily="34" charset="0"/>
                          <a:ea typeface="Calibri" pitchFamily="34" charset="-122"/>
                          <a:cs typeface="Calibri" pitchFamily="34" charset="-120"/>
                        </a:rPr>
                        <a:t>Học tương quan</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tcPr>
                </a:tc>
                <a:tc>
                  <a:txBody>
                    <a:bodyPr/>
                    <a:lstStyle/>
                    <a:p>
                      <a:pPr marL="0" indent="0">
                        <a:buNone/>
                      </a:pPr>
                      <a:r>
                        <a:rPr lang="en-US" sz="1400" dirty="0">
                          <a:solidFill>
                            <a:srgbClr val="1B2A1F"/>
                          </a:solidFill>
                          <a:latin typeface="Calibri" pitchFamily="34" charset="0"/>
                          <a:ea typeface="Calibri" pitchFamily="34" charset="-122"/>
                          <a:cs typeface="Calibri" pitchFamily="34" charset="-120"/>
                        </a:rPr>
                        <a:t>Khử thiên lệch bằng loss</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tcPr>
                </a:tc>
                <a:tc>
                  <a:txBody>
                    <a:bodyPr/>
                    <a:lstStyle/>
                    <a:p>
                      <a:pPr marL="0" indent="0">
                        <a:buNone/>
                      </a:pPr>
                      <a:r>
                        <a:rPr lang="en-US" sz="1400" dirty="0">
                          <a:solidFill>
                            <a:srgbClr val="1B2A1F"/>
                          </a:solidFill>
                          <a:latin typeface="Calibri" pitchFamily="34" charset="0"/>
                          <a:ea typeface="Calibri" pitchFamily="34" charset="-122"/>
                          <a:cs typeface="Calibri" pitchFamily="34" charset="-120"/>
                        </a:rPr>
                        <a:t>Khử latent confounder bằng biểu diễn</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tcPr>
                </a:tc>
                <a:extLst>
                  <a:ext uri="{0D108BD9-81ED-4DB2-BD59-A6C34878D82A}">
                    <a16:rowId xmlns:a16="http://schemas.microsoft.com/office/drawing/2014/main" val="10001"/>
                  </a:ext>
                </a:extLst>
              </a:tr>
              <a:tr h="484632">
                <a:tc>
                  <a:txBody>
                    <a:bodyPr/>
                    <a:lstStyle/>
                    <a:p>
                      <a:pPr marL="0" indent="0">
                        <a:buNone/>
                      </a:pPr>
                      <a:r>
                        <a:rPr lang="en-US" sz="1400" b="1" dirty="0">
                          <a:solidFill>
                            <a:srgbClr val="1B2A1F"/>
                          </a:solidFill>
                          <a:latin typeface="Calibri" pitchFamily="34" charset="0"/>
                          <a:ea typeface="Calibri" pitchFamily="34" charset="-122"/>
                          <a:cs typeface="Calibri" pitchFamily="34" charset="-120"/>
                        </a:rPr>
                        <a:t>Cần propensity?</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solidFill>
                      <a:srgbClr val="EEF5E6"/>
                    </a:solidFill>
                  </a:tcPr>
                </a:tc>
                <a:tc>
                  <a:txBody>
                    <a:bodyPr/>
                    <a:lstStyle/>
                    <a:p>
                      <a:pPr marL="0" indent="0">
                        <a:buNone/>
                      </a:pPr>
                      <a:r>
                        <a:rPr lang="en-US" sz="1400" dirty="0">
                          <a:solidFill>
                            <a:srgbClr val="1B2A1F"/>
                          </a:solidFill>
                          <a:latin typeface="Calibri" pitchFamily="34" charset="0"/>
                          <a:ea typeface="Calibri" pitchFamily="34" charset="-122"/>
                          <a:cs typeface="Calibri" pitchFamily="34" charset="-120"/>
                        </a:rPr>
                        <a:t>Không</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tcPr>
                </a:tc>
                <a:tc>
                  <a:txBody>
                    <a:bodyPr/>
                    <a:lstStyle/>
                    <a:p>
                      <a:pPr marL="0" indent="0">
                        <a:buNone/>
                      </a:pPr>
                      <a:r>
                        <a:rPr lang="en-US" sz="1400" dirty="0">
                          <a:solidFill>
                            <a:srgbClr val="1B2A1F"/>
                          </a:solidFill>
                          <a:latin typeface="Calibri" pitchFamily="34" charset="0"/>
                          <a:ea typeface="Calibri" pitchFamily="34" charset="-122"/>
                          <a:cs typeface="Calibri" pitchFamily="34" charset="-120"/>
                        </a:rPr>
                        <a:t>Có (Coat có sẵn, KuaiRand là proxy)</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tcPr>
                </a:tc>
                <a:tc>
                  <a:txBody>
                    <a:bodyPr/>
                    <a:lstStyle/>
                    <a:p>
                      <a:pPr marL="0" indent="0">
                        <a:buNone/>
                      </a:pPr>
                      <a:r>
                        <a:rPr lang="en-US" sz="1400" dirty="0">
                          <a:solidFill>
                            <a:srgbClr val="1B2A1F"/>
                          </a:solidFill>
                          <a:latin typeface="Calibri" pitchFamily="34" charset="0"/>
                          <a:ea typeface="Calibri" pitchFamily="34" charset="-122"/>
                          <a:cs typeface="Calibri" pitchFamily="34" charset="-120"/>
                        </a:rPr>
                        <a:t>Không (cần biến công cụ IV)</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tcPr>
                </a:tc>
                <a:extLst>
                  <a:ext uri="{0D108BD9-81ED-4DB2-BD59-A6C34878D82A}">
                    <a16:rowId xmlns:a16="http://schemas.microsoft.com/office/drawing/2014/main" val="10002"/>
                  </a:ext>
                </a:extLst>
              </a:tr>
              <a:tr h="484632">
                <a:tc>
                  <a:txBody>
                    <a:bodyPr/>
                    <a:lstStyle/>
                    <a:p>
                      <a:pPr marL="0" indent="0">
                        <a:buNone/>
                      </a:pPr>
                      <a:r>
                        <a:rPr lang="en-US" sz="1400" b="1" dirty="0">
                          <a:solidFill>
                            <a:srgbClr val="1B2A1F"/>
                          </a:solidFill>
                          <a:latin typeface="Calibri" pitchFamily="34" charset="0"/>
                          <a:ea typeface="Calibri" pitchFamily="34" charset="-122"/>
                          <a:cs typeface="Calibri" pitchFamily="34" charset="-120"/>
                        </a:rPr>
                        <a:t>Thành phần thêm</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solidFill>
                      <a:srgbClr val="EEF5E6"/>
                    </a:solidFill>
                  </a:tcPr>
                </a:tc>
                <a:tc>
                  <a:txBody>
                    <a:bodyPr/>
                    <a:lstStyle/>
                    <a:p>
                      <a:pPr marL="0" indent="0">
                        <a:buNone/>
                      </a:pPr>
                      <a:r>
                        <a:rPr lang="en-US" sz="1400" dirty="0">
                          <a:solidFill>
                            <a:srgbClr val="1B2A1F"/>
                          </a:solidFill>
                          <a:latin typeface="Calibri" pitchFamily="34" charset="0"/>
                          <a:ea typeface="Calibri" pitchFamily="34" charset="-122"/>
                          <a:cs typeface="Calibri" pitchFamily="34" charset="-120"/>
                        </a:rPr>
                        <a:t>Không</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tcPr>
                </a:tc>
                <a:tc>
                  <a:txBody>
                    <a:bodyPr/>
                    <a:lstStyle/>
                    <a:p>
                      <a:pPr marL="0" indent="0">
                        <a:buNone/>
                      </a:pPr>
                      <a:r>
                        <a:rPr lang="en-US" sz="1400" dirty="0">
                          <a:solidFill>
                            <a:srgbClr val="1B2A1F"/>
                          </a:solidFill>
                          <a:latin typeface="Calibri" pitchFamily="34" charset="0"/>
                          <a:ea typeface="Calibri" pitchFamily="34" charset="-122"/>
                          <a:cs typeface="Calibri" pitchFamily="34" charset="-120"/>
                        </a:rPr>
                        <a:t>Imputation, MC-dropout, bộ lọc τ</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tcPr>
                </a:tc>
                <a:tc>
                  <a:txBody>
                    <a:bodyPr/>
                    <a:lstStyle/>
                    <a:p>
                      <a:pPr marL="0" indent="0">
                        <a:buNone/>
                      </a:pPr>
                      <a:r>
                        <a:rPr lang="en-US" sz="1400" dirty="0">
                          <a:solidFill>
                            <a:srgbClr val="1B2A1F"/>
                          </a:solidFill>
                          <a:latin typeface="Calibri" pitchFamily="34" charset="0"/>
                          <a:ea typeface="Calibri" pitchFamily="34" charset="-122"/>
                          <a:cs typeface="Calibri" pitchFamily="34" charset="-120"/>
                        </a:rPr>
                        <a:t>2SLS theo item, 2 iVAE, trộn C₁ C₂</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tcPr>
                </a:tc>
                <a:extLst>
                  <a:ext uri="{0D108BD9-81ED-4DB2-BD59-A6C34878D82A}">
                    <a16:rowId xmlns:a16="http://schemas.microsoft.com/office/drawing/2014/main" val="10003"/>
                  </a:ext>
                </a:extLst>
              </a:tr>
              <a:tr h="484632">
                <a:tc>
                  <a:txBody>
                    <a:bodyPr/>
                    <a:lstStyle/>
                    <a:p>
                      <a:pPr marL="0" indent="0">
                        <a:buNone/>
                      </a:pPr>
                      <a:r>
                        <a:rPr lang="en-US" sz="1400" b="1" dirty="0">
                          <a:solidFill>
                            <a:srgbClr val="1B2A1F"/>
                          </a:solidFill>
                          <a:latin typeface="Calibri" pitchFamily="34" charset="0"/>
                          <a:ea typeface="Calibri" pitchFamily="34" charset="-122"/>
                          <a:cs typeface="Calibri" pitchFamily="34" charset="-120"/>
                        </a:rPr>
                        <a:t>Giả định chính</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solidFill>
                      <a:srgbClr val="EEF5E6"/>
                    </a:solidFill>
                  </a:tcPr>
                </a:tc>
                <a:tc>
                  <a:txBody>
                    <a:bodyPr/>
                    <a:lstStyle/>
                    <a:p>
                      <a:pPr marL="0" indent="0">
                        <a:buNone/>
                      </a:pPr>
                      <a:r>
                        <a:rPr lang="en-US" sz="1400" dirty="0">
                          <a:solidFill>
                            <a:srgbClr val="1B2A1F"/>
                          </a:solidFill>
                          <a:latin typeface="Calibri" pitchFamily="34" charset="0"/>
                          <a:ea typeface="Calibri" pitchFamily="34" charset="-122"/>
                          <a:cs typeface="Calibri" pitchFamily="34" charset="-120"/>
                        </a:rPr>
                        <a:t>Hiển thị ngẫu nhiên</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tcPr>
                </a:tc>
                <a:tc>
                  <a:txBody>
                    <a:bodyPr/>
                    <a:lstStyle/>
                    <a:p>
                      <a:pPr marL="0" indent="0">
                        <a:buNone/>
                      </a:pPr>
                      <a:r>
                        <a:rPr lang="en-US" sz="1400" dirty="0">
                          <a:solidFill>
                            <a:srgbClr val="1B2A1F"/>
                          </a:solidFill>
                          <a:latin typeface="Calibri" pitchFamily="34" charset="0"/>
                          <a:ea typeface="Calibri" pitchFamily="34" charset="-122"/>
                          <a:cs typeface="Calibri" pitchFamily="34" charset="-120"/>
                        </a:rPr>
                        <a:t>Propensity đúng</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tcPr>
                </a:tc>
                <a:tc>
                  <a:txBody>
                    <a:bodyPr/>
                    <a:lstStyle/>
                    <a:p>
                      <a:pPr marL="0" indent="0">
                        <a:buNone/>
                      </a:pPr>
                      <a:r>
                        <a:rPr lang="en-US" sz="1400" dirty="0">
                          <a:solidFill>
                            <a:srgbClr val="1B2A1F"/>
                          </a:solidFill>
                          <a:latin typeface="Calibri" pitchFamily="34" charset="0"/>
                          <a:ea typeface="Calibri" pitchFamily="34" charset="-122"/>
                          <a:cs typeface="Calibri" pitchFamily="34" charset="-120"/>
                        </a:rPr>
                        <a:t>IV hợp lệ, latent xác định được</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tcPr>
                </a:tc>
                <a:extLst>
                  <a:ext uri="{0D108BD9-81ED-4DB2-BD59-A6C34878D82A}">
                    <a16:rowId xmlns:a16="http://schemas.microsoft.com/office/drawing/2014/main" val="10004"/>
                  </a:ext>
                </a:extLst>
              </a:tr>
              <a:tr h="484632">
                <a:tc>
                  <a:txBody>
                    <a:bodyPr/>
                    <a:lstStyle/>
                    <a:p>
                      <a:pPr marL="0" indent="0">
                        <a:buNone/>
                      </a:pPr>
                      <a:r>
                        <a:rPr lang="en-US" sz="1400" b="1" dirty="0">
                          <a:solidFill>
                            <a:srgbClr val="1B2A1F"/>
                          </a:solidFill>
                          <a:latin typeface="Calibri" pitchFamily="34" charset="0"/>
                          <a:ea typeface="Calibri" pitchFamily="34" charset="-122"/>
                          <a:cs typeface="Calibri" pitchFamily="34" charset="-120"/>
                        </a:rPr>
                        <a:t>Điểm cuối</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solidFill>
                      <a:srgbClr val="EEF5E6"/>
                    </a:solidFill>
                  </a:tcPr>
                </a:tc>
                <a:tc>
                  <a:txBody>
                    <a:bodyPr/>
                    <a:lstStyle/>
                    <a:p>
                      <a:pPr marL="0" indent="0">
                        <a:buNone/>
                      </a:pPr>
                      <a:r>
                        <a:rPr lang="en-US" sz="1400" dirty="0">
                          <a:solidFill>
                            <a:srgbClr val="1B2A1F"/>
                          </a:solidFill>
                          <a:latin typeface="Calibri" pitchFamily="34" charset="0"/>
                          <a:ea typeface="Calibri" pitchFamily="34" charset="-122"/>
                          <a:cs typeface="Calibri" pitchFamily="34" charset="-120"/>
                        </a:rPr>
                        <a:t>⟨p_u, q_i⟩ + bias</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tcPr>
                </a:tc>
                <a:tc>
                  <a:txBody>
                    <a:bodyPr/>
                    <a:lstStyle/>
                    <a:p>
                      <a:pPr marL="0" indent="0">
                        <a:buNone/>
                      </a:pPr>
                      <a:r>
                        <a:rPr lang="en-US" sz="1400" dirty="0">
                          <a:solidFill>
                            <a:srgbClr val="1B2A1F"/>
                          </a:solidFill>
                          <a:latin typeface="Calibri" pitchFamily="34" charset="0"/>
                          <a:ea typeface="Calibri" pitchFamily="34" charset="-122"/>
                          <a:cs typeface="Calibri" pitchFamily="34" charset="-120"/>
                        </a:rPr>
                        <a:t>Như MF (loss khác)</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tcPr>
                </a:tc>
                <a:tc>
                  <a:txBody>
                    <a:bodyPr/>
                    <a:lstStyle/>
                    <a:p>
                      <a:pPr marL="0" indent="0">
                        <a:buNone/>
                      </a:pPr>
                      <a:r>
                        <a:rPr lang="en-US" sz="1400" dirty="0">
                          <a:solidFill>
                            <a:srgbClr val="1B2A1F"/>
                          </a:solidFill>
                          <a:latin typeface="Calibri" pitchFamily="34" charset="0"/>
                          <a:ea typeface="Calibri" pitchFamily="34" charset="-122"/>
                          <a:cs typeface="Calibri" pitchFamily="34" charset="-120"/>
                        </a:rPr>
                        <a:t>MF + ⟨item_emb, C_u⟩</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tcPr>
                </a:tc>
                <a:extLst>
                  <a:ext uri="{0D108BD9-81ED-4DB2-BD59-A6C34878D82A}">
                    <a16:rowId xmlns:a16="http://schemas.microsoft.com/office/drawing/2014/main" val="10005"/>
                  </a:ext>
                </a:extLst>
              </a:tr>
              <a:tr h="484632">
                <a:tc>
                  <a:txBody>
                    <a:bodyPr/>
                    <a:lstStyle/>
                    <a:p>
                      <a:pPr marL="0" indent="0">
                        <a:buNone/>
                      </a:pPr>
                      <a:r>
                        <a:rPr lang="en-US" sz="1400" b="1" dirty="0">
                          <a:solidFill>
                            <a:srgbClr val="1B2A1F"/>
                          </a:solidFill>
                          <a:latin typeface="Calibri" pitchFamily="34" charset="0"/>
                          <a:ea typeface="Calibri" pitchFamily="34" charset="-122"/>
                          <a:cs typeface="Calibri" pitchFamily="34" charset="-120"/>
                        </a:rPr>
                        <a:t>Chi phí (CPU)</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solidFill>
                      <a:srgbClr val="EEF5E6"/>
                    </a:solidFill>
                  </a:tcPr>
                </a:tc>
                <a:tc>
                  <a:txBody>
                    <a:bodyPr/>
                    <a:lstStyle/>
                    <a:p>
                      <a:pPr marL="0" indent="0">
                        <a:buNone/>
                      </a:pPr>
                      <a:r>
                        <a:rPr lang="en-US" sz="1400" dirty="0">
                          <a:solidFill>
                            <a:srgbClr val="1B2A1F"/>
                          </a:solidFill>
                          <a:latin typeface="Calibri" pitchFamily="34" charset="0"/>
                          <a:ea typeface="Calibri" pitchFamily="34" charset="-122"/>
                          <a:cs typeface="Calibri" pitchFamily="34" charset="-120"/>
                        </a:rPr>
                        <a:t>Thấp</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tcPr>
                </a:tc>
                <a:tc>
                  <a:txBody>
                    <a:bodyPr/>
                    <a:lstStyle/>
                    <a:p>
                      <a:pPr marL="0" indent="0">
                        <a:buNone/>
                      </a:pPr>
                      <a:r>
                        <a:rPr lang="en-US" sz="1400" dirty="0">
                          <a:solidFill>
                            <a:srgbClr val="1B2A1F"/>
                          </a:solidFill>
                          <a:latin typeface="Calibri" pitchFamily="34" charset="0"/>
                          <a:ea typeface="Calibri" pitchFamily="34" charset="-122"/>
                          <a:cs typeface="Calibri" pitchFamily="34" charset="-120"/>
                        </a:rPr>
                        <a:t>Trung bình</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tcPr>
                </a:tc>
                <a:tc>
                  <a:txBody>
                    <a:bodyPr/>
                    <a:lstStyle/>
                    <a:p>
                      <a:pPr marL="0" indent="0">
                        <a:buNone/>
                      </a:pPr>
                      <a:r>
                        <a:rPr lang="en-US" sz="1400" dirty="0">
                          <a:solidFill>
                            <a:srgbClr val="1B2A1F"/>
                          </a:solidFill>
                          <a:latin typeface="Calibri" pitchFamily="34" charset="0"/>
                          <a:ea typeface="Calibri" pitchFamily="34" charset="-122"/>
                          <a:cs typeface="Calibri" pitchFamily="34" charset="-120"/>
                        </a:rPr>
                        <a:t>Cao (bản joint, KuaiRand)</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tcPr>
                </a:tc>
                <a:extLst>
                  <a:ext uri="{0D108BD9-81ED-4DB2-BD59-A6C34878D82A}">
                    <a16:rowId xmlns:a16="http://schemas.microsoft.com/office/drawing/2014/main" val="10006"/>
                  </a:ext>
                </a:extLst>
              </a:tr>
              <a:tr h="484632">
                <a:tc>
                  <a:txBody>
                    <a:bodyPr/>
                    <a:lstStyle/>
                    <a:p>
                      <a:pPr marL="0" indent="0">
                        <a:buNone/>
                      </a:pPr>
                      <a:r>
                        <a:rPr lang="en-US" sz="1400" b="1" dirty="0">
                          <a:solidFill>
                            <a:srgbClr val="1B2A1F"/>
                          </a:solidFill>
                          <a:latin typeface="Calibri" pitchFamily="34" charset="0"/>
                          <a:ea typeface="Calibri" pitchFamily="34" charset="-122"/>
                          <a:cs typeface="Calibri" pitchFamily="34" charset="-120"/>
                        </a:rPr>
                        <a:t>Nhạy siêu tham số</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solidFill>
                      <a:srgbClr val="EEF5E6"/>
                    </a:solidFill>
                  </a:tcPr>
                </a:tc>
                <a:tc>
                  <a:txBody>
                    <a:bodyPr/>
                    <a:lstStyle/>
                    <a:p>
                      <a:pPr marL="0" indent="0">
                        <a:buNone/>
                      </a:pPr>
                      <a:r>
                        <a:rPr lang="en-US" sz="1400" dirty="0">
                          <a:solidFill>
                            <a:srgbClr val="1B2A1F"/>
                          </a:solidFill>
                          <a:latin typeface="Calibri" pitchFamily="34" charset="0"/>
                          <a:ea typeface="Calibri" pitchFamily="34" charset="-122"/>
                          <a:cs typeface="Calibri" pitchFamily="34" charset="-120"/>
                        </a:rPr>
                        <a:t>Thấp</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tcPr>
                </a:tc>
                <a:tc>
                  <a:txBody>
                    <a:bodyPr/>
                    <a:lstStyle/>
                    <a:p>
                      <a:pPr marL="0" indent="0">
                        <a:buNone/>
                      </a:pPr>
                      <a:r>
                        <a:rPr lang="en-US" sz="1400" dirty="0">
                          <a:solidFill>
                            <a:srgbClr val="1B2A1F"/>
                          </a:solidFill>
                          <a:latin typeface="Calibri" pitchFamily="34" charset="0"/>
                          <a:ea typeface="Calibri" pitchFamily="34" charset="-122"/>
                          <a:cs typeface="Calibri" pitchFamily="34" charset="-120"/>
                        </a:rPr>
                        <a:t>Cao (τ, kiểu bộ lọc)</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tcPr>
                </a:tc>
                <a:tc>
                  <a:txBody>
                    <a:bodyPr/>
                    <a:lstStyle/>
                    <a:p>
                      <a:pPr marL="0" indent="0">
                        <a:buNone/>
                      </a:pPr>
                      <a:r>
                        <a:rPr lang="en-US" sz="1400" dirty="0">
                          <a:solidFill>
                            <a:srgbClr val="1B2A1F"/>
                          </a:solidFill>
                          <a:latin typeface="Calibri" pitchFamily="34" charset="0"/>
                          <a:ea typeface="Calibri" pitchFamily="34" charset="-122"/>
                          <a:cs typeface="Calibri" pitchFamily="34" charset="-120"/>
                        </a:rPr>
                        <a:t>Cao (lr, wd, latent)</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tcPr>
                </a:tc>
                <a:extLst>
                  <a:ext uri="{0D108BD9-81ED-4DB2-BD59-A6C34878D82A}">
                    <a16:rowId xmlns:a16="http://schemas.microsoft.com/office/drawing/2014/main" val="10007"/>
                  </a:ext>
                </a:extLst>
              </a:tr>
              <a:tr h="484632">
                <a:tc>
                  <a:txBody>
                    <a:bodyPr/>
                    <a:lstStyle/>
                    <a:p>
                      <a:pPr marL="0" indent="0">
                        <a:buNone/>
                      </a:pPr>
                      <a:r>
                        <a:rPr lang="en-US" sz="1400" b="1" dirty="0">
                          <a:solidFill>
                            <a:srgbClr val="1B2A1F"/>
                          </a:solidFill>
                          <a:latin typeface="Calibri" pitchFamily="34" charset="0"/>
                          <a:ea typeface="Calibri" pitchFamily="34" charset="-122"/>
                          <a:cs typeface="Calibri" pitchFamily="34" charset="-120"/>
                        </a:rPr>
                        <a:t>NDCG@5 Coat (10 seed)</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solidFill>
                      <a:srgbClr val="EEF5E6"/>
                    </a:solidFill>
                  </a:tcPr>
                </a:tc>
                <a:tc>
                  <a:txBody>
                    <a:bodyPr/>
                    <a:lstStyle/>
                    <a:p>
                      <a:pPr marL="0" indent="0">
                        <a:buNone/>
                      </a:pPr>
                      <a:r>
                        <a:rPr lang="en-US" sz="1400" b="1" dirty="0">
                          <a:solidFill>
                            <a:srgbClr val="1B2A1F"/>
                          </a:solidFill>
                          <a:latin typeface="Calibri" pitchFamily="34" charset="0"/>
                          <a:ea typeface="Calibri" pitchFamily="34" charset="-122"/>
                          <a:cs typeface="Calibri" pitchFamily="34" charset="-120"/>
                        </a:rPr>
                        <a:t>0.5402</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tcPr>
                </a:tc>
                <a:tc>
                  <a:txBody>
                    <a:bodyPr/>
                    <a:lstStyle/>
                    <a:p>
                      <a:pPr marL="0" indent="0">
                        <a:buNone/>
                      </a:pPr>
                      <a:r>
                        <a:rPr lang="en-US" sz="1400" b="1" dirty="0">
                          <a:solidFill>
                            <a:srgbClr val="B3382C"/>
                          </a:solidFill>
                          <a:latin typeface="Calibri" pitchFamily="34" charset="0"/>
                          <a:ea typeface="Calibri" pitchFamily="34" charset="-122"/>
                          <a:cs typeface="Calibri" pitchFamily="34" charset="-120"/>
                        </a:rPr>
                        <a:t>0.5087 (kém MF)</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tcPr>
                </a:tc>
                <a:tc>
                  <a:txBody>
                    <a:bodyPr/>
                    <a:lstStyle/>
                    <a:p>
                      <a:pPr marL="0" indent="0">
                        <a:buNone/>
                      </a:pPr>
                      <a:r>
                        <a:rPr lang="en-US" sz="1400" b="1" dirty="0">
                          <a:solidFill>
                            <a:srgbClr val="3E7D3A"/>
                          </a:solidFill>
                          <a:latin typeface="Calibri" pitchFamily="34" charset="0"/>
                          <a:ea typeface="Calibri" pitchFamily="34" charset="-122"/>
                          <a:cs typeface="Calibri" pitchFamily="34" charset="-120"/>
                        </a:rPr>
                        <a:t>0.5712 (hơn MF, p = 0.002)</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tcPr>
                </a:tc>
                <a:extLst>
                  <a:ext uri="{0D108BD9-81ED-4DB2-BD59-A6C34878D82A}">
                    <a16:rowId xmlns:a16="http://schemas.microsoft.com/office/drawing/2014/main" val="10008"/>
                  </a:ext>
                </a:extLst>
              </a:tr>
              <a:tr h="484632">
                <a:tc>
                  <a:txBody>
                    <a:bodyPr/>
                    <a:lstStyle/>
                    <a:p>
                      <a:pPr marL="0" indent="0">
                        <a:buNone/>
                      </a:pPr>
                      <a:r>
                        <a:rPr lang="en-US" sz="1400" b="1" dirty="0">
                          <a:solidFill>
                            <a:srgbClr val="1B2A1F"/>
                          </a:solidFill>
                          <a:latin typeface="Calibri" pitchFamily="34" charset="0"/>
                          <a:ea typeface="Calibri" pitchFamily="34" charset="-122"/>
                          <a:cs typeface="Calibri" pitchFamily="34" charset="-120"/>
                        </a:rPr>
                        <a:t>NDCG@5 KuaiRand (1 seed)</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solidFill>
                      <a:srgbClr val="EEF5E6"/>
                    </a:solidFill>
                  </a:tcPr>
                </a:tc>
                <a:tc>
                  <a:txBody>
                    <a:bodyPr/>
                    <a:lstStyle/>
                    <a:p>
                      <a:pPr marL="0" indent="0">
                        <a:buNone/>
                      </a:pPr>
                      <a:r>
                        <a:rPr lang="en-US" sz="1400" b="1" dirty="0">
                          <a:solidFill>
                            <a:srgbClr val="3E7D3A"/>
                          </a:solidFill>
                          <a:latin typeface="Calibri" pitchFamily="34" charset="0"/>
                          <a:ea typeface="Calibri" pitchFamily="34" charset="-122"/>
                          <a:cs typeface="Calibri" pitchFamily="34" charset="-120"/>
                        </a:rPr>
                        <a:t>0.3744</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tcPr>
                </a:tc>
                <a:tc>
                  <a:txBody>
                    <a:bodyPr/>
                    <a:lstStyle/>
                    <a:p>
                      <a:pPr marL="0" indent="0">
                        <a:buNone/>
                      </a:pPr>
                      <a:r>
                        <a:rPr lang="en-US" sz="1400" b="1" dirty="0">
                          <a:solidFill>
                            <a:srgbClr val="B3382C"/>
                          </a:solidFill>
                          <a:latin typeface="Calibri" pitchFamily="34" charset="0"/>
                          <a:ea typeface="Calibri" pitchFamily="34" charset="-122"/>
                          <a:cs typeface="Calibri" pitchFamily="34" charset="-120"/>
                        </a:rPr>
                        <a:t>0.3459</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tcPr>
                </a:tc>
                <a:tc>
                  <a:txBody>
                    <a:bodyPr/>
                    <a:lstStyle/>
                    <a:p>
                      <a:pPr marL="0" indent="0">
                        <a:buNone/>
                      </a:pPr>
                      <a:r>
                        <a:rPr lang="en-US" sz="1400" b="1" dirty="0">
                          <a:solidFill>
                            <a:srgbClr val="B3382C"/>
                          </a:solidFill>
                          <a:latin typeface="Calibri" pitchFamily="34" charset="0"/>
                          <a:ea typeface="Calibri" pitchFamily="34" charset="-122"/>
                          <a:cs typeface="Calibri" pitchFamily="34" charset="-120"/>
                        </a:rPr>
                        <a:t>0.3630 (joint, kém MF)</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25" name="Slide Number Placeholder 0"/>
          <p:cNvSpPr>
            <a:spLocks noGrp="1"/>
          </p:cNvSpPr>
          <p:nvPr>
            <p:ph type="sldNum" sz="quarter" idx="4294967295"/>
          </p:nvPr>
        </p:nvSpPr>
        <p:spPr>
          <a:xfrm>
            <a:off x="10972800" y="644652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B5F"/>
                </a:solidFill>
                <a:latin typeface="Calibri"/>
                <a:ea typeface="Calibri"/>
                <a:cs typeface="Calibri"/>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91672" cy="777240"/>
          </a:xfrm>
          <a:prstGeom prst="rect">
            <a:avLst/>
          </a:prstGeom>
          <a:noFill/>
          <a:ln/>
        </p:spPr>
        <p:txBody>
          <a:bodyPr wrap="square" lIns="0" tIns="0" rIns="0" bIns="0" rtlCol="0" anchor="ctr"/>
          <a:lstStyle/>
          <a:p>
            <a:pPr marL="0" indent="0" algn="l">
              <a:buNone/>
            </a:pPr>
            <a:r>
              <a:rPr lang="en-US" sz="3400" b="1" dirty="0">
                <a:solidFill>
                  <a:srgbClr val="1F4D2B"/>
                </a:solidFill>
                <a:latin typeface="Cambria" pitchFamily="34" charset="0"/>
                <a:ea typeface="Cambria" pitchFamily="34" charset="-122"/>
                <a:cs typeface="Cambria" pitchFamily="34" charset="-120"/>
              </a:rPr>
              <a:t>Mỗi mô hình can thiệp ở đâu?</a:t>
            </a:r>
            <a:endParaRPr lang="en-US" sz="3400" dirty="0"/>
          </a:p>
        </p:txBody>
      </p:sp>
      <p:sp>
        <p:nvSpPr>
          <p:cNvPr id="4" name="st0"/>
          <p:cNvSpPr/>
          <p:nvPr/>
        </p:nvSpPr>
        <p:spPr>
          <a:xfrm>
            <a:off x="2377440" y="1325880"/>
            <a:ext cx="2194560" cy="548640"/>
          </a:xfrm>
          <a:prstGeom prst="roundRect">
            <a:avLst>
              <a:gd name="adj" fmla="val 13333"/>
            </a:avLst>
          </a:prstGeom>
          <a:solidFill>
            <a:srgbClr val="1F4D2B"/>
          </a:solidFill>
          <a:ln w="12700">
            <a:solidFill>
              <a:srgbClr val="1F4D2B"/>
            </a:solidFill>
            <a:prstDash val="solid"/>
          </a:ln>
        </p:spPr>
        <p:txBody>
          <a:bodyPr wrap="square" lIns="762" tIns="762" rIns="762" bIns="762"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Dữ liệu</a:t>
            </a:r>
            <a:endParaRPr lang="en-US" sz="1600" dirty="0"/>
          </a:p>
        </p:txBody>
      </p:sp>
      <p:sp>
        <p:nvSpPr>
          <p:cNvPr id="5" name="st1"/>
          <p:cNvSpPr/>
          <p:nvPr/>
        </p:nvSpPr>
        <p:spPr>
          <a:xfrm>
            <a:off x="4663440" y="1325880"/>
            <a:ext cx="2194560" cy="548640"/>
          </a:xfrm>
          <a:prstGeom prst="roundRect">
            <a:avLst>
              <a:gd name="adj" fmla="val 13333"/>
            </a:avLst>
          </a:prstGeom>
          <a:solidFill>
            <a:srgbClr val="1F4D2B"/>
          </a:solidFill>
          <a:ln w="12700">
            <a:solidFill>
              <a:srgbClr val="1F4D2B"/>
            </a:solidFill>
            <a:prstDash val="solid"/>
          </a:ln>
        </p:spPr>
        <p:txBody>
          <a:bodyPr wrap="square" lIns="762" tIns="762" rIns="762" bIns="762"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Biểu diễn</a:t>
            </a:r>
            <a:endParaRPr lang="en-US" sz="1600" dirty="0"/>
          </a:p>
        </p:txBody>
      </p:sp>
      <p:sp>
        <p:nvSpPr>
          <p:cNvPr id="6" name="st2"/>
          <p:cNvSpPr/>
          <p:nvPr/>
        </p:nvSpPr>
        <p:spPr>
          <a:xfrm>
            <a:off x="6949440" y="1325880"/>
            <a:ext cx="2194560" cy="548640"/>
          </a:xfrm>
          <a:prstGeom prst="roundRect">
            <a:avLst>
              <a:gd name="adj" fmla="val 13333"/>
            </a:avLst>
          </a:prstGeom>
          <a:solidFill>
            <a:srgbClr val="1F4D2B"/>
          </a:solidFill>
          <a:ln w="12700">
            <a:solidFill>
              <a:srgbClr val="1F4D2B"/>
            </a:solidFill>
            <a:prstDash val="solid"/>
          </a:ln>
        </p:spPr>
        <p:txBody>
          <a:bodyPr wrap="square" lIns="762" tIns="762" rIns="762" bIns="762"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Hàm mất mát</a:t>
            </a:r>
            <a:endParaRPr lang="en-US" sz="1600" dirty="0"/>
          </a:p>
        </p:txBody>
      </p:sp>
      <p:sp>
        <p:nvSpPr>
          <p:cNvPr id="7" name="st3"/>
          <p:cNvSpPr/>
          <p:nvPr/>
        </p:nvSpPr>
        <p:spPr>
          <a:xfrm>
            <a:off x="9235440" y="1325880"/>
            <a:ext cx="2194560" cy="548640"/>
          </a:xfrm>
          <a:prstGeom prst="roundRect">
            <a:avLst>
              <a:gd name="adj" fmla="val 13333"/>
            </a:avLst>
          </a:prstGeom>
          <a:solidFill>
            <a:srgbClr val="1F4D2B"/>
          </a:solidFill>
          <a:ln w="12700">
            <a:solidFill>
              <a:srgbClr val="1F4D2B"/>
            </a:solidFill>
            <a:prstDash val="solid"/>
          </a:ln>
        </p:spPr>
        <p:txBody>
          <a:bodyPr wrap="square" lIns="762" tIns="762" rIns="762" bIns="762"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Điểm số</a:t>
            </a:r>
            <a:endParaRPr lang="en-US" sz="1600" dirty="0"/>
          </a:p>
        </p:txBody>
      </p:sp>
      <p:sp>
        <p:nvSpPr>
          <p:cNvPr id="8" name="row0"/>
          <p:cNvSpPr/>
          <p:nvPr/>
        </p:nvSpPr>
        <p:spPr>
          <a:xfrm>
            <a:off x="548640" y="2103120"/>
            <a:ext cx="1691640" cy="1143000"/>
          </a:xfrm>
          <a:prstGeom prst="roundRect">
            <a:avLst>
              <a:gd name="adj" fmla="val 6400"/>
            </a:avLst>
          </a:prstGeom>
          <a:solidFill>
            <a:srgbClr val="2E6FA3"/>
          </a:solidFill>
          <a:ln w="12700">
            <a:solidFill>
              <a:srgbClr val="2E6FA3"/>
            </a:solidFill>
            <a:prstDash val="solid"/>
          </a:ln>
        </p:spPr>
        <p:txBody>
          <a:bodyPr wrap="square" lIns="762" tIns="762" rIns="762" bIns="762"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MF</a:t>
            </a:r>
            <a:endParaRPr lang="en-US" sz="2000" dirty="0"/>
          </a:p>
        </p:txBody>
      </p:sp>
      <p:sp>
        <p:nvSpPr>
          <p:cNvPr id="9" name="cell00"/>
          <p:cNvSpPr/>
          <p:nvPr/>
        </p:nvSpPr>
        <p:spPr>
          <a:xfrm>
            <a:off x="2377440" y="2103120"/>
            <a:ext cx="2194560" cy="1143000"/>
          </a:xfrm>
          <a:prstGeom prst="roundRect">
            <a:avLst>
              <a:gd name="adj" fmla="val 6400"/>
            </a:avLst>
          </a:prstGeom>
          <a:solidFill>
            <a:srgbClr val="E4E8E1"/>
          </a:solidFill>
          <a:ln w="12700">
            <a:solidFill>
              <a:srgbClr val="E4E8E1"/>
            </a:solidFill>
            <a:prstDash val="solid"/>
          </a:ln>
        </p:spPr>
        <p:txBody>
          <a:bodyPr wrap="square" lIns="762" tIns="762" rIns="762" bIns="762" rtlCol="0" anchor="ctr"/>
          <a:lstStyle/>
          <a:p>
            <a:pPr marL="0" indent="0" algn="ctr">
              <a:buNone/>
            </a:pPr>
            <a:r>
              <a:rPr lang="en-US" sz="1400" dirty="0">
                <a:solidFill>
                  <a:srgbClr val="5C6B5F"/>
                </a:solidFill>
                <a:latin typeface="Calibri" pitchFamily="34" charset="0"/>
                <a:ea typeface="Calibri" pitchFamily="34" charset="-122"/>
                <a:cs typeface="Calibri" pitchFamily="34" charset="-120"/>
              </a:rPr>
              <a:t>—</a:t>
            </a:r>
            <a:endParaRPr lang="en-US" sz="1400" dirty="0"/>
          </a:p>
        </p:txBody>
      </p:sp>
      <p:sp>
        <p:nvSpPr>
          <p:cNvPr id="10" name="cell01"/>
          <p:cNvSpPr/>
          <p:nvPr/>
        </p:nvSpPr>
        <p:spPr>
          <a:xfrm>
            <a:off x="4663440" y="2103120"/>
            <a:ext cx="2194560" cy="1143000"/>
          </a:xfrm>
          <a:prstGeom prst="roundRect">
            <a:avLst>
              <a:gd name="adj" fmla="val 6400"/>
            </a:avLst>
          </a:prstGeom>
          <a:solidFill>
            <a:srgbClr val="E4E8E1"/>
          </a:solidFill>
          <a:ln w="12700">
            <a:solidFill>
              <a:srgbClr val="E4E8E1"/>
            </a:solidFill>
            <a:prstDash val="solid"/>
          </a:ln>
        </p:spPr>
        <p:txBody>
          <a:bodyPr wrap="square" lIns="762" tIns="762" rIns="762" bIns="762" rtlCol="0" anchor="ctr"/>
          <a:lstStyle/>
          <a:p>
            <a:pPr marL="0" indent="0" algn="ctr">
              <a:buNone/>
            </a:pPr>
            <a:r>
              <a:rPr lang="en-US" sz="1400" dirty="0">
                <a:solidFill>
                  <a:srgbClr val="5C6B5F"/>
                </a:solidFill>
                <a:latin typeface="Calibri" pitchFamily="34" charset="0"/>
                <a:ea typeface="Calibri" pitchFamily="34" charset="-122"/>
                <a:cs typeface="Calibri" pitchFamily="34" charset="-120"/>
              </a:rPr>
              <a:t>Embedding user/item</a:t>
            </a:r>
            <a:endParaRPr lang="en-US" sz="1400" dirty="0"/>
          </a:p>
        </p:txBody>
      </p:sp>
      <p:sp>
        <p:nvSpPr>
          <p:cNvPr id="11" name="cell02"/>
          <p:cNvSpPr/>
          <p:nvPr/>
        </p:nvSpPr>
        <p:spPr>
          <a:xfrm>
            <a:off x="6949440" y="2103120"/>
            <a:ext cx="2194560" cy="1143000"/>
          </a:xfrm>
          <a:prstGeom prst="roundRect">
            <a:avLst>
              <a:gd name="adj" fmla="val 6400"/>
            </a:avLst>
          </a:prstGeom>
          <a:solidFill>
            <a:srgbClr val="E4E8E1"/>
          </a:solidFill>
          <a:ln w="12700">
            <a:solidFill>
              <a:srgbClr val="E4E8E1"/>
            </a:solidFill>
            <a:prstDash val="solid"/>
          </a:ln>
        </p:spPr>
        <p:txBody>
          <a:bodyPr wrap="square" lIns="762" tIns="762" rIns="762" bIns="762" rtlCol="0" anchor="ctr"/>
          <a:lstStyle/>
          <a:p>
            <a:pPr marL="0" indent="0" algn="ctr">
              <a:buNone/>
            </a:pPr>
            <a:r>
              <a:rPr lang="en-US" sz="1400" dirty="0">
                <a:solidFill>
                  <a:srgbClr val="5C6B5F"/>
                </a:solidFill>
                <a:latin typeface="Calibri" pitchFamily="34" charset="0"/>
                <a:ea typeface="Calibri" pitchFamily="34" charset="-122"/>
                <a:cs typeface="Calibri" pitchFamily="34" charset="-120"/>
              </a:rPr>
              <a:t>MSE trên mẫu đã log</a:t>
            </a:r>
            <a:endParaRPr lang="en-US" sz="1400" dirty="0"/>
          </a:p>
        </p:txBody>
      </p:sp>
      <p:sp>
        <p:nvSpPr>
          <p:cNvPr id="12" name="cell03"/>
          <p:cNvSpPr/>
          <p:nvPr/>
        </p:nvSpPr>
        <p:spPr>
          <a:xfrm>
            <a:off x="9235440" y="2103120"/>
            <a:ext cx="2194560" cy="1143000"/>
          </a:xfrm>
          <a:prstGeom prst="roundRect">
            <a:avLst>
              <a:gd name="adj" fmla="val 6400"/>
            </a:avLst>
          </a:prstGeom>
          <a:solidFill>
            <a:srgbClr val="E4E8E1"/>
          </a:solidFill>
          <a:ln w="12700">
            <a:solidFill>
              <a:srgbClr val="E4E8E1"/>
            </a:solidFill>
            <a:prstDash val="solid"/>
          </a:ln>
        </p:spPr>
        <p:txBody>
          <a:bodyPr wrap="square" lIns="762" tIns="762" rIns="762" bIns="762" rtlCol="0" anchor="ctr"/>
          <a:lstStyle/>
          <a:p>
            <a:pPr marL="0" indent="0" algn="ctr">
              <a:buNone/>
            </a:pPr>
            <a:r>
              <a:rPr lang="en-US" sz="1400" dirty="0">
                <a:solidFill>
                  <a:srgbClr val="5C6B5F"/>
                </a:solidFill>
                <a:latin typeface="Calibri" pitchFamily="34" charset="0"/>
                <a:ea typeface="Calibri" pitchFamily="34" charset="-122"/>
                <a:cs typeface="Calibri" pitchFamily="34" charset="-120"/>
              </a:rPr>
              <a:t>⟨p, q⟩ + bias</a:t>
            </a:r>
            <a:endParaRPr lang="en-US" sz="1400" dirty="0"/>
          </a:p>
        </p:txBody>
      </p:sp>
      <p:sp>
        <p:nvSpPr>
          <p:cNvPr id="13" name="row1"/>
          <p:cNvSpPr/>
          <p:nvPr/>
        </p:nvSpPr>
        <p:spPr>
          <a:xfrm>
            <a:off x="548640" y="3429000"/>
            <a:ext cx="1691640" cy="1143000"/>
          </a:xfrm>
          <a:prstGeom prst="roundRect">
            <a:avLst>
              <a:gd name="adj" fmla="val 6400"/>
            </a:avLst>
          </a:prstGeom>
          <a:solidFill>
            <a:srgbClr val="E07B1F"/>
          </a:solidFill>
          <a:ln w="12700">
            <a:solidFill>
              <a:srgbClr val="E07B1F"/>
            </a:solidFill>
            <a:prstDash val="solid"/>
          </a:ln>
        </p:spPr>
        <p:txBody>
          <a:bodyPr wrap="square" lIns="762" tIns="762" rIns="762" bIns="762"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CDR</a:t>
            </a:r>
            <a:endParaRPr lang="en-US" sz="2000" dirty="0"/>
          </a:p>
        </p:txBody>
      </p:sp>
      <p:sp>
        <p:nvSpPr>
          <p:cNvPr id="14" name="cell10"/>
          <p:cNvSpPr/>
          <p:nvPr/>
        </p:nvSpPr>
        <p:spPr>
          <a:xfrm>
            <a:off x="2377440" y="3429000"/>
            <a:ext cx="2194560" cy="1143000"/>
          </a:xfrm>
          <a:prstGeom prst="roundRect">
            <a:avLst>
              <a:gd name="adj" fmla="val 6400"/>
            </a:avLst>
          </a:prstGeom>
          <a:solidFill>
            <a:srgbClr val="E07B1F"/>
          </a:solidFill>
          <a:ln w="12700">
            <a:solidFill>
              <a:srgbClr val="E07B1F"/>
            </a:solidFill>
            <a:prstDash val="solid"/>
          </a:ln>
        </p:spPr>
        <p:txBody>
          <a:bodyPr wrap="square" lIns="762" tIns="762" rIns="762" bIns="762"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Propensity, cặp chưa quan sát</a:t>
            </a:r>
            <a:endParaRPr lang="en-US" sz="1400" dirty="0"/>
          </a:p>
        </p:txBody>
      </p:sp>
      <p:sp>
        <p:nvSpPr>
          <p:cNvPr id="15" name="cell11"/>
          <p:cNvSpPr/>
          <p:nvPr/>
        </p:nvSpPr>
        <p:spPr>
          <a:xfrm>
            <a:off x="4663440" y="3429000"/>
            <a:ext cx="2194560" cy="1143000"/>
          </a:xfrm>
          <a:prstGeom prst="roundRect">
            <a:avLst>
              <a:gd name="adj" fmla="val 6400"/>
            </a:avLst>
          </a:prstGeom>
          <a:solidFill>
            <a:srgbClr val="E4E8E1"/>
          </a:solidFill>
          <a:ln w="12700">
            <a:solidFill>
              <a:srgbClr val="E4E8E1"/>
            </a:solidFill>
            <a:prstDash val="solid"/>
          </a:ln>
        </p:spPr>
        <p:txBody>
          <a:bodyPr wrap="square" lIns="762" tIns="762" rIns="762" bIns="762" rtlCol="0" anchor="ctr"/>
          <a:lstStyle/>
          <a:p>
            <a:pPr marL="0" indent="0" algn="ctr">
              <a:buNone/>
            </a:pPr>
            <a:r>
              <a:rPr lang="en-US" sz="1400" dirty="0">
                <a:solidFill>
                  <a:srgbClr val="5C6B5F"/>
                </a:solidFill>
                <a:latin typeface="Calibri" pitchFamily="34" charset="0"/>
                <a:ea typeface="Calibri" pitchFamily="34" charset="-122"/>
                <a:cs typeface="Calibri" pitchFamily="34" charset="-120"/>
              </a:rPr>
              <a:t>—</a:t>
            </a:r>
            <a:endParaRPr lang="en-US" sz="1400" dirty="0"/>
          </a:p>
        </p:txBody>
      </p:sp>
      <p:sp>
        <p:nvSpPr>
          <p:cNvPr id="16" name="cell12"/>
          <p:cNvSpPr/>
          <p:nvPr/>
        </p:nvSpPr>
        <p:spPr>
          <a:xfrm>
            <a:off x="6949440" y="3429000"/>
            <a:ext cx="2194560" cy="1143000"/>
          </a:xfrm>
          <a:prstGeom prst="roundRect">
            <a:avLst>
              <a:gd name="adj" fmla="val 6400"/>
            </a:avLst>
          </a:prstGeom>
          <a:solidFill>
            <a:srgbClr val="E07B1F"/>
          </a:solidFill>
          <a:ln w="12700">
            <a:solidFill>
              <a:srgbClr val="E07B1F"/>
            </a:solidFill>
            <a:prstDash val="solid"/>
          </a:ln>
        </p:spPr>
        <p:txBody>
          <a:bodyPr wrap="square" lIns="762" tIns="762" rIns="762" bIns="762"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IPS + imputation (DR), lọc theo σ²</a:t>
            </a:r>
            <a:endParaRPr lang="en-US" sz="1400" dirty="0"/>
          </a:p>
        </p:txBody>
      </p:sp>
      <p:sp>
        <p:nvSpPr>
          <p:cNvPr id="17" name="cell13"/>
          <p:cNvSpPr/>
          <p:nvPr/>
        </p:nvSpPr>
        <p:spPr>
          <a:xfrm>
            <a:off x="9235440" y="3429000"/>
            <a:ext cx="2194560" cy="1143000"/>
          </a:xfrm>
          <a:prstGeom prst="roundRect">
            <a:avLst>
              <a:gd name="adj" fmla="val 6400"/>
            </a:avLst>
          </a:prstGeom>
          <a:solidFill>
            <a:srgbClr val="E4E8E1"/>
          </a:solidFill>
          <a:ln w="12700">
            <a:solidFill>
              <a:srgbClr val="E4E8E1"/>
            </a:solidFill>
            <a:prstDash val="solid"/>
          </a:ln>
        </p:spPr>
        <p:txBody>
          <a:bodyPr wrap="square" lIns="762" tIns="762" rIns="762" bIns="762" rtlCol="0" anchor="ctr"/>
          <a:lstStyle/>
          <a:p>
            <a:pPr marL="0" indent="0" algn="ctr">
              <a:buNone/>
            </a:pPr>
            <a:r>
              <a:rPr lang="en-US" sz="1400" dirty="0">
                <a:solidFill>
                  <a:srgbClr val="5C6B5F"/>
                </a:solidFill>
                <a:latin typeface="Calibri" pitchFamily="34" charset="0"/>
                <a:ea typeface="Calibri" pitchFamily="34" charset="-122"/>
                <a:cs typeface="Calibri" pitchFamily="34" charset="-120"/>
              </a:rPr>
              <a:t>⟨p, q⟩ + bias</a:t>
            </a:r>
            <a:endParaRPr lang="en-US" sz="1400" dirty="0"/>
          </a:p>
        </p:txBody>
      </p:sp>
      <p:sp>
        <p:nvSpPr>
          <p:cNvPr id="18" name="row2"/>
          <p:cNvSpPr/>
          <p:nvPr/>
        </p:nvSpPr>
        <p:spPr>
          <a:xfrm>
            <a:off x="548640" y="4754880"/>
            <a:ext cx="1691640" cy="1143000"/>
          </a:xfrm>
          <a:prstGeom prst="roundRect">
            <a:avLst>
              <a:gd name="adj" fmla="val 6400"/>
            </a:avLst>
          </a:prstGeom>
          <a:solidFill>
            <a:srgbClr val="6B4FA0"/>
          </a:solidFill>
          <a:ln w="12700">
            <a:solidFill>
              <a:srgbClr val="6B4FA0"/>
            </a:solidFill>
            <a:prstDash val="solid"/>
          </a:ln>
        </p:spPr>
        <p:txBody>
          <a:bodyPr wrap="square" lIns="762" tIns="762" rIns="762" bIns="762"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IViDR</a:t>
            </a:r>
            <a:endParaRPr lang="en-US" sz="2000" dirty="0"/>
          </a:p>
        </p:txBody>
      </p:sp>
      <p:sp>
        <p:nvSpPr>
          <p:cNvPr id="19" name="cell20"/>
          <p:cNvSpPr/>
          <p:nvPr/>
        </p:nvSpPr>
        <p:spPr>
          <a:xfrm>
            <a:off x="2377440" y="4754880"/>
            <a:ext cx="2194560" cy="1143000"/>
          </a:xfrm>
          <a:prstGeom prst="roundRect">
            <a:avLst>
              <a:gd name="adj" fmla="val 6400"/>
            </a:avLst>
          </a:prstGeom>
          <a:solidFill>
            <a:srgbClr val="6B4FA0"/>
          </a:solidFill>
          <a:ln w="12700">
            <a:solidFill>
              <a:srgbClr val="6B4FA0"/>
            </a:solidFill>
            <a:prstDash val="solid"/>
          </a:ln>
        </p:spPr>
        <p:txBody>
          <a:bodyPr wrap="square" lIns="762" tIns="762" rIns="762" bIns="762"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Biến công cụ Z (đặc trưng user) và vector exposure A</a:t>
            </a:r>
            <a:endParaRPr lang="en-US" sz="1400" dirty="0"/>
          </a:p>
        </p:txBody>
      </p:sp>
      <p:sp>
        <p:nvSpPr>
          <p:cNvPr id="20" name="cell21"/>
          <p:cNvSpPr/>
          <p:nvPr/>
        </p:nvSpPr>
        <p:spPr>
          <a:xfrm>
            <a:off x="4663440" y="4754880"/>
            <a:ext cx="2194560" cy="1143000"/>
          </a:xfrm>
          <a:prstGeom prst="roundRect">
            <a:avLst>
              <a:gd name="adj" fmla="val 6400"/>
            </a:avLst>
          </a:prstGeom>
          <a:solidFill>
            <a:srgbClr val="6B4FA0"/>
          </a:solidFill>
          <a:ln w="12700">
            <a:solidFill>
              <a:srgbClr val="6B4FA0"/>
            </a:solidFill>
            <a:prstDash val="solid"/>
          </a:ln>
        </p:spPr>
        <p:txBody>
          <a:bodyPr wrap="square" lIns="762" tIns="762" rIns="762" bIns="762"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iVAE suy ra latent C</a:t>
            </a:r>
            <a:endParaRPr lang="en-US" sz="1400" dirty="0"/>
          </a:p>
        </p:txBody>
      </p:sp>
      <p:sp>
        <p:nvSpPr>
          <p:cNvPr id="21" name="cell22"/>
          <p:cNvSpPr/>
          <p:nvPr/>
        </p:nvSpPr>
        <p:spPr>
          <a:xfrm>
            <a:off x="6949440" y="4754880"/>
            <a:ext cx="2194560" cy="1143000"/>
          </a:xfrm>
          <a:prstGeom prst="roundRect">
            <a:avLst>
              <a:gd name="adj" fmla="val 6400"/>
            </a:avLst>
          </a:prstGeom>
          <a:solidFill>
            <a:srgbClr val="E4E8E1"/>
          </a:solidFill>
          <a:ln w="12700">
            <a:solidFill>
              <a:srgbClr val="E4E8E1"/>
            </a:solidFill>
            <a:prstDash val="solid"/>
          </a:ln>
        </p:spPr>
        <p:txBody>
          <a:bodyPr wrap="square" lIns="762" tIns="762" rIns="762" bIns="762" rtlCol="0" anchor="ctr"/>
          <a:lstStyle/>
          <a:p>
            <a:pPr marL="0" indent="0" algn="ctr">
              <a:buNone/>
            </a:pPr>
            <a:r>
              <a:rPr lang="en-US" sz="1400" dirty="0">
                <a:solidFill>
                  <a:srgbClr val="5C6B5F"/>
                </a:solidFill>
                <a:latin typeface="Calibri" pitchFamily="34" charset="0"/>
                <a:ea typeface="Calibri" pitchFamily="34" charset="-122"/>
                <a:cs typeface="Calibri" pitchFamily="34" charset="-120"/>
              </a:rPr>
              <a:t>MSE (như MF)</a:t>
            </a:r>
            <a:endParaRPr lang="en-US" sz="1400" dirty="0"/>
          </a:p>
        </p:txBody>
      </p:sp>
      <p:sp>
        <p:nvSpPr>
          <p:cNvPr id="22" name="cell23"/>
          <p:cNvSpPr/>
          <p:nvPr/>
        </p:nvSpPr>
        <p:spPr>
          <a:xfrm>
            <a:off x="9235440" y="4754880"/>
            <a:ext cx="2194560" cy="1143000"/>
          </a:xfrm>
          <a:prstGeom prst="roundRect">
            <a:avLst>
              <a:gd name="adj" fmla="val 6400"/>
            </a:avLst>
          </a:prstGeom>
          <a:solidFill>
            <a:srgbClr val="6B4FA0"/>
          </a:solidFill>
          <a:ln w="12700">
            <a:solidFill>
              <a:srgbClr val="6B4FA0"/>
            </a:solidFill>
            <a:prstDash val="solid"/>
          </a:ln>
        </p:spPr>
        <p:txBody>
          <a:bodyPr wrap="square" lIns="762" tIns="762" rIns="762" bIns="762"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MF + ⟨item_emb, C_u⟩</a:t>
            </a:r>
            <a:endParaRPr lang="en-US" sz="1400" dirty="0"/>
          </a:p>
        </p:txBody>
      </p:sp>
      <p:sp>
        <p:nvSpPr>
          <p:cNvPr id="23" name="Text 20"/>
          <p:cNvSpPr txBox="1"/>
          <p:nvPr/>
        </p:nvSpPr>
        <p:spPr>
          <a:xfrm>
            <a:off x="548640" y="6126480"/>
            <a:ext cx="10972800" cy="274320"/>
          </a:xfrm>
          <a:prstGeom prst="rect">
            <a:avLst/>
          </a:prstGeom>
          <a:noFill/>
          <a:ln/>
        </p:spPr>
        <p:txBody>
          <a:bodyPr wrap="square" lIns="0" tIns="0" rIns="0" bIns="0" rtlCol="0" anchor="t"/>
          <a:lstStyle/>
          <a:p>
            <a:pPr marL="0" indent="0" algn="l">
              <a:buNone/>
            </a:pPr>
            <a:r>
              <a:rPr lang="en-US" sz="1200" dirty="0">
                <a:solidFill>
                  <a:srgbClr val="5C6B5F"/>
                </a:solidFill>
                <a:latin typeface="Calibri" pitchFamily="34" charset="0"/>
                <a:ea typeface="Calibri" pitchFamily="34" charset="-122"/>
                <a:cs typeface="Calibri" pitchFamily="34" charset="-120"/>
              </a:rPr>
              <a:t>Ô màu = nơi mô hình can thiệp để giảm thiên lệch; ô xám = dùng cách làm chuẩn.</a:t>
            </a:r>
            <a:endParaRPr lang="en-US" sz="1200" dirty="0"/>
          </a:p>
        </p:txBody>
      </p:sp>
      <p:sp>
        <p:nvSpPr>
          <p:cNvPr id="25" name="Slide Number Placeholder 0"/>
          <p:cNvSpPr>
            <a:spLocks noGrp="1"/>
          </p:cNvSpPr>
          <p:nvPr>
            <p:ph type="sldNum" sz="quarter" idx="4294967295"/>
          </p:nvPr>
        </p:nvSpPr>
        <p:spPr>
          <a:xfrm>
            <a:off x="10972800" y="644652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B5F"/>
                </a:solidFill>
                <a:latin typeface="Calibri"/>
                <a:ea typeface="Calibri"/>
                <a:cs typeface="Calibri"/>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91672" cy="777240"/>
          </a:xfrm>
          <a:prstGeom prst="rect">
            <a:avLst/>
          </a:prstGeom>
          <a:noFill/>
          <a:ln/>
        </p:spPr>
        <p:txBody>
          <a:bodyPr wrap="square" lIns="0" tIns="0" rIns="0" bIns="0" rtlCol="0" anchor="ctr"/>
          <a:lstStyle/>
          <a:p>
            <a:pPr marL="0" indent="0" algn="l">
              <a:buNone/>
            </a:pPr>
            <a:r>
              <a:rPr lang="en-US" sz="3400" b="1" dirty="0">
                <a:solidFill>
                  <a:srgbClr val="1F4D2B"/>
                </a:solidFill>
                <a:latin typeface="Cambria" pitchFamily="34" charset="0"/>
                <a:ea typeface="Cambria" pitchFamily="34" charset="-122"/>
                <a:cs typeface="Cambria" pitchFamily="34" charset="-120"/>
              </a:rPr>
              <a:t>Chi phí huấn luyện (KuaiRand, CPU)</a:t>
            </a:r>
            <a:endParaRPr lang="en-US" sz="3400" dirty="0"/>
          </a:p>
        </p:txBody>
      </p:sp>
      <p:sp>
        <p:nvSpPr>
          <p:cNvPr id="4" name="Text 1"/>
          <p:cNvSpPr txBox="1"/>
          <p:nvPr/>
        </p:nvSpPr>
        <p:spPr>
          <a:xfrm>
            <a:off x="548640" y="1691640"/>
            <a:ext cx="2377440" cy="457200"/>
          </a:xfrm>
          <a:prstGeom prst="rect">
            <a:avLst/>
          </a:prstGeom>
          <a:noFill/>
          <a:ln/>
        </p:spPr>
        <p:txBody>
          <a:bodyPr wrap="square" lIns="0" tIns="0" rIns="0" bIns="0" rtlCol="0" anchor="t"/>
          <a:lstStyle/>
          <a:p>
            <a:pPr marL="0" indent="0" algn="l">
              <a:buNone/>
            </a:pPr>
            <a:r>
              <a:rPr lang="en-US" sz="1800" b="1" dirty="0">
                <a:solidFill>
                  <a:srgbClr val="2E6FA3"/>
                </a:solidFill>
                <a:latin typeface="Calibri" pitchFamily="34" charset="0"/>
                <a:ea typeface="Calibri" pitchFamily="34" charset="-122"/>
                <a:cs typeface="Calibri" pitchFamily="34" charset="-120"/>
              </a:rPr>
              <a:t>MF</a:t>
            </a:r>
            <a:endParaRPr lang="en-US" sz="1800" dirty="0"/>
          </a:p>
        </p:txBody>
      </p:sp>
      <p:sp>
        <p:nvSpPr>
          <p:cNvPr id="5" name="track0"/>
          <p:cNvSpPr/>
          <p:nvPr/>
        </p:nvSpPr>
        <p:spPr>
          <a:xfrm>
            <a:off x="3108960" y="1645920"/>
            <a:ext cx="7680960" cy="548640"/>
          </a:xfrm>
          <a:prstGeom prst="rect">
            <a:avLst/>
          </a:prstGeom>
          <a:solidFill>
            <a:srgbClr val="EEF5E6"/>
          </a:solidFill>
          <a:ln w="6350">
            <a:solidFill>
              <a:srgbClr val="DCE8CF"/>
            </a:solidFill>
            <a:prstDash val="solid"/>
          </a:ln>
        </p:spPr>
      </p:sp>
      <p:sp>
        <p:nvSpPr>
          <p:cNvPr id="6" name="range0"/>
          <p:cNvSpPr/>
          <p:nvPr/>
        </p:nvSpPr>
        <p:spPr>
          <a:xfrm>
            <a:off x="3185770" y="1645920"/>
            <a:ext cx="128016" cy="548640"/>
          </a:xfrm>
          <a:prstGeom prst="rect">
            <a:avLst/>
          </a:prstGeom>
          <a:solidFill>
            <a:srgbClr val="2E6FA3"/>
          </a:solidFill>
          <a:ln w="12700">
            <a:solidFill>
              <a:srgbClr val="2E6FA3"/>
            </a:solidFill>
            <a:prstDash val="solid"/>
          </a:ln>
        </p:spPr>
      </p:sp>
      <p:sp>
        <p:nvSpPr>
          <p:cNvPr id="7" name="Text 4"/>
          <p:cNvSpPr txBox="1"/>
          <p:nvPr/>
        </p:nvSpPr>
        <p:spPr>
          <a:xfrm>
            <a:off x="3450946" y="1737360"/>
            <a:ext cx="1737360" cy="365760"/>
          </a:xfrm>
          <a:prstGeom prst="rect">
            <a:avLst/>
          </a:prstGeom>
          <a:noFill/>
          <a:ln/>
        </p:spPr>
        <p:txBody>
          <a:bodyPr wrap="square" lIns="0" tIns="0" rIns="0" bIns="0" rtlCol="0" anchor="t"/>
          <a:lstStyle/>
          <a:p>
            <a:pPr marL="0" indent="0" algn="l">
              <a:buNone/>
            </a:pPr>
            <a:r>
              <a:rPr lang="en-US" sz="1400" b="1" dirty="0">
                <a:solidFill>
                  <a:srgbClr val="1B2A1F"/>
                </a:solidFill>
                <a:latin typeface="Calibri" pitchFamily="34" charset="0"/>
                <a:ea typeface="Calibri" pitchFamily="34" charset="-122"/>
                <a:cs typeface="Calibri" pitchFamily="34" charset="-120"/>
              </a:rPr>
              <a:t>60–160 s</a:t>
            </a:r>
            <a:endParaRPr lang="en-US" sz="1400" dirty="0"/>
          </a:p>
        </p:txBody>
      </p:sp>
      <p:sp>
        <p:nvSpPr>
          <p:cNvPr id="8" name="Text 5"/>
          <p:cNvSpPr txBox="1"/>
          <p:nvPr/>
        </p:nvSpPr>
        <p:spPr>
          <a:xfrm>
            <a:off x="548640" y="2926080"/>
            <a:ext cx="2377440" cy="457200"/>
          </a:xfrm>
          <a:prstGeom prst="rect">
            <a:avLst/>
          </a:prstGeom>
          <a:noFill/>
          <a:ln/>
        </p:spPr>
        <p:txBody>
          <a:bodyPr wrap="square" lIns="0" tIns="0" rIns="0" bIns="0" rtlCol="0" anchor="t"/>
          <a:lstStyle/>
          <a:p>
            <a:pPr marL="0" indent="0" algn="l">
              <a:buNone/>
            </a:pPr>
            <a:r>
              <a:rPr lang="en-US" sz="1800" b="1" dirty="0">
                <a:solidFill>
                  <a:srgbClr val="E07B1F"/>
                </a:solidFill>
                <a:latin typeface="Calibri" pitchFamily="34" charset="0"/>
                <a:ea typeface="Calibri" pitchFamily="34" charset="-122"/>
                <a:cs typeface="Calibri" pitchFamily="34" charset="-120"/>
              </a:rPr>
              <a:t>DR-BIAS + CDR</a:t>
            </a:r>
            <a:endParaRPr lang="en-US" sz="1800" dirty="0"/>
          </a:p>
        </p:txBody>
      </p:sp>
      <p:sp>
        <p:nvSpPr>
          <p:cNvPr id="9" name="track1"/>
          <p:cNvSpPr/>
          <p:nvPr/>
        </p:nvSpPr>
        <p:spPr>
          <a:xfrm>
            <a:off x="3108960" y="2880360"/>
            <a:ext cx="7680960" cy="548640"/>
          </a:xfrm>
          <a:prstGeom prst="rect">
            <a:avLst/>
          </a:prstGeom>
          <a:solidFill>
            <a:srgbClr val="EEF5E6"/>
          </a:solidFill>
          <a:ln w="6350">
            <a:solidFill>
              <a:srgbClr val="DCE8CF"/>
            </a:solidFill>
            <a:prstDash val="solid"/>
          </a:ln>
        </p:spPr>
      </p:sp>
      <p:sp>
        <p:nvSpPr>
          <p:cNvPr id="10" name="range1"/>
          <p:cNvSpPr/>
          <p:nvPr/>
        </p:nvSpPr>
        <p:spPr>
          <a:xfrm>
            <a:off x="4837176" y="2880360"/>
            <a:ext cx="1728216" cy="548640"/>
          </a:xfrm>
          <a:prstGeom prst="rect">
            <a:avLst/>
          </a:prstGeom>
          <a:solidFill>
            <a:srgbClr val="E07B1F"/>
          </a:solidFill>
          <a:ln w="12700">
            <a:solidFill>
              <a:srgbClr val="E07B1F"/>
            </a:solidFill>
            <a:prstDash val="solid"/>
          </a:ln>
        </p:spPr>
      </p:sp>
      <p:sp>
        <p:nvSpPr>
          <p:cNvPr id="11" name="Text 8"/>
          <p:cNvSpPr txBox="1"/>
          <p:nvPr/>
        </p:nvSpPr>
        <p:spPr>
          <a:xfrm>
            <a:off x="6702552" y="2971800"/>
            <a:ext cx="1737360" cy="365760"/>
          </a:xfrm>
          <a:prstGeom prst="rect">
            <a:avLst/>
          </a:prstGeom>
          <a:noFill/>
          <a:ln/>
        </p:spPr>
        <p:txBody>
          <a:bodyPr wrap="square" lIns="0" tIns="0" rIns="0" bIns="0" rtlCol="0" anchor="t"/>
          <a:lstStyle/>
          <a:p>
            <a:pPr marL="0" indent="0" algn="l">
              <a:buNone/>
            </a:pPr>
            <a:r>
              <a:rPr lang="en-US" sz="1400" b="1" dirty="0">
                <a:solidFill>
                  <a:srgbClr val="1B2A1F"/>
                </a:solidFill>
                <a:latin typeface="Calibri" pitchFamily="34" charset="0"/>
                <a:ea typeface="Calibri" pitchFamily="34" charset="-122"/>
                <a:cs typeface="Calibri" pitchFamily="34" charset="-120"/>
              </a:rPr>
              <a:t>1,350–2,700 s</a:t>
            </a:r>
            <a:endParaRPr lang="en-US" sz="1400" dirty="0"/>
          </a:p>
        </p:txBody>
      </p:sp>
      <p:sp>
        <p:nvSpPr>
          <p:cNvPr id="12" name="Text 9"/>
          <p:cNvSpPr txBox="1"/>
          <p:nvPr/>
        </p:nvSpPr>
        <p:spPr>
          <a:xfrm>
            <a:off x="548640" y="4160520"/>
            <a:ext cx="2377440" cy="457200"/>
          </a:xfrm>
          <a:prstGeom prst="rect">
            <a:avLst/>
          </a:prstGeom>
          <a:noFill/>
          <a:ln/>
        </p:spPr>
        <p:txBody>
          <a:bodyPr wrap="square" lIns="0" tIns="0" rIns="0" bIns="0" rtlCol="0" anchor="t"/>
          <a:lstStyle/>
          <a:p>
            <a:pPr marL="0" indent="0" algn="l">
              <a:buNone/>
            </a:pPr>
            <a:r>
              <a:rPr lang="en-US" sz="1800" b="1" dirty="0">
                <a:solidFill>
                  <a:srgbClr val="6B4FA0"/>
                </a:solidFill>
                <a:latin typeface="Calibri" pitchFamily="34" charset="0"/>
                <a:ea typeface="Calibri" pitchFamily="34" charset="-122"/>
                <a:cs typeface="Calibri" pitchFamily="34" charset="-120"/>
              </a:rPr>
              <a:t>IViDR (joint)</a:t>
            </a:r>
            <a:endParaRPr lang="en-US" sz="1800" dirty="0"/>
          </a:p>
        </p:txBody>
      </p:sp>
      <p:sp>
        <p:nvSpPr>
          <p:cNvPr id="13" name="track2"/>
          <p:cNvSpPr/>
          <p:nvPr/>
        </p:nvSpPr>
        <p:spPr>
          <a:xfrm>
            <a:off x="3108960" y="4114800"/>
            <a:ext cx="7680960" cy="548640"/>
          </a:xfrm>
          <a:prstGeom prst="rect">
            <a:avLst/>
          </a:prstGeom>
          <a:solidFill>
            <a:srgbClr val="EEF5E6"/>
          </a:solidFill>
          <a:ln w="6350">
            <a:solidFill>
              <a:srgbClr val="DCE8CF"/>
            </a:solidFill>
            <a:prstDash val="solid"/>
          </a:ln>
        </p:spPr>
      </p:sp>
      <p:sp>
        <p:nvSpPr>
          <p:cNvPr id="14" name="range2"/>
          <p:cNvSpPr/>
          <p:nvPr/>
        </p:nvSpPr>
        <p:spPr>
          <a:xfrm>
            <a:off x="7333488" y="4114800"/>
            <a:ext cx="3072384" cy="548640"/>
          </a:xfrm>
          <a:prstGeom prst="rect">
            <a:avLst/>
          </a:prstGeom>
          <a:solidFill>
            <a:srgbClr val="6B4FA0"/>
          </a:solidFill>
          <a:ln w="12700">
            <a:solidFill>
              <a:srgbClr val="6B4FA0"/>
            </a:solidFill>
            <a:prstDash val="solid"/>
          </a:ln>
        </p:spPr>
      </p:sp>
      <p:sp>
        <p:nvSpPr>
          <p:cNvPr id="15" name="Text 12"/>
          <p:cNvSpPr txBox="1"/>
          <p:nvPr/>
        </p:nvSpPr>
        <p:spPr>
          <a:xfrm>
            <a:off x="5458968" y="4206240"/>
            <a:ext cx="1737360" cy="365760"/>
          </a:xfrm>
          <a:prstGeom prst="rect">
            <a:avLst/>
          </a:prstGeom>
          <a:noFill/>
          <a:ln/>
        </p:spPr>
        <p:txBody>
          <a:bodyPr wrap="square" lIns="0" tIns="0" rIns="0" bIns="0" rtlCol="0" anchor="t"/>
          <a:lstStyle/>
          <a:p>
            <a:pPr marL="0" indent="0" algn="r">
              <a:buNone/>
            </a:pPr>
            <a:r>
              <a:rPr lang="en-US" sz="1400" b="1" dirty="0">
                <a:solidFill>
                  <a:srgbClr val="1B2A1F"/>
                </a:solidFill>
                <a:latin typeface="Calibri" pitchFamily="34" charset="0"/>
                <a:ea typeface="Calibri" pitchFamily="34" charset="-122"/>
                <a:cs typeface="Calibri" pitchFamily="34" charset="-120"/>
              </a:rPr>
              <a:t>3,300–5,700 s</a:t>
            </a:r>
            <a:endParaRPr lang="en-US" sz="1400" dirty="0"/>
          </a:p>
        </p:txBody>
      </p:sp>
      <p:sp>
        <p:nvSpPr>
          <p:cNvPr id="16" name="Text 13"/>
          <p:cNvSpPr txBox="1"/>
          <p:nvPr/>
        </p:nvSpPr>
        <p:spPr>
          <a:xfrm>
            <a:off x="3108960" y="5166360"/>
            <a:ext cx="457200" cy="274320"/>
          </a:xfrm>
          <a:prstGeom prst="rect">
            <a:avLst/>
          </a:prstGeom>
          <a:noFill/>
          <a:ln/>
        </p:spPr>
        <p:txBody>
          <a:bodyPr wrap="square" lIns="0" tIns="0" rIns="0" bIns="0" rtlCol="0" anchor="t"/>
          <a:lstStyle/>
          <a:p>
            <a:pPr marL="0" indent="0" algn="l">
              <a:buNone/>
            </a:pPr>
            <a:r>
              <a:rPr lang="en-US" sz="1200" dirty="0">
                <a:solidFill>
                  <a:srgbClr val="5C6B5F"/>
                </a:solidFill>
                <a:latin typeface="Calibri" pitchFamily="34" charset="0"/>
                <a:ea typeface="Calibri" pitchFamily="34" charset="-122"/>
                <a:cs typeface="Calibri" pitchFamily="34" charset="-120"/>
              </a:rPr>
              <a:t>0</a:t>
            </a:r>
            <a:endParaRPr lang="en-US" sz="1200" dirty="0"/>
          </a:p>
        </p:txBody>
      </p:sp>
      <p:sp>
        <p:nvSpPr>
          <p:cNvPr id="17" name="Text 14"/>
          <p:cNvSpPr txBox="1"/>
          <p:nvPr/>
        </p:nvSpPr>
        <p:spPr>
          <a:xfrm>
            <a:off x="9692640" y="5166360"/>
            <a:ext cx="1097280" cy="274320"/>
          </a:xfrm>
          <a:prstGeom prst="rect">
            <a:avLst/>
          </a:prstGeom>
          <a:noFill/>
          <a:ln/>
        </p:spPr>
        <p:txBody>
          <a:bodyPr wrap="square" lIns="0" tIns="0" rIns="0" bIns="0" rtlCol="0" anchor="t"/>
          <a:lstStyle/>
          <a:p>
            <a:pPr marL="0" indent="0" algn="r">
              <a:buNone/>
            </a:pPr>
            <a:r>
              <a:rPr lang="en-US" sz="1200" dirty="0">
                <a:solidFill>
                  <a:srgbClr val="5C6B5F"/>
                </a:solidFill>
                <a:latin typeface="Calibri" pitchFamily="34" charset="0"/>
                <a:ea typeface="Calibri" pitchFamily="34" charset="-122"/>
                <a:cs typeface="Calibri" pitchFamily="34" charset="-120"/>
              </a:rPr>
              <a:t>6,000 giây</a:t>
            </a:r>
            <a:endParaRPr lang="en-US" sz="1200" dirty="0"/>
          </a:p>
        </p:txBody>
      </p:sp>
      <p:sp>
        <p:nvSpPr>
          <p:cNvPr id="18" name="Text 15"/>
          <p:cNvSpPr txBox="1"/>
          <p:nvPr/>
        </p:nvSpPr>
        <p:spPr>
          <a:xfrm>
            <a:off x="548640" y="5623560"/>
            <a:ext cx="11064240" cy="731520"/>
          </a:xfrm>
          <a:prstGeom prst="rect">
            <a:avLst/>
          </a:prstGeom>
          <a:noFill/>
          <a:ln/>
        </p:spPr>
        <p:txBody>
          <a:bodyPr wrap="square" lIns="0" tIns="0" rIns="0" bIns="0" rtlCol="0" anchor="t"/>
          <a:lstStyle/>
          <a:p>
            <a:pPr marL="0" indent="0" algn="l">
              <a:buNone/>
            </a:pPr>
            <a:r>
              <a:rPr lang="en-US" sz="1600" i="1" dirty="0">
                <a:solidFill>
                  <a:srgbClr val="1F4D2B"/>
                </a:solidFill>
                <a:latin typeface="Calibri" pitchFamily="34" charset="0"/>
                <a:ea typeface="Calibri" pitchFamily="34" charset="-122"/>
                <a:cs typeface="Calibri" pitchFamily="34" charset="-120"/>
              </a:rPr>
              <a:t>Mỗi thanh là khoảng thời gian (nhỏ nhất–lớn nhất) của các trial tuning ngày 1/10 trên KuaiRand. IViDR khoảng 1–1.6 giờ mỗi trial, nên chưa chạy được nhiều seed.</a:t>
            </a:r>
            <a:endParaRPr lang="en-US" sz="1600" dirty="0"/>
          </a:p>
        </p:txBody>
      </p:sp>
      <p:sp>
        <p:nvSpPr>
          <p:cNvPr id="25" name="Slide Number Placeholder 0"/>
          <p:cNvSpPr>
            <a:spLocks noGrp="1"/>
          </p:cNvSpPr>
          <p:nvPr>
            <p:ph type="sldNum" sz="quarter" idx="4294967295"/>
          </p:nvPr>
        </p:nvSpPr>
        <p:spPr>
          <a:xfrm>
            <a:off x="10972800" y="644652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B5F"/>
                </a:solidFill>
                <a:latin typeface="Calibri"/>
                <a:ea typeface="Calibri"/>
                <a:cs typeface="Calibri"/>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91672" cy="777240"/>
          </a:xfrm>
          <a:prstGeom prst="rect">
            <a:avLst/>
          </a:prstGeom>
          <a:noFill/>
          <a:ln/>
        </p:spPr>
        <p:txBody>
          <a:bodyPr wrap="square" lIns="0" tIns="0" rIns="0" bIns="0" rtlCol="0" anchor="ctr"/>
          <a:lstStyle/>
          <a:p>
            <a:pPr marL="0" indent="0" algn="l">
              <a:buNone/>
            </a:pPr>
            <a:r>
              <a:rPr lang="en-US" sz="3400" b="1" dirty="0">
                <a:solidFill>
                  <a:srgbClr val="1F4D2B"/>
                </a:solidFill>
                <a:latin typeface="Cambria" pitchFamily="34" charset="0"/>
                <a:ea typeface="Cambria" pitchFamily="34" charset="-122"/>
                <a:cs typeface="Cambria" pitchFamily="34" charset="-120"/>
              </a:rPr>
              <a:t>Kết quả trên Coat (10 seed)</a:t>
            </a:r>
            <a:endParaRPr lang="en-US" sz="3400" dirty="0"/>
          </a:p>
        </p:txBody>
      </p:sp>
      <p:graphicFrame>
        <p:nvGraphicFramePr>
          <p:cNvPr id="4" name="Chart 0"/>
          <p:cNvGraphicFramePr/>
          <p:nvPr/>
        </p:nvGraphicFramePr>
        <p:xfrm>
          <a:off x="548640" y="1234440"/>
          <a:ext cx="7315200" cy="457200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1"/>
          <p:cNvSpPr txBox="1"/>
          <p:nvPr/>
        </p:nvSpPr>
        <p:spPr>
          <a:xfrm>
            <a:off x="548640" y="5852160"/>
            <a:ext cx="7315200" cy="502920"/>
          </a:xfrm>
          <a:prstGeom prst="rect">
            <a:avLst/>
          </a:prstGeom>
          <a:noFill/>
          <a:ln/>
        </p:spPr>
        <p:txBody>
          <a:bodyPr wrap="square" lIns="0" tIns="0" rIns="0" bIns="0" rtlCol="0" anchor="t"/>
          <a:lstStyle/>
          <a:p>
            <a:pPr marL="0" indent="0" algn="l">
              <a:buNone/>
            </a:pPr>
            <a:r>
              <a:rPr lang="en-US" sz="1200" dirty="0">
                <a:solidFill>
                  <a:srgbClr val="5C6B5F"/>
                </a:solidFill>
                <a:latin typeface="Calibri" pitchFamily="34" charset="0"/>
                <a:ea typeface="Calibri" pitchFamily="34" charset="-122"/>
                <a:cs typeface="Calibri" pitchFamily="34" charset="-120"/>
              </a:rPr>
              <a:t>Độ lệch chuẩn (local): MF ±0.012 · CDR ±0.030 · IViDR joint ±0.015 · IViDR 2 GĐ ±0.013 · iDCF ±0.012. Popularity: 0.3511. CDR bài báo (0.6567) dùng giao thức khác.</a:t>
            </a:r>
            <a:endParaRPr lang="en-US" sz="1200" dirty="0"/>
          </a:p>
        </p:txBody>
      </p:sp>
      <p:sp>
        <p:nvSpPr>
          <p:cNvPr id="6" name="r1_bg"/>
          <p:cNvSpPr/>
          <p:nvPr/>
        </p:nvSpPr>
        <p:spPr>
          <a:xfrm>
            <a:off x="8138160" y="1280160"/>
            <a:ext cx="3502152" cy="1463040"/>
          </a:xfrm>
          <a:prstGeom prst="roundRect">
            <a:avLst>
              <a:gd name="adj" fmla="val 5000"/>
            </a:avLst>
          </a:prstGeom>
          <a:solidFill>
            <a:srgbClr val="EEF5E6"/>
          </a:solidFill>
          <a:ln w="9525">
            <a:solidFill>
              <a:srgbClr val="DCE8CF"/>
            </a:solidFill>
            <a:prstDash val="solid"/>
          </a:ln>
        </p:spPr>
      </p:sp>
      <p:sp>
        <p:nvSpPr>
          <p:cNvPr id="7" name="r1_head"/>
          <p:cNvSpPr txBox="1"/>
          <p:nvPr/>
        </p:nvSpPr>
        <p:spPr>
          <a:xfrm>
            <a:off x="8321040" y="1389888"/>
            <a:ext cx="3136392" cy="365760"/>
          </a:xfrm>
          <a:prstGeom prst="rect">
            <a:avLst/>
          </a:prstGeom>
          <a:noFill/>
          <a:ln/>
        </p:spPr>
        <p:txBody>
          <a:bodyPr wrap="square" lIns="0" tIns="0" rIns="0" bIns="0" rtlCol="0" anchor="t"/>
          <a:lstStyle/>
          <a:p>
            <a:pPr marL="0" indent="0" algn="l">
              <a:buNone/>
            </a:pPr>
            <a:r>
              <a:rPr lang="en-US" sz="1600" b="1" dirty="0">
                <a:solidFill>
                  <a:srgbClr val="6B4FA0"/>
                </a:solidFill>
                <a:latin typeface="Calibri" pitchFamily="34" charset="0"/>
                <a:ea typeface="Calibri" pitchFamily="34" charset="-122"/>
                <a:cs typeface="Calibri" pitchFamily="34" charset="-120"/>
              </a:rPr>
              <a:t>IViDR 2 GĐ − MF = +0.031</a:t>
            </a:r>
            <a:endParaRPr lang="en-US" sz="1600" dirty="0"/>
          </a:p>
        </p:txBody>
      </p:sp>
      <p:sp>
        <p:nvSpPr>
          <p:cNvPr id="8" name="r1_body"/>
          <p:cNvSpPr txBox="1"/>
          <p:nvPr/>
        </p:nvSpPr>
        <p:spPr>
          <a:xfrm>
            <a:off x="8321040" y="1783080"/>
            <a:ext cx="3136392" cy="868680"/>
          </a:xfrm>
          <a:prstGeom prst="rect">
            <a:avLst/>
          </a:prstGeom>
          <a:noFill/>
          <a:ln/>
        </p:spPr>
        <p:txBody>
          <a:bodyPr wrap="square" lIns="0" tIns="0" rIns="0" bIns="0" rtlCol="0" anchor="t"/>
          <a:lstStyle/>
          <a:p>
            <a:pPr marL="0" indent="0" algn="l">
              <a:buNone/>
            </a:pPr>
            <a:r>
              <a:rPr lang="en-US" sz="1400" dirty="0">
                <a:solidFill>
                  <a:srgbClr val="1B2A1F"/>
                </a:solidFill>
                <a:latin typeface="Calibri" pitchFamily="34" charset="0"/>
                <a:ea typeface="Calibri" pitchFamily="34" charset="-122"/>
                <a:cs typeface="Calibri" pitchFamily="34" charset="-120"/>
              </a:rPr>
              <a:t>p = 0.002, thắng 10/10 seed.</a:t>
            </a:r>
            <a:endParaRPr lang="en-US" sz="1400" dirty="0"/>
          </a:p>
        </p:txBody>
      </p:sp>
      <p:sp>
        <p:nvSpPr>
          <p:cNvPr id="9" name="r2_bg"/>
          <p:cNvSpPr/>
          <p:nvPr/>
        </p:nvSpPr>
        <p:spPr>
          <a:xfrm>
            <a:off x="8138160" y="2880360"/>
            <a:ext cx="3502152" cy="1463040"/>
          </a:xfrm>
          <a:prstGeom prst="roundRect">
            <a:avLst>
              <a:gd name="adj" fmla="val 5000"/>
            </a:avLst>
          </a:prstGeom>
          <a:solidFill>
            <a:srgbClr val="EEF5E6"/>
          </a:solidFill>
          <a:ln w="9525">
            <a:solidFill>
              <a:srgbClr val="DCE8CF"/>
            </a:solidFill>
            <a:prstDash val="solid"/>
          </a:ln>
        </p:spPr>
      </p:sp>
      <p:sp>
        <p:nvSpPr>
          <p:cNvPr id="10" name="r2_head"/>
          <p:cNvSpPr txBox="1"/>
          <p:nvPr/>
        </p:nvSpPr>
        <p:spPr>
          <a:xfrm>
            <a:off x="8321040" y="2990088"/>
            <a:ext cx="3136392" cy="365760"/>
          </a:xfrm>
          <a:prstGeom prst="rect">
            <a:avLst/>
          </a:prstGeom>
          <a:noFill/>
          <a:ln/>
        </p:spPr>
        <p:txBody>
          <a:bodyPr wrap="square" lIns="0" tIns="0" rIns="0" bIns="0" rtlCol="0" anchor="t"/>
          <a:lstStyle/>
          <a:p>
            <a:pPr marL="0" indent="0" algn="l">
              <a:buNone/>
            </a:pPr>
            <a:r>
              <a:rPr lang="en-US" sz="1600" b="1" dirty="0">
                <a:solidFill>
                  <a:srgbClr val="6B4FA0"/>
                </a:solidFill>
                <a:latin typeface="Calibri" pitchFamily="34" charset="0"/>
                <a:ea typeface="Calibri" pitchFamily="34" charset="-122"/>
                <a:cs typeface="Calibri" pitchFamily="34" charset="-120"/>
              </a:rPr>
              <a:t>IViDR 2 GĐ − iDCF = +0.0009</a:t>
            </a:r>
            <a:endParaRPr lang="en-US" sz="1600" dirty="0"/>
          </a:p>
        </p:txBody>
      </p:sp>
      <p:sp>
        <p:nvSpPr>
          <p:cNvPr id="11" name="r2_body"/>
          <p:cNvSpPr txBox="1"/>
          <p:nvPr/>
        </p:nvSpPr>
        <p:spPr>
          <a:xfrm>
            <a:off x="8321040" y="3383280"/>
            <a:ext cx="3136392" cy="868680"/>
          </a:xfrm>
          <a:prstGeom prst="rect">
            <a:avLst/>
          </a:prstGeom>
          <a:noFill/>
          <a:ln/>
        </p:spPr>
        <p:txBody>
          <a:bodyPr wrap="square" lIns="0" tIns="0" rIns="0" bIns="0" rtlCol="0" anchor="t"/>
          <a:lstStyle/>
          <a:p>
            <a:pPr marL="0" indent="0" algn="l">
              <a:buNone/>
            </a:pPr>
            <a:r>
              <a:rPr lang="en-US" sz="1400" dirty="0">
                <a:solidFill>
                  <a:srgbClr val="1B2A1F"/>
                </a:solidFill>
                <a:latin typeface="Calibri" pitchFamily="34" charset="0"/>
                <a:ea typeface="Calibri" pitchFamily="34" charset="-122"/>
                <a:cs typeface="Calibri" pitchFamily="34" charset="-120"/>
              </a:rPr>
              <a:t>p = 0.28: nhánh IV chưa đóng góp thêm.</a:t>
            </a:r>
            <a:endParaRPr lang="en-US" sz="1400" dirty="0"/>
          </a:p>
        </p:txBody>
      </p:sp>
      <p:sp>
        <p:nvSpPr>
          <p:cNvPr id="12" name="r3_bg"/>
          <p:cNvSpPr/>
          <p:nvPr/>
        </p:nvSpPr>
        <p:spPr>
          <a:xfrm>
            <a:off x="8138160" y="4480560"/>
            <a:ext cx="3502152" cy="1463040"/>
          </a:xfrm>
          <a:prstGeom prst="roundRect">
            <a:avLst>
              <a:gd name="adj" fmla="val 5000"/>
            </a:avLst>
          </a:prstGeom>
          <a:solidFill>
            <a:srgbClr val="EEF5E6"/>
          </a:solidFill>
          <a:ln w="9525">
            <a:solidFill>
              <a:srgbClr val="DCE8CF"/>
            </a:solidFill>
            <a:prstDash val="solid"/>
          </a:ln>
        </p:spPr>
      </p:sp>
      <p:sp>
        <p:nvSpPr>
          <p:cNvPr id="13" name="r3_head"/>
          <p:cNvSpPr txBox="1"/>
          <p:nvPr/>
        </p:nvSpPr>
        <p:spPr>
          <a:xfrm>
            <a:off x="8321040" y="4590288"/>
            <a:ext cx="3136392" cy="365760"/>
          </a:xfrm>
          <a:prstGeom prst="rect">
            <a:avLst/>
          </a:prstGeom>
          <a:noFill/>
          <a:ln/>
        </p:spPr>
        <p:txBody>
          <a:bodyPr wrap="square" lIns="0" tIns="0" rIns="0" bIns="0" rtlCol="0" anchor="t"/>
          <a:lstStyle/>
          <a:p>
            <a:pPr marL="0" indent="0" algn="l">
              <a:buNone/>
            </a:pPr>
            <a:r>
              <a:rPr lang="en-US" sz="1600" b="1" dirty="0">
                <a:solidFill>
                  <a:srgbClr val="E07B1F"/>
                </a:solidFill>
                <a:latin typeface="Calibri" pitchFamily="34" charset="0"/>
                <a:ea typeface="Calibri" pitchFamily="34" charset="-122"/>
                <a:cs typeface="Calibri" pitchFamily="34" charset="-120"/>
              </a:rPr>
              <a:t>CDR − MF = −0.032</a:t>
            </a:r>
            <a:endParaRPr lang="en-US" sz="1600" dirty="0"/>
          </a:p>
        </p:txBody>
      </p:sp>
      <p:sp>
        <p:nvSpPr>
          <p:cNvPr id="14" name="r3_body"/>
          <p:cNvSpPr txBox="1"/>
          <p:nvPr/>
        </p:nvSpPr>
        <p:spPr>
          <a:xfrm>
            <a:off x="8321040" y="4983480"/>
            <a:ext cx="3136392" cy="868680"/>
          </a:xfrm>
          <a:prstGeom prst="rect">
            <a:avLst/>
          </a:prstGeom>
          <a:noFill/>
          <a:ln/>
        </p:spPr>
        <p:txBody>
          <a:bodyPr wrap="square" lIns="0" tIns="0" rIns="0" bIns="0" rtlCol="0" anchor="t"/>
          <a:lstStyle/>
          <a:p>
            <a:pPr marL="0" indent="0" algn="l">
              <a:buNone/>
            </a:pPr>
            <a:r>
              <a:rPr lang="en-US" sz="1400" dirty="0">
                <a:solidFill>
                  <a:srgbClr val="1B2A1F"/>
                </a:solidFill>
                <a:latin typeface="Calibri" pitchFamily="34" charset="0"/>
                <a:ea typeface="Calibri" pitchFamily="34" charset="-122"/>
                <a:cs typeface="Calibri" pitchFamily="34" charset="-120"/>
              </a:rPr>
              <a:t>p = 0.004: CDR kém MF có ý nghĩa.</a:t>
            </a:r>
            <a:endParaRPr lang="en-US" sz="1400" dirty="0"/>
          </a:p>
        </p:txBody>
      </p:sp>
      <p:sp>
        <p:nvSpPr>
          <p:cNvPr id="25" name="Slide Number Placeholder 0"/>
          <p:cNvSpPr>
            <a:spLocks noGrp="1"/>
          </p:cNvSpPr>
          <p:nvPr>
            <p:ph type="sldNum" sz="quarter" idx="4294967295"/>
          </p:nvPr>
        </p:nvSpPr>
        <p:spPr>
          <a:xfrm>
            <a:off x="10972800" y="644652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B5F"/>
                </a:solidFill>
                <a:latin typeface="Calibri"/>
                <a:ea typeface="Calibri"/>
                <a:cs typeface="Calibri"/>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91672" cy="777240"/>
          </a:xfrm>
          <a:prstGeom prst="rect">
            <a:avLst/>
          </a:prstGeom>
          <a:noFill/>
          <a:ln/>
        </p:spPr>
        <p:txBody>
          <a:bodyPr wrap="square" lIns="0" tIns="0" rIns="0" bIns="0" rtlCol="0" anchor="ctr"/>
          <a:lstStyle/>
          <a:p>
            <a:pPr marL="0" indent="0" algn="l">
              <a:buNone/>
            </a:pPr>
            <a:r>
              <a:rPr lang="en-US" sz="3400" b="1" dirty="0">
                <a:solidFill>
                  <a:srgbClr val="1F4D2B"/>
                </a:solidFill>
                <a:latin typeface="Cambria" pitchFamily="34" charset="0"/>
                <a:ea typeface="Cambria" pitchFamily="34" charset="-122"/>
                <a:cs typeface="Cambria" pitchFamily="34" charset="-120"/>
              </a:rPr>
              <a:t>Kết quả trên KuaiRand-Pure</a:t>
            </a:r>
            <a:endParaRPr lang="en-US" sz="3400" dirty="0"/>
          </a:p>
        </p:txBody>
      </p:sp>
      <p:graphicFrame>
        <p:nvGraphicFramePr>
          <p:cNvPr id="4" name="Chart 0"/>
          <p:cNvGraphicFramePr/>
          <p:nvPr/>
        </p:nvGraphicFramePr>
        <p:xfrm>
          <a:off x="548640" y="1234440"/>
          <a:ext cx="6949440" cy="4754880"/>
        </p:xfrm>
        <a:graphic>
          <a:graphicData uri="http://schemas.openxmlformats.org/drawingml/2006/chart">
            <c:chart xmlns:c="http://schemas.openxmlformats.org/drawingml/2006/chart" xmlns:r="http://schemas.openxmlformats.org/officeDocument/2006/relationships" r:id="rId3"/>
          </a:graphicData>
        </a:graphic>
      </p:graphicFrame>
      <p:sp>
        <p:nvSpPr>
          <p:cNvPr id="5" name="k1_bg"/>
          <p:cNvSpPr/>
          <p:nvPr/>
        </p:nvSpPr>
        <p:spPr>
          <a:xfrm>
            <a:off x="7772400" y="1280160"/>
            <a:ext cx="3867912" cy="1508760"/>
          </a:xfrm>
          <a:prstGeom prst="roundRect">
            <a:avLst>
              <a:gd name="adj" fmla="val 4848"/>
            </a:avLst>
          </a:prstGeom>
          <a:solidFill>
            <a:srgbClr val="EEF5E6"/>
          </a:solidFill>
          <a:ln w="9525">
            <a:solidFill>
              <a:srgbClr val="DCE8CF"/>
            </a:solidFill>
            <a:prstDash val="solid"/>
          </a:ln>
        </p:spPr>
      </p:sp>
      <p:sp>
        <p:nvSpPr>
          <p:cNvPr id="6" name="k1_head"/>
          <p:cNvSpPr txBox="1"/>
          <p:nvPr/>
        </p:nvSpPr>
        <p:spPr>
          <a:xfrm>
            <a:off x="7955280" y="1389888"/>
            <a:ext cx="3502152" cy="365760"/>
          </a:xfrm>
          <a:prstGeom prst="rect">
            <a:avLst/>
          </a:prstGeom>
          <a:noFill/>
          <a:ln/>
        </p:spPr>
        <p:txBody>
          <a:bodyPr wrap="square" lIns="0" tIns="0" rIns="0" bIns="0" rtlCol="0" anchor="t"/>
          <a:lstStyle/>
          <a:p>
            <a:pPr marL="0" indent="0" algn="l">
              <a:buNone/>
            </a:pPr>
            <a:r>
              <a:rPr lang="en-US" sz="1600" b="1" dirty="0">
                <a:solidFill>
                  <a:srgbClr val="2E6FA3"/>
                </a:solidFill>
                <a:latin typeface="Calibri" pitchFamily="34" charset="0"/>
                <a:ea typeface="Calibri" pitchFamily="34" charset="-122"/>
                <a:cs typeface="Calibri" pitchFamily="34" charset="-120"/>
              </a:rPr>
              <a:t>MF mạnh nhất: 0.3744</a:t>
            </a:r>
            <a:endParaRPr lang="en-US" sz="1600" dirty="0"/>
          </a:p>
        </p:txBody>
      </p:sp>
      <p:sp>
        <p:nvSpPr>
          <p:cNvPr id="7" name="k1_body"/>
          <p:cNvSpPr txBox="1"/>
          <p:nvPr/>
        </p:nvSpPr>
        <p:spPr>
          <a:xfrm>
            <a:off x="7955280" y="1783080"/>
            <a:ext cx="3502152" cy="914400"/>
          </a:xfrm>
          <a:prstGeom prst="rect">
            <a:avLst/>
          </a:prstGeom>
          <a:noFill/>
          <a:ln/>
        </p:spPr>
        <p:txBody>
          <a:bodyPr wrap="square" lIns="0" tIns="0" rIns="0" bIns="0" rtlCol="0" anchor="t"/>
          <a:lstStyle/>
          <a:p>
            <a:pPr marL="0" indent="0" algn="l">
              <a:buNone/>
            </a:pPr>
            <a:r>
              <a:rPr lang="en-US" sz="1400" dirty="0">
                <a:solidFill>
                  <a:srgbClr val="1B2A1F"/>
                </a:solidFill>
                <a:latin typeface="Calibri" pitchFamily="34" charset="0"/>
                <a:ea typeface="Calibri" pitchFamily="34" charset="-122"/>
                <a:cs typeface="Calibri" pitchFamily="34" charset="-120"/>
              </a:rPr>
              <a:t>Gần bài báo (0.3748); hơn Popularity +0.017 (p = 5e-21).</a:t>
            </a:r>
            <a:endParaRPr lang="en-US" sz="1400" dirty="0"/>
          </a:p>
        </p:txBody>
      </p:sp>
      <p:sp>
        <p:nvSpPr>
          <p:cNvPr id="8" name="k2_bg"/>
          <p:cNvSpPr/>
          <p:nvPr/>
        </p:nvSpPr>
        <p:spPr>
          <a:xfrm>
            <a:off x="7772400" y="2926080"/>
            <a:ext cx="3867912" cy="1508760"/>
          </a:xfrm>
          <a:prstGeom prst="roundRect">
            <a:avLst>
              <a:gd name="adj" fmla="val 4848"/>
            </a:avLst>
          </a:prstGeom>
          <a:solidFill>
            <a:srgbClr val="EEF5E6"/>
          </a:solidFill>
          <a:ln w="9525">
            <a:solidFill>
              <a:srgbClr val="DCE8CF"/>
            </a:solidFill>
            <a:prstDash val="solid"/>
          </a:ln>
        </p:spPr>
      </p:sp>
      <p:sp>
        <p:nvSpPr>
          <p:cNvPr id="9" name="k2_head"/>
          <p:cNvSpPr txBox="1"/>
          <p:nvPr/>
        </p:nvSpPr>
        <p:spPr>
          <a:xfrm>
            <a:off x="7955280" y="3035808"/>
            <a:ext cx="3502152" cy="365760"/>
          </a:xfrm>
          <a:prstGeom prst="rect">
            <a:avLst/>
          </a:prstGeom>
          <a:noFill/>
          <a:ln/>
        </p:spPr>
        <p:txBody>
          <a:bodyPr wrap="square" lIns="0" tIns="0" rIns="0" bIns="0" rtlCol="0" anchor="t"/>
          <a:lstStyle/>
          <a:p>
            <a:pPr marL="0" indent="0" algn="l">
              <a:buNone/>
            </a:pPr>
            <a:r>
              <a:rPr lang="en-US" sz="1600" b="1" dirty="0">
                <a:solidFill>
                  <a:srgbClr val="6B4FA0"/>
                </a:solidFill>
                <a:latin typeface="Calibri" pitchFamily="34" charset="0"/>
                <a:ea typeface="Calibri" pitchFamily="34" charset="-122"/>
                <a:cs typeface="Calibri" pitchFamily="34" charset="-120"/>
              </a:rPr>
              <a:t>IViDR joint: 0.3630</a:t>
            </a:r>
            <a:endParaRPr lang="en-US" sz="1600" dirty="0"/>
          </a:p>
        </p:txBody>
      </p:sp>
      <p:sp>
        <p:nvSpPr>
          <p:cNvPr id="10" name="k2_body"/>
          <p:cNvSpPr txBox="1"/>
          <p:nvPr/>
        </p:nvSpPr>
        <p:spPr>
          <a:xfrm>
            <a:off x="7955280" y="3429000"/>
            <a:ext cx="3502152" cy="914400"/>
          </a:xfrm>
          <a:prstGeom prst="rect">
            <a:avLst/>
          </a:prstGeom>
          <a:noFill/>
          <a:ln/>
        </p:spPr>
        <p:txBody>
          <a:bodyPr wrap="square" lIns="0" tIns="0" rIns="0" bIns="0" rtlCol="0" anchor="t"/>
          <a:lstStyle/>
          <a:p>
            <a:pPr marL="0" indent="0" algn="l">
              <a:buNone/>
            </a:pPr>
            <a:r>
              <a:rPr lang="en-US" sz="1400" dirty="0">
                <a:solidFill>
                  <a:srgbClr val="1B2A1F"/>
                </a:solidFill>
                <a:latin typeface="Calibri" pitchFamily="34" charset="0"/>
                <a:ea typeface="Calibri" pitchFamily="34" charset="-122"/>
                <a:cs typeface="Calibri" pitchFamily="34" charset="-120"/>
              </a:rPr>
              <a:t>Hơn Popularity +0.005 (p = 0.02), nhưng kém MF −0.011 (p = 2e-9).</a:t>
            </a:r>
            <a:endParaRPr lang="en-US" sz="1400" dirty="0"/>
          </a:p>
        </p:txBody>
      </p:sp>
      <p:sp>
        <p:nvSpPr>
          <p:cNvPr id="11" name="k3_bg"/>
          <p:cNvSpPr/>
          <p:nvPr/>
        </p:nvSpPr>
        <p:spPr>
          <a:xfrm>
            <a:off x="7772400" y="4572000"/>
            <a:ext cx="3867912" cy="1508760"/>
          </a:xfrm>
          <a:prstGeom prst="roundRect">
            <a:avLst>
              <a:gd name="adj" fmla="val 4848"/>
            </a:avLst>
          </a:prstGeom>
          <a:solidFill>
            <a:srgbClr val="EEF5E6"/>
          </a:solidFill>
          <a:ln w="9525">
            <a:solidFill>
              <a:srgbClr val="DCE8CF"/>
            </a:solidFill>
            <a:prstDash val="solid"/>
          </a:ln>
        </p:spPr>
      </p:sp>
      <p:sp>
        <p:nvSpPr>
          <p:cNvPr id="12" name="k3_head"/>
          <p:cNvSpPr txBox="1"/>
          <p:nvPr/>
        </p:nvSpPr>
        <p:spPr>
          <a:xfrm>
            <a:off x="7955280" y="4681728"/>
            <a:ext cx="3502152" cy="365760"/>
          </a:xfrm>
          <a:prstGeom prst="rect">
            <a:avLst/>
          </a:prstGeom>
          <a:noFill/>
          <a:ln/>
        </p:spPr>
        <p:txBody>
          <a:bodyPr wrap="square" lIns="0" tIns="0" rIns="0" bIns="0" rtlCol="0" anchor="t"/>
          <a:lstStyle/>
          <a:p>
            <a:pPr marL="0" indent="0" algn="l">
              <a:buNone/>
            </a:pPr>
            <a:r>
              <a:rPr lang="en-US" sz="1600" b="1" dirty="0">
                <a:solidFill>
                  <a:srgbClr val="E07B1F"/>
                </a:solidFill>
                <a:latin typeface="Calibri" pitchFamily="34" charset="0"/>
                <a:ea typeface="Calibri" pitchFamily="34" charset="-122"/>
                <a:cs typeface="Calibri" pitchFamily="34" charset="-120"/>
              </a:rPr>
              <a:t>CDR: 0.3459</a:t>
            </a:r>
            <a:endParaRPr lang="en-US" sz="1600" dirty="0"/>
          </a:p>
        </p:txBody>
      </p:sp>
      <p:sp>
        <p:nvSpPr>
          <p:cNvPr id="13" name="k3_body"/>
          <p:cNvSpPr txBox="1"/>
          <p:nvPr/>
        </p:nvSpPr>
        <p:spPr>
          <a:xfrm>
            <a:off x="7955280" y="5074920"/>
            <a:ext cx="3502152" cy="914400"/>
          </a:xfrm>
          <a:prstGeom prst="rect">
            <a:avLst/>
          </a:prstGeom>
          <a:noFill/>
          <a:ln/>
        </p:spPr>
        <p:txBody>
          <a:bodyPr wrap="square" lIns="0" tIns="0" rIns="0" bIns="0" rtlCol="0" anchor="t"/>
          <a:lstStyle/>
          <a:p>
            <a:pPr marL="0" indent="0" algn="l">
              <a:buNone/>
            </a:pPr>
            <a:r>
              <a:rPr lang="en-US" sz="1400" dirty="0">
                <a:solidFill>
                  <a:srgbClr val="1B2A1F"/>
                </a:solidFill>
                <a:latin typeface="Calibri" pitchFamily="34" charset="0"/>
                <a:ea typeface="Calibri" pitchFamily="34" charset="-122"/>
                <a:cs typeface="Calibri" pitchFamily="34" charset="-120"/>
              </a:rPr>
              <a:t>Kém Popularity −0.012 và kém MF −0.029. Mới 1 seed.</a:t>
            </a:r>
            <a:endParaRPr lang="en-US" sz="1400" dirty="0"/>
          </a:p>
        </p:txBody>
      </p:sp>
      <p:sp>
        <p:nvSpPr>
          <p:cNvPr id="25" name="Slide Number Placeholder 0"/>
          <p:cNvSpPr>
            <a:spLocks noGrp="1"/>
          </p:cNvSpPr>
          <p:nvPr>
            <p:ph type="sldNum" sz="quarter" idx="4294967295"/>
          </p:nvPr>
        </p:nvSpPr>
        <p:spPr>
          <a:xfrm>
            <a:off x="10972800" y="644652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B5F"/>
                </a:solidFill>
                <a:latin typeface="Calibri"/>
                <a:ea typeface="Calibri"/>
                <a:cs typeface="Calibri"/>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91672" cy="777240"/>
          </a:xfrm>
          <a:prstGeom prst="rect">
            <a:avLst/>
          </a:prstGeom>
          <a:noFill/>
          <a:ln/>
        </p:spPr>
        <p:txBody>
          <a:bodyPr wrap="square" lIns="0" tIns="0" rIns="0" bIns="0" rtlCol="0" anchor="ctr"/>
          <a:lstStyle/>
          <a:p>
            <a:pPr marL="0" indent="0" algn="l">
              <a:buNone/>
            </a:pPr>
            <a:r>
              <a:rPr lang="en-US" sz="3400" b="1" dirty="0">
                <a:solidFill>
                  <a:srgbClr val="1F4D2B"/>
                </a:solidFill>
                <a:latin typeface="Cambria" pitchFamily="34" charset="0"/>
                <a:ea typeface="Cambria" pitchFamily="34" charset="-122"/>
                <a:cs typeface="Cambria" pitchFamily="34" charset="-120"/>
              </a:rPr>
              <a:t>Vì sao thấp hơn bài báo?</a:t>
            </a:r>
            <a:endParaRPr lang="en-US" sz="3400" dirty="0"/>
          </a:p>
        </p:txBody>
      </p:sp>
      <p:graphicFrame>
        <p:nvGraphicFramePr>
          <p:cNvPr id="4" name="Chart 0"/>
          <p:cNvGraphicFramePr/>
          <p:nvPr/>
        </p:nvGraphicFramePr>
        <p:xfrm>
          <a:off x="548640" y="1234440"/>
          <a:ext cx="6035040" cy="4754880"/>
        </p:xfrm>
        <a:graphic>
          <a:graphicData uri="http://schemas.openxmlformats.org/drawingml/2006/chart">
            <c:chart xmlns:c="http://schemas.openxmlformats.org/drawingml/2006/chart" xmlns:r="http://schemas.openxmlformats.org/officeDocument/2006/relationships" r:id="rId3"/>
          </a:graphicData>
        </a:graphic>
      </p:graphicFrame>
      <p:sp>
        <p:nvSpPr>
          <p:cNvPr id="5" name="w1_bg"/>
          <p:cNvSpPr/>
          <p:nvPr/>
        </p:nvSpPr>
        <p:spPr>
          <a:xfrm>
            <a:off x="6858000" y="1280160"/>
            <a:ext cx="4782312" cy="1554480"/>
          </a:xfrm>
          <a:prstGeom prst="roundRect">
            <a:avLst>
              <a:gd name="adj" fmla="val 4706"/>
            </a:avLst>
          </a:prstGeom>
          <a:solidFill>
            <a:srgbClr val="EEF5E6"/>
          </a:solidFill>
          <a:ln w="9525">
            <a:solidFill>
              <a:srgbClr val="DCE8CF"/>
            </a:solidFill>
            <a:prstDash val="solid"/>
          </a:ln>
        </p:spPr>
      </p:sp>
      <p:sp>
        <p:nvSpPr>
          <p:cNvPr id="6" name="w1_head"/>
          <p:cNvSpPr txBox="1"/>
          <p:nvPr/>
        </p:nvSpPr>
        <p:spPr>
          <a:xfrm>
            <a:off x="7040880" y="1389888"/>
            <a:ext cx="4416552" cy="365760"/>
          </a:xfrm>
          <a:prstGeom prst="rect">
            <a:avLst/>
          </a:prstGeom>
          <a:noFill/>
          <a:ln/>
        </p:spPr>
        <p:txBody>
          <a:bodyPr wrap="square" lIns="0" tIns="0" rIns="0" bIns="0" rtlCol="0" anchor="t"/>
          <a:lstStyle/>
          <a:p>
            <a:pPr marL="0" indent="0" algn="l">
              <a:buNone/>
            </a:pPr>
            <a:r>
              <a:rPr lang="en-US" sz="1600" b="1" dirty="0">
                <a:solidFill>
                  <a:srgbClr val="3E7D3A"/>
                </a:solidFill>
                <a:latin typeface="Calibri" pitchFamily="34" charset="0"/>
                <a:ea typeface="Calibri" pitchFamily="34" charset="-122"/>
                <a:cs typeface="Calibri" pitchFamily="34" charset="-120"/>
              </a:rPr>
              <a:t>Nguyên nhân 1: loss của MF</a:t>
            </a:r>
            <a:endParaRPr lang="en-US" sz="1600" dirty="0"/>
          </a:p>
        </p:txBody>
      </p:sp>
      <p:sp>
        <p:nvSpPr>
          <p:cNvPr id="7" name="w1_body"/>
          <p:cNvSpPr txBox="1"/>
          <p:nvPr/>
        </p:nvSpPr>
        <p:spPr>
          <a:xfrm>
            <a:off x="7040880" y="1783080"/>
            <a:ext cx="4416552" cy="960120"/>
          </a:xfrm>
          <a:prstGeom prst="rect">
            <a:avLst/>
          </a:prstGeom>
          <a:noFill/>
          <a:ln/>
        </p:spPr>
        <p:txBody>
          <a:bodyPr wrap="square" lIns="0" tIns="0" rIns="0" bIns="0" rtlCol="0" anchor="t"/>
          <a:lstStyle/>
          <a:p>
            <a:pPr marL="342900" indent="-342900" algn="l">
              <a:spcAft>
                <a:spcPts val="400"/>
              </a:spcAft>
              <a:buSzPct val="100000"/>
              <a:buChar char="•"/>
            </a:pPr>
            <a:r>
              <a:rPr lang="en-US" sz="1400" dirty="0">
                <a:solidFill>
                  <a:srgbClr val="1B2A1F"/>
                </a:solidFill>
                <a:latin typeface="Calibri" pitchFamily="34" charset="0"/>
                <a:ea typeface="Calibri" pitchFamily="34" charset="-122"/>
                <a:cs typeface="Calibri" pitchFamily="34" charset="-120"/>
              </a:rPr>
              <a:t>BCE → MSE: 0.4646 → 0.5402 (+0.076)</a:t>
            </a:r>
            <a:endParaRPr lang="en-US" sz="1400" dirty="0"/>
          </a:p>
          <a:p>
            <a:pPr marL="342900" indent="-342900" algn="l">
              <a:spcAft>
                <a:spcPts val="400"/>
              </a:spcAft>
              <a:buSzPct val="100000"/>
              <a:buChar char="•"/>
            </a:pPr>
            <a:r>
              <a:rPr lang="en-US" sz="1400" dirty="0">
                <a:solidFill>
                  <a:srgbClr val="1B2A1F"/>
                </a:solidFill>
                <a:latin typeface="Calibri" pitchFamily="34" charset="0"/>
                <a:ea typeface="Calibri" pitchFamily="34" charset="-122"/>
                <a:cs typeface="Calibri" pitchFamily="34" charset="-120"/>
              </a:rPr>
              <a:t>Đổi lr/wd gần như không ảnh hưởng</a:t>
            </a:r>
            <a:endParaRPr lang="en-US" sz="1400" dirty="0"/>
          </a:p>
        </p:txBody>
      </p:sp>
      <p:sp>
        <p:nvSpPr>
          <p:cNvPr id="8" name="w2_bg"/>
          <p:cNvSpPr/>
          <p:nvPr/>
        </p:nvSpPr>
        <p:spPr>
          <a:xfrm>
            <a:off x="6858000" y="2971800"/>
            <a:ext cx="4782312" cy="1554480"/>
          </a:xfrm>
          <a:prstGeom prst="roundRect">
            <a:avLst>
              <a:gd name="adj" fmla="val 4706"/>
            </a:avLst>
          </a:prstGeom>
          <a:solidFill>
            <a:srgbClr val="EEF5E6"/>
          </a:solidFill>
          <a:ln w="9525">
            <a:solidFill>
              <a:srgbClr val="DCE8CF"/>
            </a:solidFill>
            <a:prstDash val="solid"/>
          </a:ln>
        </p:spPr>
      </p:sp>
      <p:sp>
        <p:nvSpPr>
          <p:cNvPr id="9" name="w2_head"/>
          <p:cNvSpPr txBox="1"/>
          <p:nvPr/>
        </p:nvSpPr>
        <p:spPr>
          <a:xfrm>
            <a:off x="7040880" y="3081528"/>
            <a:ext cx="4416552" cy="365760"/>
          </a:xfrm>
          <a:prstGeom prst="rect">
            <a:avLst/>
          </a:prstGeom>
          <a:noFill/>
          <a:ln/>
        </p:spPr>
        <p:txBody>
          <a:bodyPr wrap="square" lIns="0" tIns="0" rIns="0" bIns="0" rtlCol="0" anchor="t"/>
          <a:lstStyle/>
          <a:p>
            <a:pPr marL="0" indent="0" algn="l">
              <a:buNone/>
            </a:pPr>
            <a:r>
              <a:rPr lang="en-US" sz="1600" b="1" dirty="0">
                <a:solidFill>
                  <a:srgbClr val="E07B1F"/>
                </a:solidFill>
                <a:latin typeface="Calibri" pitchFamily="34" charset="0"/>
                <a:ea typeface="Calibri" pitchFamily="34" charset="-122"/>
                <a:cs typeface="Calibri" pitchFamily="34" charset="-120"/>
              </a:rPr>
              <a:t>Nguyên nhân 2: giao thức CDR khác</a:t>
            </a:r>
            <a:endParaRPr lang="en-US" sz="1600" dirty="0"/>
          </a:p>
        </p:txBody>
      </p:sp>
      <p:sp>
        <p:nvSpPr>
          <p:cNvPr id="10" name="w2_body"/>
          <p:cNvSpPr txBox="1"/>
          <p:nvPr/>
        </p:nvSpPr>
        <p:spPr>
          <a:xfrm>
            <a:off x="7040880" y="3474720"/>
            <a:ext cx="4416552" cy="960120"/>
          </a:xfrm>
          <a:prstGeom prst="rect">
            <a:avLst/>
          </a:prstGeom>
          <a:noFill/>
          <a:ln/>
        </p:spPr>
        <p:txBody>
          <a:bodyPr wrap="square" lIns="0" tIns="0" rIns="0" bIns="0" rtlCol="0" anchor="t"/>
          <a:lstStyle/>
          <a:p>
            <a:pPr marL="342900" indent="-342900" algn="l">
              <a:spcAft>
                <a:spcPts val="400"/>
              </a:spcAft>
              <a:buSzPct val="100000"/>
              <a:buChar char="•"/>
            </a:pPr>
            <a:r>
              <a:rPr lang="en-US" sz="1400" dirty="0">
                <a:solidFill>
                  <a:srgbClr val="1B2A1F"/>
                </a:solidFill>
                <a:latin typeface="Calibri" pitchFamily="34" charset="0"/>
                <a:ea typeface="Calibri" pitchFamily="34" charset="-122"/>
                <a:cs typeface="Calibri" pitchFamily="34" charset="-120"/>
              </a:rPr>
              <a:t>Rating ≥ 3 là dương; random đã đạt ≈ 0.46</a:t>
            </a:r>
            <a:endParaRPr lang="en-US" sz="1400" dirty="0"/>
          </a:p>
          <a:p>
            <a:pPr marL="342900" indent="-342900" algn="l">
              <a:spcAft>
                <a:spcPts val="400"/>
              </a:spcAft>
              <a:buSzPct val="100000"/>
              <a:buChar char="•"/>
            </a:pPr>
            <a:r>
              <a:rPr lang="en-US" sz="1400" dirty="0">
                <a:solidFill>
                  <a:srgbClr val="1B2A1F"/>
                </a:solidFill>
                <a:latin typeface="Calibri" pitchFamily="34" charset="0"/>
                <a:ea typeface="Calibri" pitchFamily="34" charset="-122"/>
                <a:cs typeface="Calibri" pitchFamily="34" charset="-120"/>
              </a:rPr>
              <a:t>Chạy đúng giao thức đó: 0.666 (bài báo 0.6567)</a:t>
            </a:r>
            <a:endParaRPr lang="en-US" sz="1400" dirty="0"/>
          </a:p>
        </p:txBody>
      </p:sp>
      <p:sp>
        <p:nvSpPr>
          <p:cNvPr id="11" name="w3_bg"/>
          <p:cNvSpPr/>
          <p:nvPr/>
        </p:nvSpPr>
        <p:spPr>
          <a:xfrm>
            <a:off x="6858000" y="4663440"/>
            <a:ext cx="4782312" cy="1554480"/>
          </a:xfrm>
          <a:prstGeom prst="roundRect">
            <a:avLst>
              <a:gd name="adj" fmla="val 4706"/>
            </a:avLst>
          </a:prstGeom>
          <a:solidFill>
            <a:srgbClr val="EEF5E6"/>
          </a:solidFill>
          <a:ln w="9525">
            <a:solidFill>
              <a:srgbClr val="DCE8CF"/>
            </a:solidFill>
            <a:prstDash val="solid"/>
          </a:ln>
        </p:spPr>
      </p:sp>
      <p:sp>
        <p:nvSpPr>
          <p:cNvPr id="12" name="w3_head"/>
          <p:cNvSpPr txBox="1"/>
          <p:nvPr/>
        </p:nvSpPr>
        <p:spPr>
          <a:xfrm>
            <a:off x="7040880" y="4773168"/>
            <a:ext cx="4416552" cy="365760"/>
          </a:xfrm>
          <a:prstGeom prst="rect">
            <a:avLst/>
          </a:prstGeom>
          <a:noFill/>
          <a:ln/>
        </p:spPr>
        <p:txBody>
          <a:bodyPr wrap="square" lIns="0" tIns="0" rIns="0" bIns="0" rtlCol="0" anchor="t"/>
          <a:lstStyle/>
          <a:p>
            <a:pPr marL="0" indent="0" algn="l">
              <a:buNone/>
            </a:pPr>
            <a:r>
              <a:rPr lang="en-US" sz="1600" b="1" dirty="0">
                <a:solidFill>
                  <a:srgbClr val="6B4FA0"/>
                </a:solidFill>
                <a:latin typeface="Calibri" pitchFamily="34" charset="0"/>
                <a:ea typeface="Calibri" pitchFamily="34" charset="-122"/>
                <a:cs typeface="Calibri" pitchFamily="34" charset="-120"/>
              </a:rPr>
              <a:t>Nguyên nhân 3: kiến trúc IViDR</a:t>
            </a:r>
            <a:endParaRPr lang="en-US" sz="1600" dirty="0"/>
          </a:p>
        </p:txBody>
      </p:sp>
      <p:sp>
        <p:nvSpPr>
          <p:cNvPr id="13" name="w3_body"/>
          <p:cNvSpPr txBox="1"/>
          <p:nvPr/>
        </p:nvSpPr>
        <p:spPr>
          <a:xfrm>
            <a:off x="7040880" y="5166360"/>
            <a:ext cx="4416552" cy="960120"/>
          </a:xfrm>
          <a:prstGeom prst="rect">
            <a:avLst/>
          </a:prstGeom>
          <a:noFill/>
          <a:ln/>
        </p:spPr>
        <p:txBody>
          <a:bodyPr wrap="square" lIns="0" tIns="0" rIns="0" bIns="0" rtlCol="0" anchor="t"/>
          <a:lstStyle/>
          <a:p>
            <a:pPr marL="342900" indent="-342900" algn="l">
              <a:spcAft>
                <a:spcPts val="400"/>
              </a:spcAft>
              <a:buSzPct val="100000"/>
              <a:buChar char="•"/>
            </a:pPr>
            <a:r>
              <a:rPr lang="en-US" sz="1400" dirty="0">
                <a:solidFill>
                  <a:srgbClr val="1B2A1F"/>
                </a:solidFill>
                <a:latin typeface="Calibri" pitchFamily="34" charset="0"/>
                <a:ea typeface="Calibri" pitchFamily="34" charset="-122"/>
                <a:cs typeface="Calibri" pitchFamily="34" charset="-120"/>
              </a:rPr>
              <a:t>Joint → 2 giai đoạn: 0.5440 → 0.5712</a:t>
            </a:r>
            <a:endParaRPr lang="en-US" sz="1400" dirty="0"/>
          </a:p>
          <a:p>
            <a:pPr marL="342900" indent="-342900" algn="l">
              <a:spcAft>
                <a:spcPts val="400"/>
              </a:spcAft>
              <a:buSzPct val="100000"/>
              <a:buChar char="•"/>
            </a:pPr>
            <a:r>
              <a:rPr lang="en-US" sz="1400" dirty="0">
                <a:solidFill>
                  <a:srgbClr val="1B2A1F"/>
                </a:solidFill>
                <a:latin typeface="Calibri" pitchFamily="34" charset="0"/>
                <a:ea typeface="Calibri" pitchFamily="34" charset="-122"/>
                <a:cs typeface="Calibri" pitchFamily="34" charset="-120"/>
              </a:rPr>
              <a:t>Còn thiếu ~0.02 so với bài báo (0.5903)</a:t>
            </a:r>
            <a:endParaRPr lang="en-US" sz="1400" dirty="0"/>
          </a:p>
        </p:txBody>
      </p:sp>
      <p:sp>
        <p:nvSpPr>
          <p:cNvPr id="25" name="Slide Number Placeholder 0"/>
          <p:cNvSpPr>
            <a:spLocks noGrp="1"/>
          </p:cNvSpPr>
          <p:nvPr>
            <p:ph type="sldNum" sz="quarter" idx="4294967295"/>
          </p:nvPr>
        </p:nvSpPr>
        <p:spPr>
          <a:xfrm>
            <a:off x="10972800" y="644652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B5F"/>
                </a:solidFill>
                <a:latin typeface="Calibri"/>
                <a:ea typeface="Calibri"/>
                <a:cs typeface="Calibri"/>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91672" cy="777240"/>
          </a:xfrm>
          <a:prstGeom prst="rect">
            <a:avLst/>
          </a:prstGeom>
          <a:noFill/>
          <a:ln/>
        </p:spPr>
        <p:txBody>
          <a:bodyPr wrap="square" lIns="0" tIns="0" rIns="0" bIns="0" rtlCol="0" anchor="ctr"/>
          <a:lstStyle/>
          <a:p>
            <a:pPr marL="0" indent="0" algn="l">
              <a:buNone/>
            </a:pPr>
            <a:r>
              <a:rPr lang="en-US" sz="3400" b="1" dirty="0">
                <a:solidFill>
                  <a:srgbClr val="1F4D2B"/>
                </a:solidFill>
                <a:latin typeface="Cambria" pitchFamily="34" charset="0"/>
                <a:ea typeface="Cambria" pitchFamily="34" charset="-122"/>
                <a:cs typeface="Cambria" pitchFamily="34" charset="-120"/>
              </a:rPr>
              <a:t>Hệ thống gợi ý cho app TopTop</a:t>
            </a:r>
            <a:endParaRPr lang="en-US" sz="3400" dirty="0"/>
          </a:p>
        </p:txBody>
      </p:sp>
      <p:sp>
        <p:nvSpPr>
          <p:cNvPr id="4" name="sys_app"/>
          <p:cNvSpPr/>
          <p:nvPr/>
        </p:nvSpPr>
        <p:spPr>
          <a:xfrm>
            <a:off x="548640" y="1554480"/>
            <a:ext cx="2103120" cy="1005840"/>
          </a:xfrm>
          <a:prstGeom prst="roundRect">
            <a:avLst>
              <a:gd name="adj" fmla="val 7273"/>
            </a:avLst>
          </a:prstGeom>
          <a:solidFill>
            <a:srgbClr val="3E7D3A"/>
          </a:solidFill>
          <a:ln w="12700">
            <a:solidFill>
              <a:srgbClr val="3E7D3A"/>
            </a:solidFill>
            <a:prstDash val="solid"/>
          </a:ln>
        </p:spPr>
        <p:txBody>
          <a:bodyPr wrap="square" lIns="762" tIns="762" rIns="762" bIns="762"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App Flutter</a:t>
            </a:r>
            <a:endParaRPr lang="en-US" sz="1600" dirty="0"/>
          </a:p>
          <a:p>
            <a:pPr marL="0" indent="0" algn="ctr">
              <a:buNone/>
            </a:pPr>
            <a:r>
              <a:rPr lang="en-US" sz="1600" b="1" dirty="0">
                <a:solidFill>
                  <a:srgbClr val="FFFFFF"/>
                </a:solidFill>
                <a:latin typeface="Calibri" pitchFamily="34" charset="0"/>
                <a:ea typeface="Calibri" pitchFamily="34" charset="-122"/>
                <a:cs typeface="Calibri" pitchFamily="34" charset="-120"/>
              </a:rPr>
              <a:t>TopTop</a:t>
            </a:r>
            <a:endParaRPr lang="en-US" sz="1600" dirty="0"/>
          </a:p>
        </p:txBody>
      </p:sp>
      <p:sp>
        <p:nvSpPr>
          <p:cNvPr id="5" name="sys_tun"/>
          <p:cNvSpPr/>
          <p:nvPr/>
        </p:nvSpPr>
        <p:spPr>
          <a:xfrm>
            <a:off x="3291840" y="1554480"/>
            <a:ext cx="2103120" cy="1005840"/>
          </a:xfrm>
          <a:prstGeom prst="roundRect">
            <a:avLst>
              <a:gd name="adj" fmla="val 7273"/>
            </a:avLst>
          </a:prstGeom>
          <a:solidFill>
            <a:srgbClr val="E07B1F"/>
          </a:solidFill>
          <a:ln w="12700">
            <a:solidFill>
              <a:srgbClr val="E07B1F"/>
            </a:solidFill>
            <a:prstDash val="solid"/>
          </a:ln>
        </p:spPr>
        <p:txBody>
          <a:bodyPr wrap="square" lIns="762" tIns="762" rIns="762" bIns="762"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Cloudflare</a:t>
            </a:r>
            <a:endParaRPr lang="en-US" sz="1600" dirty="0"/>
          </a:p>
          <a:p>
            <a:pPr marL="0" indent="0" algn="ctr">
              <a:buNone/>
            </a:pPr>
            <a:r>
              <a:rPr lang="en-US" sz="1600" b="1" dirty="0">
                <a:solidFill>
                  <a:srgbClr val="FFFFFF"/>
                </a:solidFill>
                <a:latin typeface="Calibri" pitchFamily="34" charset="0"/>
                <a:ea typeface="Calibri" pitchFamily="34" charset="-122"/>
                <a:cs typeface="Calibri" pitchFamily="34" charset="-120"/>
              </a:rPr>
              <a:t>Quick Tunnel</a:t>
            </a:r>
            <a:endParaRPr lang="en-US" sz="1600" dirty="0"/>
          </a:p>
        </p:txBody>
      </p:sp>
      <p:sp>
        <p:nvSpPr>
          <p:cNvPr id="6" name="sys_api"/>
          <p:cNvSpPr/>
          <p:nvPr/>
        </p:nvSpPr>
        <p:spPr>
          <a:xfrm>
            <a:off x="6035040" y="1554480"/>
            <a:ext cx="2560320" cy="1005840"/>
          </a:xfrm>
          <a:prstGeom prst="roundRect">
            <a:avLst>
              <a:gd name="adj" fmla="val 7273"/>
            </a:avLst>
          </a:prstGeom>
          <a:solidFill>
            <a:srgbClr val="2E6FA3"/>
          </a:solidFill>
          <a:ln w="12700">
            <a:solidFill>
              <a:srgbClr val="2E6FA3"/>
            </a:solidFill>
            <a:prstDash val="solid"/>
          </a:ln>
        </p:spPr>
        <p:txBody>
          <a:bodyPr wrap="square" lIns="762" tIns="762" rIns="762" bIns="762"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FastAPI + Uvicorn</a:t>
            </a:r>
            <a:endParaRPr lang="en-US" sz="1600" dirty="0"/>
          </a:p>
          <a:p>
            <a:pPr marL="0" indent="0" algn="ctr">
              <a:buNone/>
            </a:pPr>
            <a:r>
              <a:rPr lang="en-US" sz="1600" b="1" dirty="0">
                <a:solidFill>
                  <a:srgbClr val="FFFFFF"/>
                </a:solidFill>
                <a:latin typeface="Calibri" pitchFamily="34" charset="0"/>
                <a:ea typeface="Calibri" pitchFamily="34" charset="-122"/>
                <a:cs typeface="Calibri" pitchFamily="34" charset="-120"/>
              </a:rPr>
              <a:t>(Google Colab)</a:t>
            </a:r>
            <a:endParaRPr lang="en-US" sz="1600" dirty="0"/>
          </a:p>
        </p:txBody>
      </p:sp>
      <p:sp>
        <p:nvSpPr>
          <p:cNvPr id="7" name="sys_fb"/>
          <p:cNvSpPr/>
          <p:nvPr/>
        </p:nvSpPr>
        <p:spPr>
          <a:xfrm>
            <a:off x="9326880" y="1554480"/>
            <a:ext cx="2286000" cy="1005840"/>
          </a:xfrm>
          <a:prstGeom prst="roundRect">
            <a:avLst>
              <a:gd name="adj" fmla="val 7273"/>
            </a:avLst>
          </a:prstGeom>
          <a:solidFill>
            <a:srgbClr val="6B4FA0"/>
          </a:solidFill>
          <a:ln w="12700">
            <a:solidFill>
              <a:srgbClr val="6B4FA0"/>
            </a:solidFill>
            <a:prstDash val="solid"/>
          </a:ln>
        </p:spPr>
        <p:txBody>
          <a:bodyPr wrap="square" lIns="762" tIns="762" rIns="762" bIns="762"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Firebase</a:t>
            </a:r>
            <a:endParaRPr lang="en-US" sz="1600" dirty="0"/>
          </a:p>
          <a:p>
            <a:pPr marL="0" indent="0" algn="ctr">
              <a:buNone/>
            </a:pPr>
            <a:r>
              <a:rPr lang="en-US" sz="1600" b="1" dirty="0">
                <a:solidFill>
                  <a:srgbClr val="FFFFFF"/>
                </a:solidFill>
                <a:latin typeface="Calibri" pitchFamily="34" charset="0"/>
                <a:ea typeface="Calibri" pitchFamily="34" charset="-122"/>
                <a:cs typeface="Calibri" pitchFamily="34" charset="-120"/>
              </a:rPr>
              <a:t>Firestore + RTDB</a:t>
            </a:r>
            <a:endParaRPr lang="en-US" sz="1600" dirty="0"/>
          </a:p>
        </p:txBody>
      </p:sp>
      <p:sp>
        <p:nvSpPr>
          <p:cNvPr id="8" name="Shape 5"/>
          <p:cNvSpPr/>
          <p:nvPr/>
        </p:nvSpPr>
        <p:spPr>
          <a:xfrm>
            <a:off x="2651760" y="2057400"/>
            <a:ext cx="640080" cy="0"/>
          </a:xfrm>
          <a:prstGeom prst="line">
            <a:avLst/>
          </a:prstGeom>
          <a:noFill/>
          <a:ln w="25400">
            <a:solidFill>
              <a:srgbClr val="5C6B5F"/>
            </a:solidFill>
            <a:prstDash val="solid"/>
            <a:tailEnd type="triangle"/>
          </a:ln>
        </p:spPr>
      </p:sp>
      <p:sp>
        <p:nvSpPr>
          <p:cNvPr id="9" name="Shape 6"/>
          <p:cNvSpPr/>
          <p:nvPr/>
        </p:nvSpPr>
        <p:spPr>
          <a:xfrm>
            <a:off x="5394960" y="2057400"/>
            <a:ext cx="640080" cy="0"/>
          </a:xfrm>
          <a:prstGeom prst="line">
            <a:avLst/>
          </a:prstGeom>
          <a:noFill/>
          <a:ln w="25400">
            <a:solidFill>
              <a:srgbClr val="5C6B5F"/>
            </a:solidFill>
            <a:prstDash val="solid"/>
            <a:tailEnd type="triangle"/>
          </a:ln>
        </p:spPr>
      </p:sp>
      <p:sp>
        <p:nvSpPr>
          <p:cNvPr id="10" name="Shape 7"/>
          <p:cNvSpPr/>
          <p:nvPr/>
        </p:nvSpPr>
        <p:spPr>
          <a:xfrm>
            <a:off x="8595360" y="2057400"/>
            <a:ext cx="731520" cy="0"/>
          </a:xfrm>
          <a:prstGeom prst="line">
            <a:avLst/>
          </a:prstGeom>
          <a:noFill/>
          <a:ln w="25400">
            <a:solidFill>
              <a:srgbClr val="5C6B5F"/>
            </a:solidFill>
            <a:prstDash val="solid"/>
            <a:tailEnd type="triangle"/>
          </a:ln>
        </p:spPr>
      </p:sp>
      <p:sp>
        <p:nvSpPr>
          <p:cNvPr id="11" name="Shape 8"/>
          <p:cNvSpPr/>
          <p:nvPr/>
        </p:nvSpPr>
        <p:spPr>
          <a:xfrm flipH="1">
            <a:off x="8595360" y="2331720"/>
            <a:ext cx="731520" cy="0"/>
          </a:xfrm>
          <a:prstGeom prst="line">
            <a:avLst/>
          </a:prstGeom>
          <a:noFill/>
          <a:ln w="25400">
            <a:solidFill>
              <a:srgbClr val="5C6B5F"/>
            </a:solidFill>
            <a:prstDash val="dash"/>
            <a:tailEnd type="triangle"/>
          </a:ln>
        </p:spPr>
      </p:sp>
      <p:sp>
        <p:nvSpPr>
          <p:cNvPr id="12" name="Text 9"/>
          <p:cNvSpPr txBox="1"/>
          <p:nvPr/>
        </p:nvSpPr>
        <p:spPr>
          <a:xfrm>
            <a:off x="548640" y="2971800"/>
            <a:ext cx="3657600" cy="365760"/>
          </a:xfrm>
          <a:prstGeom prst="rect">
            <a:avLst/>
          </a:prstGeom>
          <a:noFill/>
          <a:ln/>
        </p:spPr>
        <p:txBody>
          <a:bodyPr wrap="square" lIns="0" tIns="0" rIns="0" bIns="0" rtlCol="0" anchor="t"/>
          <a:lstStyle/>
          <a:p>
            <a:pPr marL="0" indent="0" algn="l">
              <a:buNone/>
            </a:pPr>
            <a:r>
              <a:rPr lang="en-US" sz="1800" b="1" dirty="0">
                <a:solidFill>
                  <a:srgbClr val="1F4D2B"/>
                </a:solidFill>
                <a:latin typeface="Calibri" pitchFamily="34" charset="0"/>
                <a:ea typeface="Calibri" pitchFamily="34" charset="-122"/>
                <a:cs typeface="Calibri" pitchFamily="34" charset="-120"/>
              </a:rPr>
              <a:t>Endpoint</a:t>
            </a:r>
            <a:endParaRPr lang="en-US" sz="1800" dirty="0"/>
          </a:p>
        </p:txBody>
      </p:sp>
      <p:sp>
        <p:nvSpPr>
          <p:cNvPr id="13" name="ep0"/>
          <p:cNvSpPr/>
          <p:nvPr/>
        </p:nvSpPr>
        <p:spPr>
          <a:xfrm>
            <a:off x="548640" y="3429000"/>
            <a:ext cx="3611880" cy="502920"/>
          </a:xfrm>
          <a:prstGeom prst="roundRect">
            <a:avLst>
              <a:gd name="adj" fmla="val 14545"/>
            </a:avLst>
          </a:prstGeom>
          <a:solidFill>
            <a:srgbClr val="EEF5E6"/>
          </a:solidFill>
          <a:ln w="12700">
            <a:solidFill>
              <a:srgbClr val="EEF5E6"/>
            </a:solidFill>
            <a:prstDash val="solid"/>
          </a:ln>
        </p:spPr>
        <p:txBody>
          <a:bodyPr wrap="square" lIns="762" tIns="762" rIns="762" bIns="762" rtlCol="0" anchor="ctr"/>
          <a:lstStyle/>
          <a:p>
            <a:pPr marL="0" indent="0" algn="ctr">
              <a:buNone/>
            </a:pPr>
            <a:r>
              <a:rPr lang="en-US" sz="1400" dirty="0">
                <a:solidFill>
                  <a:srgbClr val="1B2A1F"/>
                </a:solidFill>
                <a:latin typeface="Calibri" pitchFamily="34" charset="0"/>
                <a:ea typeface="Calibri" pitchFamily="34" charset="-122"/>
                <a:cs typeface="Calibri" pitchFamily="34" charset="-120"/>
              </a:rPr>
              <a:t>POST /api/v1/recommend</a:t>
            </a:r>
            <a:endParaRPr lang="en-US" sz="1400" dirty="0"/>
          </a:p>
        </p:txBody>
      </p:sp>
      <p:sp>
        <p:nvSpPr>
          <p:cNvPr id="14" name="ep1"/>
          <p:cNvSpPr/>
          <p:nvPr/>
        </p:nvSpPr>
        <p:spPr>
          <a:xfrm>
            <a:off x="4315968" y="3429000"/>
            <a:ext cx="3611880" cy="502920"/>
          </a:xfrm>
          <a:prstGeom prst="roundRect">
            <a:avLst>
              <a:gd name="adj" fmla="val 14545"/>
            </a:avLst>
          </a:prstGeom>
          <a:solidFill>
            <a:srgbClr val="EEF5E6"/>
          </a:solidFill>
          <a:ln w="12700">
            <a:solidFill>
              <a:srgbClr val="EEF5E6"/>
            </a:solidFill>
            <a:prstDash val="solid"/>
          </a:ln>
        </p:spPr>
        <p:txBody>
          <a:bodyPr wrap="square" lIns="762" tIns="762" rIns="762" bIns="762" rtlCol="0" anchor="ctr"/>
          <a:lstStyle/>
          <a:p>
            <a:pPr marL="0" indent="0" algn="ctr">
              <a:buNone/>
            </a:pPr>
            <a:r>
              <a:rPr lang="en-US" sz="1400" dirty="0">
                <a:solidFill>
                  <a:srgbClr val="1B2A1F"/>
                </a:solidFill>
                <a:latin typeface="Calibri" pitchFamily="34" charset="0"/>
                <a:ea typeface="Calibri" pitchFamily="34" charset="-122"/>
                <a:cs typeface="Calibri" pitchFamily="34" charset="-120"/>
              </a:rPr>
              <a:t>POST /api/v1/interaction</a:t>
            </a:r>
            <a:endParaRPr lang="en-US" sz="1400" dirty="0"/>
          </a:p>
        </p:txBody>
      </p:sp>
      <p:sp>
        <p:nvSpPr>
          <p:cNvPr id="15" name="ep2"/>
          <p:cNvSpPr/>
          <p:nvPr/>
        </p:nvSpPr>
        <p:spPr>
          <a:xfrm>
            <a:off x="8083296" y="3429000"/>
            <a:ext cx="3611880" cy="502920"/>
          </a:xfrm>
          <a:prstGeom prst="roundRect">
            <a:avLst>
              <a:gd name="adj" fmla="val 14545"/>
            </a:avLst>
          </a:prstGeom>
          <a:solidFill>
            <a:srgbClr val="EEF5E6"/>
          </a:solidFill>
          <a:ln w="12700">
            <a:solidFill>
              <a:srgbClr val="EEF5E6"/>
            </a:solidFill>
            <a:prstDash val="solid"/>
          </a:ln>
        </p:spPr>
        <p:txBody>
          <a:bodyPr wrap="square" lIns="762" tIns="762" rIns="762" bIns="762" rtlCol="0" anchor="ctr"/>
          <a:lstStyle/>
          <a:p>
            <a:pPr marL="0" indent="0" algn="ctr">
              <a:buNone/>
            </a:pPr>
            <a:r>
              <a:rPr lang="en-US" sz="1400" dirty="0">
                <a:solidFill>
                  <a:srgbClr val="1B2A1F"/>
                </a:solidFill>
                <a:latin typeface="Calibri" pitchFamily="34" charset="0"/>
                <a:ea typeface="Calibri" pitchFamily="34" charset="-122"/>
                <a:cs typeface="Calibri" pitchFamily="34" charset="-120"/>
              </a:rPr>
              <a:t>POST /api/v1/compare</a:t>
            </a:r>
            <a:endParaRPr lang="en-US" sz="1400" dirty="0"/>
          </a:p>
        </p:txBody>
      </p:sp>
      <p:sp>
        <p:nvSpPr>
          <p:cNvPr id="16" name="ep3"/>
          <p:cNvSpPr/>
          <p:nvPr/>
        </p:nvSpPr>
        <p:spPr>
          <a:xfrm>
            <a:off x="548640" y="4069080"/>
            <a:ext cx="3611880" cy="502920"/>
          </a:xfrm>
          <a:prstGeom prst="roundRect">
            <a:avLst>
              <a:gd name="adj" fmla="val 14545"/>
            </a:avLst>
          </a:prstGeom>
          <a:solidFill>
            <a:srgbClr val="EEF5E6"/>
          </a:solidFill>
          <a:ln w="12700">
            <a:solidFill>
              <a:srgbClr val="EEF5E6"/>
            </a:solidFill>
            <a:prstDash val="solid"/>
          </a:ln>
        </p:spPr>
        <p:txBody>
          <a:bodyPr wrap="square" lIns="762" tIns="762" rIns="762" bIns="762" rtlCol="0" anchor="ctr"/>
          <a:lstStyle/>
          <a:p>
            <a:pPr marL="0" indent="0" algn="ctr">
              <a:buNone/>
            </a:pPr>
            <a:r>
              <a:rPr lang="en-US" sz="1400" dirty="0">
                <a:solidFill>
                  <a:srgbClr val="1B2A1F"/>
                </a:solidFill>
                <a:latin typeface="Calibri" pitchFamily="34" charset="0"/>
                <a:ea typeface="Calibri" pitchFamily="34" charset="-122"/>
                <a:cs typeface="Calibri" pitchFamily="34" charset="-120"/>
              </a:rPr>
              <a:t>GET /api/v1/items/popular</a:t>
            </a:r>
            <a:endParaRPr lang="en-US" sz="1400" dirty="0"/>
          </a:p>
        </p:txBody>
      </p:sp>
      <p:sp>
        <p:nvSpPr>
          <p:cNvPr id="17" name="ep4"/>
          <p:cNvSpPr/>
          <p:nvPr/>
        </p:nvSpPr>
        <p:spPr>
          <a:xfrm>
            <a:off x="4315968" y="4069080"/>
            <a:ext cx="3611880" cy="502920"/>
          </a:xfrm>
          <a:prstGeom prst="roundRect">
            <a:avLst>
              <a:gd name="adj" fmla="val 14545"/>
            </a:avLst>
          </a:prstGeom>
          <a:solidFill>
            <a:srgbClr val="EEF5E6"/>
          </a:solidFill>
          <a:ln w="12700">
            <a:solidFill>
              <a:srgbClr val="EEF5E6"/>
            </a:solidFill>
            <a:prstDash val="solid"/>
          </a:ln>
        </p:spPr>
        <p:txBody>
          <a:bodyPr wrap="square" lIns="762" tIns="762" rIns="762" bIns="762" rtlCol="0" anchor="ctr"/>
          <a:lstStyle/>
          <a:p>
            <a:pPr marL="0" indent="0" algn="ctr">
              <a:buNone/>
            </a:pPr>
            <a:r>
              <a:rPr lang="en-US" sz="1400" dirty="0">
                <a:solidFill>
                  <a:srgbClr val="1B2A1F"/>
                </a:solidFill>
                <a:latin typeface="Calibri" pitchFamily="34" charset="0"/>
                <a:ea typeface="Calibri" pitchFamily="34" charset="-122"/>
                <a:cs typeface="Calibri" pitchFamily="34" charset="-120"/>
              </a:rPr>
              <a:t>POST /api/v1/sync</a:t>
            </a:r>
            <a:endParaRPr lang="en-US" sz="1400" dirty="0"/>
          </a:p>
        </p:txBody>
      </p:sp>
      <p:sp>
        <p:nvSpPr>
          <p:cNvPr id="18" name="ep5"/>
          <p:cNvSpPr/>
          <p:nvPr/>
        </p:nvSpPr>
        <p:spPr>
          <a:xfrm>
            <a:off x="8083296" y="4069080"/>
            <a:ext cx="3611880" cy="502920"/>
          </a:xfrm>
          <a:prstGeom prst="roundRect">
            <a:avLst>
              <a:gd name="adj" fmla="val 14545"/>
            </a:avLst>
          </a:prstGeom>
          <a:solidFill>
            <a:srgbClr val="EEF5E6"/>
          </a:solidFill>
          <a:ln w="12700">
            <a:solidFill>
              <a:srgbClr val="EEF5E6"/>
            </a:solidFill>
            <a:prstDash val="solid"/>
          </a:ln>
        </p:spPr>
        <p:txBody>
          <a:bodyPr wrap="square" lIns="762" tIns="762" rIns="762" bIns="762" rtlCol="0" anchor="ctr"/>
          <a:lstStyle/>
          <a:p>
            <a:pPr marL="0" indent="0" algn="ctr">
              <a:buNone/>
            </a:pPr>
            <a:r>
              <a:rPr lang="en-US" sz="1400" dirty="0">
                <a:solidFill>
                  <a:srgbClr val="1B2A1F"/>
                </a:solidFill>
                <a:latin typeface="Calibri" pitchFamily="34" charset="0"/>
                <a:ea typeface="Calibri" pitchFamily="34" charset="-122"/>
                <a:cs typeface="Calibri" pitchFamily="34" charset="-120"/>
              </a:rPr>
              <a:t>GET /health</a:t>
            </a:r>
            <a:endParaRPr lang="en-US" sz="1400" dirty="0"/>
          </a:p>
        </p:txBody>
      </p:sp>
      <p:sp>
        <p:nvSpPr>
          <p:cNvPr id="19" name="sys_c1_bg"/>
          <p:cNvSpPr/>
          <p:nvPr/>
        </p:nvSpPr>
        <p:spPr>
          <a:xfrm>
            <a:off x="548640" y="4846320"/>
            <a:ext cx="5440680" cy="1417320"/>
          </a:xfrm>
          <a:prstGeom prst="roundRect">
            <a:avLst>
              <a:gd name="adj" fmla="val 5161"/>
            </a:avLst>
          </a:prstGeom>
          <a:solidFill>
            <a:srgbClr val="EEF5E6"/>
          </a:solidFill>
          <a:ln w="9525">
            <a:solidFill>
              <a:srgbClr val="DCE8CF"/>
            </a:solidFill>
            <a:prstDash val="solid"/>
          </a:ln>
        </p:spPr>
      </p:sp>
      <p:sp>
        <p:nvSpPr>
          <p:cNvPr id="20" name="sys_c1_head"/>
          <p:cNvSpPr txBox="1"/>
          <p:nvPr/>
        </p:nvSpPr>
        <p:spPr>
          <a:xfrm>
            <a:off x="731520" y="4956048"/>
            <a:ext cx="5074920" cy="365760"/>
          </a:xfrm>
          <a:prstGeom prst="rect">
            <a:avLst/>
          </a:prstGeom>
          <a:noFill/>
          <a:ln/>
        </p:spPr>
        <p:txBody>
          <a:bodyPr wrap="square" lIns="0" tIns="0" rIns="0" bIns="0" rtlCol="0" anchor="t"/>
          <a:lstStyle/>
          <a:p>
            <a:pPr marL="0" indent="0" algn="l">
              <a:buNone/>
            </a:pPr>
            <a:r>
              <a:rPr lang="en-US" sz="1600" b="1" dirty="0">
                <a:solidFill>
                  <a:srgbClr val="3E7D3A"/>
                </a:solidFill>
                <a:latin typeface="Calibri" pitchFamily="34" charset="0"/>
                <a:ea typeface="Calibri" pitchFamily="34" charset="-122"/>
                <a:cs typeface="Calibri" pitchFamily="34" charset="-120"/>
              </a:rPr>
              <a:t>Cách hoạt động</a:t>
            </a:r>
            <a:endParaRPr lang="en-US" sz="1600" dirty="0"/>
          </a:p>
        </p:txBody>
      </p:sp>
      <p:sp>
        <p:nvSpPr>
          <p:cNvPr id="21" name="sys_c1_body"/>
          <p:cNvSpPr txBox="1"/>
          <p:nvPr/>
        </p:nvSpPr>
        <p:spPr>
          <a:xfrm>
            <a:off x="731520" y="5349240"/>
            <a:ext cx="5074920" cy="822960"/>
          </a:xfrm>
          <a:prstGeom prst="rect">
            <a:avLst/>
          </a:prstGeom>
          <a:noFill/>
          <a:ln/>
        </p:spPr>
        <p:txBody>
          <a:bodyPr wrap="square" lIns="0" tIns="0" rIns="0" bIns="0" rtlCol="0" anchor="t"/>
          <a:lstStyle/>
          <a:p>
            <a:pPr marL="342900" indent="-342900" algn="l">
              <a:spcAft>
                <a:spcPts val="400"/>
              </a:spcAft>
              <a:buSzPct val="100000"/>
              <a:buChar char="•"/>
            </a:pPr>
            <a:r>
              <a:rPr lang="en-US" sz="1400" dirty="0">
                <a:solidFill>
                  <a:srgbClr val="1B2A1F"/>
                </a:solidFill>
                <a:latin typeface="Calibri" pitchFamily="34" charset="0"/>
                <a:ea typeface="Calibri" pitchFamily="34" charset="-122"/>
                <a:cs typeface="Calibri" pitchFamily="34" charset="-120"/>
              </a:rPr>
              <a:t>Retrain mỗi 20 tương tác mới</a:t>
            </a:r>
            <a:endParaRPr lang="en-US" sz="1400" dirty="0"/>
          </a:p>
          <a:p>
            <a:pPr marL="342900" indent="-342900" algn="l">
              <a:spcAft>
                <a:spcPts val="400"/>
              </a:spcAft>
              <a:buSzPct val="100000"/>
              <a:buChar char="•"/>
            </a:pPr>
            <a:r>
              <a:rPr lang="en-US" sz="1400" dirty="0">
                <a:solidFill>
                  <a:srgbClr val="1B2A1F"/>
                </a:solidFill>
                <a:latin typeface="Calibri" pitchFamily="34" charset="0"/>
                <a:ea typeface="Calibri" pitchFamily="34" charset="-122"/>
                <a:cs typeface="Calibri" pitchFamily="34" charset="-120"/>
              </a:rPr>
              <a:t>Người dùng mới (cold-start) → Popularity</a:t>
            </a:r>
            <a:endParaRPr lang="en-US" sz="1400" dirty="0"/>
          </a:p>
        </p:txBody>
      </p:sp>
      <p:sp>
        <p:nvSpPr>
          <p:cNvPr id="22" name="sys_c2_bg"/>
          <p:cNvSpPr/>
          <p:nvPr/>
        </p:nvSpPr>
        <p:spPr>
          <a:xfrm>
            <a:off x="6199632" y="4846320"/>
            <a:ext cx="5440680" cy="1417320"/>
          </a:xfrm>
          <a:prstGeom prst="roundRect">
            <a:avLst>
              <a:gd name="adj" fmla="val 5161"/>
            </a:avLst>
          </a:prstGeom>
          <a:solidFill>
            <a:srgbClr val="EEF5E6"/>
          </a:solidFill>
          <a:ln w="9525">
            <a:solidFill>
              <a:srgbClr val="DCE8CF"/>
            </a:solidFill>
            <a:prstDash val="solid"/>
          </a:ln>
        </p:spPr>
      </p:sp>
      <p:sp>
        <p:nvSpPr>
          <p:cNvPr id="23" name="sys_c2_head"/>
          <p:cNvSpPr txBox="1"/>
          <p:nvPr/>
        </p:nvSpPr>
        <p:spPr>
          <a:xfrm>
            <a:off x="6382512" y="4956048"/>
            <a:ext cx="5074920" cy="365760"/>
          </a:xfrm>
          <a:prstGeom prst="rect">
            <a:avLst/>
          </a:prstGeom>
          <a:noFill/>
          <a:ln/>
        </p:spPr>
        <p:txBody>
          <a:bodyPr wrap="square" lIns="0" tIns="0" rIns="0" bIns="0" rtlCol="0" anchor="t"/>
          <a:lstStyle/>
          <a:p>
            <a:pPr marL="0" indent="0" algn="l">
              <a:buNone/>
            </a:pPr>
            <a:r>
              <a:rPr lang="en-US" sz="1600" b="1" dirty="0">
                <a:solidFill>
                  <a:srgbClr val="E07B1F"/>
                </a:solidFill>
                <a:latin typeface="Calibri" pitchFamily="34" charset="0"/>
                <a:ea typeface="Calibri" pitchFamily="34" charset="-122"/>
                <a:cs typeface="Calibri" pitchFamily="34" charset="-120"/>
              </a:rPr>
              <a:t>Trạng thái hiện tại</a:t>
            </a:r>
            <a:endParaRPr lang="en-US" sz="1600" dirty="0"/>
          </a:p>
        </p:txBody>
      </p:sp>
      <p:sp>
        <p:nvSpPr>
          <p:cNvPr id="24" name="sys_c2_body"/>
          <p:cNvSpPr txBox="1"/>
          <p:nvPr/>
        </p:nvSpPr>
        <p:spPr>
          <a:xfrm>
            <a:off x="6382512" y="5349240"/>
            <a:ext cx="5074920" cy="822960"/>
          </a:xfrm>
          <a:prstGeom prst="rect">
            <a:avLst/>
          </a:prstGeom>
          <a:noFill/>
          <a:ln/>
        </p:spPr>
        <p:txBody>
          <a:bodyPr wrap="square" lIns="0" tIns="0" rIns="0" bIns="0" rtlCol="0" anchor="t"/>
          <a:lstStyle/>
          <a:p>
            <a:pPr marL="342900" indent="-342900" algn="l">
              <a:spcAft>
                <a:spcPts val="400"/>
              </a:spcAft>
              <a:buSzPct val="100000"/>
              <a:buChar char="•"/>
            </a:pPr>
            <a:r>
              <a:rPr lang="en-US" sz="1400" dirty="0">
                <a:solidFill>
                  <a:srgbClr val="1B2A1F"/>
                </a:solidFill>
                <a:latin typeface="Calibri" pitchFamily="34" charset="0"/>
                <a:ea typeface="Calibri" pitchFamily="34" charset="-122"/>
                <a:cs typeface="Calibri" pitchFamily="34" charset="-120"/>
              </a:rPr>
              <a:t>API phục vụ MF và CDR</a:t>
            </a:r>
            <a:endParaRPr lang="en-US" sz="1400" dirty="0"/>
          </a:p>
          <a:p>
            <a:pPr marL="342900" indent="-342900" algn="l">
              <a:spcAft>
                <a:spcPts val="400"/>
              </a:spcAft>
              <a:buSzPct val="100000"/>
              <a:buChar char="•"/>
            </a:pPr>
            <a:r>
              <a:rPr lang="en-US" sz="1400" dirty="0">
                <a:solidFill>
                  <a:srgbClr val="1B2A1F"/>
                </a:solidFill>
                <a:latin typeface="Calibri" pitchFamily="34" charset="0"/>
                <a:ea typeface="Calibri" pitchFamily="34" charset="-122"/>
                <a:cs typeface="Calibri" pitchFamily="34" charset="-120"/>
              </a:rPr>
              <a:t>IViDR chưa triển khai: fallback về MF</a:t>
            </a:r>
            <a:endParaRPr lang="en-US" sz="1400" dirty="0"/>
          </a:p>
        </p:txBody>
      </p:sp>
      <p:sp>
        <p:nvSpPr>
          <p:cNvPr id="25" name="Slide Number Placeholder 0"/>
          <p:cNvSpPr>
            <a:spLocks noGrp="1"/>
          </p:cNvSpPr>
          <p:nvPr>
            <p:ph type="sldNum" sz="quarter" idx="4294967295"/>
          </p:nvPr>
        </p:nvSpPr>
        <p:spPr>
          <a:xfrm>
            <a:off x="10972800" y="644652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B5F"/>
                </a:solidFill>
                <a:latin typeface="Calibri"/>
                <a:ea typeface="Calibri"/>
                <a:cs typeface="Calibri"/>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91672" cy="777240"/>
          </a:xfrm>
          <a:prstGeom prst="rect">
            <a:avLst/>
          </a:prstGeom>
          <a:noFill/>
          <a:ln/>
        </p:spPr>
        <p:txBody>
          <a:bodyPr wrap="square" lIns="0" tIns="0" rIns="0" bIns="0" rtlCol="0" anchor="ctr"/>
          <a:lstStyle/>
          <a:p>
            <a:pPr marL="0" indent="0" algn="l">
              <a:buNone/>
            </a:pPr>
            <a:r>
              <a:rPr lang="en-US" sz="3400" b="1" dirty="0">
                <a:solidFill>
                  <a:srgbClr val="FFFFFF"/>
                </a:solidFill>
                <a:latin typeface="Cambria" pitchFamily="34" charset="0"/>
                <a:ea typeface="Cambria" pitchFamily="34" charset="-122"/>
                <a:cs typeface="Cambria" pitchFamily="34" charset="-120"/>
              </a:rPr>
              <a:t>Kết luận và hướng phát triển</a:t>
            </a:r>
            <a:endParaRPr lang="en-US" sz="3400" dirty="0"/>
          </a:p>
        </p:txBody>
      </p:sp>
      <p:sp>
        <p:nvSpPr>
          <p:cNvPr id="4" name="end_bg0"/>
          <p:cNvSpPr/>
          <p:nvPr/>
        </p:nvSpPr>
        <p:spPr>
          <a:xfrm>
            <a:off x="548640" y="1325880"/>
            <a:ext cx="3611880" cy="3931920"/>
          </a:xfrm>
          <a:prstGeom prst="roundRect">
            <a:avLst>
              <a:gd name="adj" fmla="val 2025"/>
            </a:avLst>
          </a:prstGeom>
          <a:solidFill>
            <a:srgbClr val="2A6038"/>
          </a:solidFill>
          <a:ln w="9525">
            <a:solidFill>
              <a:srgbClr val="3E7D3A"/>
            </a:solidFill>
            <a:prstDash val="solid"/>
          </a:ln>
        </p:spPr>
      </p:sp>
      <p:sp>
        <p:nvSpPr>
          <p:cNvPr id="5" name="Text 2"/>
          <p:cNvSpPr txBox="1"/>
          <p:nvPr/>
        </p:nvSpPr>
        <p:spPr>
          <a:xfrm>
            <a:off x="777240" y="1508760"/>
            <a:ext cx="3154680" cy="457200"/>
          </a:xfrm>
          <a:prstGeom prst="rect">
            <a:avLst/>
          </a:prstGeom>
          <a:noFill/>
          <a:ln/>
        </p:spPr>
        <p:txBody>
          <a:bodyPr wrap="square" lIns="0" tIns="0" rIns="0" bIns="0" rtlCol="0" anchor="t"/>
          <a:lstStyle/>
          <a:p>
            <a:pPr marL="0" indent="0" algn="l">
              <a:buNone/>
            </a:pPr>
            <a:r>
              <a:rPr lang="en-US" sz="2000" b="1" dirty="0">
                <a:solidFill>
                  <a:srgbClr val="8DB255"/>
                </a:solidFill>
                <a:latin typeface="Cambria" pitchFamily="34" charset="0"/>
                <a:ea typeface="Cambria" pitchFamily="34" charset="-122"/>
                <a:cs typeface="Cambria" pitchFamily="34" charset="-120"/>
              </a:rPr>
              <a:t>Kết luận</a:t>
            </a:r>
            <a:endParaRPr lang="en-US" sz="2000" dirty="0"/>
          </a:p>
        </p:txBody>
      </p:sp>
      <p:sp>
        <p:nvSpPr>
          <p:cNvPr id="6" name="Text 3"/>
          <p:cNvSpPr txBox="1"/>
          <p:nvPr/>
        </p:nvSpPr>
        <p:spPr>
          <a:xfrm>
            <a:off x="777240" y="2148840"/>
            <a:ext cx="3154680" cy="3017520"/>
          </a:xfrm>
          <a:prstGeom prst="rect">
            <a:avLst/>
          </a:prstGeom>
          <a:noFill/>
          <a:ln/>
        </p:spPr>
        <p:txBody>
          <a:bodyPr wrap="square" lIns="0" tIns="0" rIns="0" bIns="0" rtlCol="0" anchor="t"/>
          <a:lstStyle/>
          <a:p>
            <a:pPr marL="342900" indent="-342900" algn="l">
              <a:spcAft>
                <a:spcPts val="1000"/>
              </a:spcAft>
              <a:buSzPct val="100000"/>
              <a:buChar char="•"/>
            </a:pPr>
            <a:r>
              <a:rPr lang="en-US" sz="1600" dirty="0">
                <a:solidFill>
                  <a:srgbClr val="FFFFFF"/>
                </a:solidFill>
                <a:latin typeface="Calibri" pitchFamily="34" charset="0"/>
                <a:ea typeface="Calibri" pitchFamily="34" charset="-122"/>
                <a:cs typeface="Calibri" pitchFamily="34" charset="-120"/>
              </a:rPr>
              <a:t>Baseline MF đúng cấu hình (MSE) khớp bài báo; dùng BCE thấp hơn ~0.08</a:t>
            </a:r>
            <a:endParaRPr lang="en-US" sz="1600" dirty="0"/>
          </a:p>
          <a:p>
            <a:pPr marL="342900" indent="-342900" algn="l">
              <a:spcAft>
                <a:spcPts val="1000"/>
              </a:spcAft>
              <a:buSzPct val="100000"/>
              <a:buChar char="•"/>
            </a:pPr>
            <a:r>
              <a:rPr lang="en-US" sz="1600" dirty="0">
                <a:solidFill>
                  <a:srgbClr val="FFFFFF"/>
                </a:solidFill>
                <a:latin typeface="Calibri" pitchFamily="34" charset="0"/>
                <a:ea typeface="Calibri" pitchFamily="34" charset="-122"/>
                <a:cs typeface="Calibri" pitchFamily="34" charset="-120"/>
              </a:rPr>
              <a:t>Coat (10 seed): IViDR 2 giai đoạn hơn MF +0.031 (p = 0.002); CDR kém MF</a:t>
            </a:r>
            <a:endParaRPr lang="en-US" sz="1600" dirty="0"/>
          </a:p>
          <a:p>
            <a:pPr marL="342900" indent="-342900" algn="l">
              <a:spcAft>
                <a:spcPts val="1000"/>
              </a:spcAft>
              <a:buSzPct val="100000"/>
              <a:buChar char="•"/>
            </a:pPr>
            <a:r>
              <a:rPr lang="en-US" sz="1600" dirty="0">
                <a:solidFill>
                  <a:srgbClr val="FFFFFF"/>
                </a:solidFill>
                <a:latin typeface="Calibri" pitchFamily="34" charset="0"/>
                <a:ea typeface="Calibri" pitchFamily="34" charset="-122"/>
                <a:cs typeface="Calibri" pitchFamily="34" charset="-120"/>
              </a:rPr>
              <a:t>KuaiRand: MF mạnh nhất (0.3744); IViDR joint và CDR kém MF</a:t>
            </a:r>
            <a:endParaRPr lang="en-US" sz="1600" dirty="0"/>
          </a:p>
        </p:txBody>
      </p:sp>
      <p:sp>
        <p:nvSpPr>
          <p:cNvPr id="7" name="end_bg1"/>
          <p:cNvSpPr/>
          <p:nvPr/>
        </p:nvSpPr>
        <p:spPr>
          <a:xfrm>
            <a:off x="4297680" y="1325880"/>
            <a:ext cx="3611880" cy="3931920"/>
          </a:xfrm>
          <a:prstGeom prst="roundRect">
            <a:avLst>
              <a:gd name="adj" fmla="val 2025"/>
            </a:avLst>
          </a:prstGeom>
          <a:solidFill>
            <a:srgbClr val="2A6038"/>
          </a:solidFill>
          <a:ln w="9525">
            <a:solidFill>
              <a:srgbClr val="3E7D3A"/>
            </a:solidFill>
            <a:prstDash val="solid"/>
          </a:ln>
        </p:spPr>
      </p:sp>
      <p:sp>
        <p:nvSpPr>
          <p:cNvPr id="8" name="Text 5"/>
          <p:cNvSpPr txBox="1"/>
          <p:nvPr/>
        </p:nvSpPr>
        <p:spPr>
          <a:xfrm>
            <a:off x="4526280" y="1508760"/>
            <a:ext cx="3154680" cy="457200"/>
          </a:xfrm>
          <a:prstGeom prst="rect">
            <a:avLst/>
          </a:prstGeom>
          <a:noFill/>
          <a:ln/>
        </p:spPr>
        <p:txBody>
          <a:bodyPr wrap="square" lIns="0" tIns="0" rIns="0" bIns="0" rtlCol="0" anchor="t"/>
          <a:lstStyle/>
          <a:p>
            <a:pPr marL="0" indent="0" algn="l">
              <a:buNone/>
            </a:pPr>
            <a:r>
              <a:rPr lang="en-US" sz="2000" b="1" dirty="0">
                <a:solidFill>
                  <a:srgbClr val="F2B26B"/>
                </a:solidFill>
                <a:latin typeface="Cambria" pitchFamily="34" charset="0"/>
                <a:ea typeface="Cambria" pitchFamily="34" charset="-122"/>
                <a:cs typeface="Cambria" pitchFamily="34" charset="-120"/>
              </a:rPr>
              <a:t>Hạn chế</a:t>
            </a:r>
            <a:endParaRPr lang="en-US" sz="2000" dirty="0"/>
          </a:p>
        </p:txBody>
      </p:sp>
      <p:sp>
        <p:nvSpPr>
          <p:cNvPr id="9" name="Text 6"/>
          <p:cNvSpPr txBox="1"/>
          <p:nvPr/>
        </p:nvSpPr>
        <p:spPr>
          <a:xfrm>
            <a:off x="4526280" y="2148840"/>
            <a:ext cx="3154680" cy="3017520"/>
          </a:xfrm>
          <a:prstGeom prst="rect">
            <a:avLst/>
          </a:prstGeom>
          <a:noFill/>
          <a:ln/>
        </p:spPr>
        <p:txBody>
          <a:bodyPr wrap="square" lIns="0" tIns="0" rIns="0" bIns="0" rtlCol="0" anchor="t"/>
          <a:lstStyle/>
          <a:p>
            <a:pPr marL="342900" indent="-342900" algn="l">
              <a:spcAft>
                <a:spcPts val="1000"/>
              </a:spcAft>
              <a:buSzPct val="100000"/>
              <a:buChar char="•"/>
            </a:pPr>
            <a:r>
              <a:rPr lang="en-US" sz="1600" dirty="0">
                <a:solidFill>
                  <a:srgbClr val="FFFFFF"/>
                </a:solidFill>
                <a:latin typeface="Calibri" pitchFamily="34" charset="0"/>
                <a:ea typeface="Calibri" pitchFamily="34" charset="-122"/>
                <a:cs typeface="Calibri" pitchFamily="34" charset="-120"/>
              </a:rPr>
              <a:t>Nhánh IV chỉ hơn iDCF +0.0009 (p = 0.28); bài báo không có code</a:t>
            </a:r>
            <a:endParaRPr lang="en-US" sz="1600" dirty="0"/>
          </a:p>
          <a:p>
            <a:pPr marL="342900" indent="-342900" algn="l">
              <a:spcAft>
                <a:spcPts val="1000"/>
              </a:spcAft>
              <a:buSzPct val="100000"/>
              <a:buChar char="•"/>
            </a:pPr>
            <a:r>
              <a:rPr lang="en-US" sz="1600" dirty="0">
                <a:solidFill>
                  <a:srgbClr val="FFFFFF"/>
                </a:solidFill>
                <a:latin typeface="Calibri" pitchFamily="34" charset="0"/>
                <a:ea typeface="Calibri" pitchFamily="34" charset="-122"/>
                <a:cs typeface="Calibri" pitchFamily="34" charset="-120"/>
              </a:rPr>
              <a:t>KuaiRand mới 1 seed; chưa chạy iDCF và IViDR 2 giai đoạn</a:t>
            </a:r>
            <a:endParaRPr lang="en-US" sz="1600" dirty="0"/>
          </a:p>
          <a:p>
            <a:pPr marL="342900" indent="-342900" algn="l">
              <a:spcAft>
                <a:spcPts val="1000"/>
              </a:spcAft>
              <a:buSzPct val="100000"/>
              <a:buChar char="•"/>
            </a:pPr>
            <a:r>
              <a:rPr lang="en-US" sz="1600" dirty="0">
                <a:solidFill>
                  <a:srgbClr val="FFFFFF"/>
                </a:solidFill>
                <a:latin typeface="Calibri" pitchFamily="34" charset="0"/>
                <a:ea typeface="Calibri" pitchFamily="34" charset="-122"/>
                <a:cs typeface="Calibri" pitchFamily="34" charset="-120"/>
              </a:rPr>
              <a:t>Propensity KuaiRand chỉ là proxy</a:t>
            </a:r>
            <a:endParaRPr lang="en-US" sz="1600" dirty="0"/>
          </a:p>
        </p:txBody>
      </p:sp>
      <p:sp>
        <p:nvSpPr>
          <p:cNvPr id="10" name="end_bg2"/>
          <p:cNvSpPr/>
          <p:nvPr/>
        </p:nvSpPr>
        <p:spPr>
          <a:xfrm>
            <a:off x="8046720" y="1325880"/>
            <a:ext cx="3611880" cy="3931920"/>
          </a:xfrm>
          <a:prstGeom prst="roundRect">
            <a:avLst>
              <a:gd name="adj" fmla="val 2025"/>
            </a:avLst>
          </a:prstGeom>
          <a:solidFill>
            <a:srgbClr val="2A6038"/>
          </a:solidFill>
          <a:ln w="9525">
            <a:solidFill>
              <a:srgbClr val="3E7D3A"/>
            </a:solidFill>
            <a:prstDash val="solid"/>
          </a:ln>
        </p:spPr>
      </p:sp>
      <p:sp>
        <p:nvSpPr>
          <p:cNvPr id="11" name="Text 8"/>
          <p:cNvSpPr txBox="1"/>
          <p:nvPr/>
        </p:nvSpPr>
        <p:spPr>
          <a:xfrm>
            <a:off x="8275320" y="1508760"/>
            <a:ext cx="3154680" cy="457200"/>
          </a:xfrm>
          <a:prstGeom prst="rect">
            <a:avLst/>
          </a:prstGeom>
          <a:noFill/>
          <a:ln/>
        </p:spPr>
        <p:txBody>
          <a:bodyPr wrap="square" lIns="0" tIns="0" rIns="0" bIns="0" rtlCol="0" anchor="t"/>
          <a:lstStyle/>
          <a:p>
            <a:pPr marL="0" indent="0" algn="l">
              <a:buNone/>
            </a:pPr>
            <a:r>
              <a:rPr lang="en-US" sz="2000" b="1" dirty="0">
                <a:solidFill>
                  <a:srgbClr val="B7A3E0"/>
                </a:solidFill>
                <a:latin typeface="Cambria" pitchFamily="34" charset="0"/>
                <a:ea typeface="Cambria" pitchFamily="34" charset="-122"/>
                <a:cs typeface="Cambria" pitchFamily="34" charset="-120"/>
              </a:rPr>
              <a:t>Hướng phát triển</a:t>
            </a:r>
            <a:endParaRPr lang="en-US" sz="2000" dirty="0"/>
          </a:p>
        </p:txBody>
      </p:sp>
      <p:sp>
        <p:nvSpPr>
          <p:cNvPr id="12" name="Text 9"/>
          <p:cNvSpPr txBox="1"/>
          <p:nvPr/>
        </p:nvSpPr>
        <p:spPr>
          <a:xfrm>
            <a:off x="8275320" y="2148840"/>
            <a:ext cx="3154680" cy="3017520"/>
          </a:xfrm>
          <a:prstGeom prst="rect">
            <a:avLst/>
          </a:prstGeom>
          <a:noFill/>
          <a:ln/>
        </p:spPr>
        <p:txBody>
          <a:bodyPr wrap="square" lIns="0" tIns="0" rIns="0" bIns="0" rtlCol="0" anchor="t"/>
          <a:lstStyle/>
          <a:p>
            <a:pPr marL="342900" indent="-342900" algn="l">
              <a:spcAft>
                <a:spcPts val="1000"/>
              </a:spcAft>
              <a:buSzPct val="100000"/>
              <a:buChar char="•"/>
            </a:pPr>
            <a:r>
              <a:rPr lang="en-US" sz="1600" dirty="0">
                <a:solidFill>
                  <a:srgbClr val="FFFFFF"/>
                </a:solidFill>
                <a:latin typeface="Calibri" pitchFamily="34" charset="0"/>
                <a:ea typeface="Calibri" pitchFamily="34" charset="-122"/>
                <a:cs typeface="Calibri" pitchFamily="34" charset="-120"/>
              </a:rPr>
              <a:t>Chạy iDCF và IViDR 2 giai đoạn trên KuaiRand</a:t>
            </a:r>
            <a:endParaRPr lang="en-US" sz="1600" dirty="0"/>
          </a:p>
          <a:p>
            <a:pPr marL="342900" indent="-342900" algn="l">
              <a:spcAft>
                <a:spcPts val="1000"/>
              </a:spcAft>
              <a:buSzPct val="100000"/>
              <a:buChar char="•"/>
            </a:pPr>
            <a:r>
              <a:rPr lang="en-US" sz="1600" dirty="0">
                <a:solidFill>
                  <a:srgbClr val="FFFFFF"/>
                </a:solidFill>
                <a:latin typeface="Calibri" pitchFamily="34" charset="0"/>
                <a:ea typeface="Calibri" pitchFamily="34" charset="-122"/>
                <a:cs typeface="Calibri" pitchFamily="34" charset="-120"/>
              </a:rPr>
              <a:t>Thử cách dựng nhánh IV khác, tune lr/wd theo validation</a:t>
            </a:r>
            <a:endParaRPr lang="en-US" sz="1600" dirty="0"/>
          </a:p>
          <a:p>
            <a:pPr marL="342900" indent="-342900" algn="l">
              <a:spcAft>
                <a:spcPts val="1000"/>
              </a:spcAft>
              <a:buSzPct val="100000"/>
              <a:buChar char="•"/>
            </a:pPr>
            <a:r>
              <a:rPr lang="en-US" sz="1600" dirty="0">
                <a:solidFill>
                  <a:srgbClr val="FFFFFF"/>
                </a:solidFill>
                <a:latin typeface="Calibri" pitchFamily="34" charset="0"/>
                <a:ea typeface="Calibri" pitchFamily="34" charset="-122"/>
                <a:cs typeface="Calibri" pitchFamily="34" charset="-120"/>
              </a:rPr>
              <a:t>Đưa IViDR vào API, đo độ trễ, thử với người dùng thật</a:t>
            </a:r>
            <a:endParaRPr lang="en-US" sz="1600" dirty="0"/>
          </a:p>
        </p:txBody>
      </p:sp>
      <p:sp>
        <p:nvSpPr>
          <p:cNvPr id="13" name="Text 10"/>
          <p:cNvSpPr txBox="1"/>
          <p:nvPr/>
        </p:nvSpPr>
        <p:spPr>
          <a:xfrm>
            <a:off x="548640" y="5623560"/>
            <a:ext cx="11064240" cy="640080"/>
          </a:xfrm>
          <a:prstGeom prst="rect">
            <a:avLst/>
          </a:prstGeom>
          <a:noFill/>
          <a:ln/>
        </p:spPr>
        <p:txBody>
          <a:bodyPr wrap="square" lIns="0" tIns="0" rIns="0" bIns="0" rtlCol="0" anchor="ctr"/>
          <a:lstStyle/>
          <a:p>
            <a:pPr marL="0" indent="0" algn="l">
              <a:buNone/>
            </a:pPr>
            <a:r>
              <a:rPr lang="en-US" sz="2400" b="1" dirty="0">
                <a:solidFill>
                  <a:srgbClr val="FFFFFF"/>
                </a:solidFill>
                <a:latin typeface="Cambria" pitchFamily="34" charset="0"/>
                <a:ea typeface="Cambria" pitchFamily="34" charset="-122"/>
                <a:cs typeface="Cambria" pitchFamily="34" charset="-120"/>
              </a:rPr>
              <a:t>Xin cảm ơn thầy cô và các bạn. Rất mong nhận được câu hỏi!</a:t>
            </a:r>
            <a:endParaRPr lang="en-US" sz="2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91672" cy="777240"/>
          </a:xfrm>
          <a:prstGeom prst="rect">
            <a:avLst/>
          </a:prstGeom>
          <a:noFill/>
          <a:ln/>
        </p:spPr>
        <p:txBody>
          <a:bodyPr wrap="square" lIns="0" tIns="0" rIns="0" bIns="0" rtlCol="0" anchor="ctr"/>
          <a:lstStyle/>
          <a:p>
            <a:pPr marL="0" indent="0" algn="l">
              <a:buNone/>
            </a:pPr>
            <a:r>
              <a:rPr lang="en-US" sz="3400" b="1" dirty="0">
                <a:solidFill>
                  <a:srgbClr val="1F4D2B"/>
                </a:solidFill>
                <a:latin typeface="Cambria" pitchFamily="34" charset="0"/>
                <a:ea typeface="Cambria" pitchFamily="34" charset="-122"/>
                <a:cs typeface="Cambria" pitchFamily="34" charset="-120"/>
              </a:rPr>
              <a:t>Phụ lục 1: Siêu tham số chính</a:t>
            </a:r>
            <a:endParaRPr lang="en-US" sz="34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1672" cy="3593592"/>
        </p:xfrm>
        <a:graphic>
          <a:graphicData uri="http://schemas.openxmlformats.org/drawingml/2006/table">
            <a:tbl>
              <a:tblPr/>
              <a:tblGrid>
                <a:gridCol w="265176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3383280">
                  <a:extLst>
                    <a:ext uri="{9D8B030D-6E8A-4147-A177-3AD203B41FA5}">
                      <a16:colId xmlns:a16="http://schemas.microsoft.com/office/drawing/2014/main" val="20002"/>
                    </a:ext>
                  </a:extLst>
                </a:gridCol>
                <a:gridCol w="3044952">
                  <a:extLst>
                    <a:ext uri="{9D8B030D-6E8A-4147-A177-3AD203B41FA5}">
                      <a16:colId xmlns:a16="http://schemas.microsoft.com/office/drawing/2014/main" val="20003"/>
                    </a:ext>
                  </a:extLst>
                </a:gridCol>
              </a:tblGrid>
              <a:tr h="502920">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Tham số</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solidFill>
                      <a:srgbClr val="1F4D2B"/>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MF</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solidFill>
                      <a:srgbClr val="2E6FA3"/>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DR-BIAS + CDR</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solidFill>
                      <a:srgbClr val="E07B1F"/>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IViDR</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solidFill>
                      <a:srgbClr val="6B4FA0"/>
                    </a:solidFill>
                  </a:tcPr>
                </a:tc>
                <a:extLst>
                  <a:ext uri="{0D108BD9-81ED-4DB2-BD59-A6C34878D82A}">
                    <a16:rowId xmlns:a16="http://schemas.microsoft.com/office/drawing/2014/main" val="10000"/>
                  </a:ext>
                </a:extLst>
              </a:tr>
              <a:tr h="566928">
                <a:tc>
                  <a:txBody>
                    <a:bodyPr/>
                    <a:lstStyle/>
                    <a:p>
                      <a:pPr marL="0" indent="0">
                        <a:buNone/>
                      </a:pPr>
                      <a:r>
                        <a:rPr lang="en-US" sz="1400" b="1" dirty="0">
                          <a:solidFill>
                            <a:srgbClr val="1B2A1F"/>
                          </a:solidFill>
                          <a:latin typeface="Calibri" pitchFamily="34" charset="0"/>
                          <a:ea typeface="Calibri" pitchFamily="34" charset="-122"/>
                          <a:cs typeface="Calibri" pitchFamily="34" charset="-120"/>
                        </a:rPr>
                        <a:t>Hàm loss</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solidFill>
                      <a:srgbClr val="EEF5E6"/>
                    </a:solidFill>
                  </a:tcPr>
                </a:tc>
                <a:tc>
                  <a:txBody>
                    <a:bodyPr/>
                    <a:lstStyle/>
                    <a:p>
                      <a:pPr marL="0" indent="0">
                        <a:buNone/>
                      </a:pPr>
                      <a:r>
                        <a:rPr lang="en-US" sz="1400" dirty="0">
                          <a:solidFill>
                            <a:srgbClr val="1B2A1F"/>
                          </a:solidFill>
                          <a:latin typeface="Calibri" pitchFamily="34" charset="0"/>
                          <a:ea typeface="Calibri" pitchFamily="34" charset="-122"/>
                          <a:cs typeface="Calibri" pitchFamily="34" charset="-120"/>
                        </a:rPr>
                        <a:t>MSE</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tcPr>
                </a:tc>
                <a:tc>
                  <a:txBody>
                    <a:bodyPr/>
                    <a:lstStyle/>
                    <a:p>
                      <a:pPr marL="0" indent="0">
                        <a:buNone/>
                      </a:pPr>
                      <a:r>
                        <a:rPr lang="en-US" sz="1400" dirty="0">
                          <a:solidFill>
                            <a:srgbClr val="1B2A1F"/>
                          </a:solidFill>
                          <a:latin typeface="Calibri" pitchFamily="34" charset="0"/>
                          <a:ea typeface="Calibri" pitchFamily="34" charset="-122"/>
                          <a:cs typeface="Calibri" pitchFamily="34" charset="-120"/>
                        </a:rPr>
                        <a:t>BCE + imputation (DR)</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tcPr>
                </a:tc>
                <a:tc>
                  <a:txBody>
                    <a:bodyPr/>
                    <a:lstStyle/>
                    <a:p>
                      <a:pPr marL="0" indent="0">
                        <a:buNone/>
                      </a:pPr>
                      <a:r>
                        <a:rPr lang="en-US" sz="1400" dirty="0">
                          <a:solidFill>
                            <a:srgbClr val="1B2A1F"/>
                          </a:solidFill>
                          <a:latin typeface="Calibri" pitchFamily="34" charset="0"/>
                          <a:ea typeface="Calibri" pitchFamily="34" charset="-122"/>
                          <a:cs typeface="Calibri" pitchFamily="34" charset="-120"/>
                        </a:rPr>
                        <a:t>GĐ1: ELBO của iVAE; GĐ2: MSE</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tcPr>
                </a:tc>
                <a:extLst>
                  <a:ext uri="{0D108BD9-81ED-4DB2-BD59-A6C34878D82A}">
                    <a16:rowId xmlns:a16="http://schemas.microsoft.com/office/drawing/2014/main" val="10001"/>
                  </a:ext>
                </a:extLst>
              </a:tr>
              <a:tr h="566928">
                <a:tc>
                  <a:txBody>
                    <a:bodyPr/>
                    <a:lstStyle/>
                    <a:p>
                      <a:pPr marL="0" indent="0">
                        <a:buNone/>
                      </a:pPr>
                      <a:r>
                        <a:rPr lang="en-US" sz="1400" b="1" dirty="0">
                          <a:solidFill>
                            <a:srgbClr val="1B2A1F"/>
                          </a:solidFill>
                          <a:latin typeface="Calibri" pitchFamily="34" charset="0"/>
                          <a:ea typeface="Calibri" pitchFamily="34" charset="-122"/>
                          <a:cs typeface="Calibri" pitchFamily="34" charset="-120"/>
                        </a:rPr>
                        <a:t>Optimizer</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solidFill>
                      <a:srgbClr val="EEF5E6"/>
                    </a:solidFill>
                  </a:tcPr>
                </a:tc>
                <a:tc>
                  <a:txBody>
                    <a:bodyPr/>
                    <a:lstStyle/>
                    <a:p>
                      <a:pPr marL="0" indent="0">
                        <a:buNone/>
                      </a:pPr>
                      <a:r>
                        <a:rPr lang="en-US" sz="1400" dirty="0">
                          <a:solidFill>
                            <a:srgbClr val="1B2A1F"/>
                          </a:solidFill>
                          <a:latin typeface="Calibri" pitchFamily="34" charset="0"/>
                          <a:ea typeface="Calibri" pitchFamily="34" charset="-122"/>
                          <a:cs typeface="Calibri" pitchFamily="34" charset="-120"/>
                        </a:rPr>
                        <a:t>Adam</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tcPr>
                </a:tc>
                <a:tc>
                  <a:txBody>
                    <a:bodyPr/>
                    <a:lstStyle/>
                    <a:p>
                      <a:pPr marL="0" indent="0">
                        <a:buNone/>
                      </a:pPr>
                      <a:r>
                        <a:rPr lang="en-US" sz="1400" dirty="0">
                          <a:solidFill>
                            <a:srgbClr val="1B2A1F"/>
                          </a:solidFill>
                          <a:latin typeface="Calibri" pitchFamily="34" charset="0"/>
                          <a:ea typeface="Calibri" pitchFamily="34" charset="-122"/>
                          <a:cs typeface="Calibri" pitchFamily="34" charset="-120"/>
                        </a:rPr>
                        <a:t>Adam + plateau (×0.5, patience 3)</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tcPr>
                </a:tc>
                <a:tc>
                  <a:txBody>
                    <a:bodyPr/>
                    <a:lstStyle/>
                    <a:p>
                      <a:pPr marL="0" indent="0">
                        <a:buNone/>
                      </a:pPr>
                      <a:r>
                        <a:rPr lang="en-US" sz="1400" dirty="0">
                          <a:solidFill>
                            <a:srgbClr val="1B2A1F"/>
                          </a:solidFill>
                          <a:latin typeface="Calibri" pitchFamily="34" charset="0"/>
                          <a:ea typeface="Calibri" pitchFamily="34" charset="-122"/>
                          <a:cs typeface="Calibri" pitchFamily="34" charset="-120"/>
                        </a:rPr>
                        <a:t>Adam</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tcPr>
                </a:tc>
                <a:extLst>
                  <a:ext uri="{0D108BD9-81ED-4DB2-BD59-A6C34878D82A}">
                    <a16:rowId xmlns:a16="http://schemas.microsoft.com/office/drawing/2014/main" val="10002"/>
                  </a:ext>
                </a:extLst>
              </a:tr>
              <a:tr h="566928">
                <a:tc>
                  <a:txBody>
                    <a:bodyPr/>
                    <a:lstStyle/>
                    <a:p>
                      <a:pPr marL="0" indent="0">
                        <a:buNone/>
                      </a:pPr>
                      <a:r>
                        <a:rPr lang="en-US" sz="1400" b="1" dirty="0">
                          <a:solidFill>
                            <a:srgbClr val="1B2A1F"/>
                          </a:solidFill>
                          <a:latin typeface="Calibri" pitchFamily="34" charset="0"/>
                          <a:ea typeface="Calibri" pitchFamily="34" charset="-122"/>
                          <a:cs typeface="Calibri" pitchFamily="34" charset="-120"/>
                        </a:rPr>
                        <a:t>Coat: lr · dim · batch</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solidFill>
                      <a:srgbClr val="EEF5E6"/>
                    </a:solidFill>
                  </a:tcPr>
                </a:tc>
                <a:tc>
                  <a:txBody>
                    <a:bodyPr/>
                    <a:lstStyle/>
                    <a:p>
                      <a:pPr marL="0" indent="0">
                        <a:buNone/>
                      </a:pPr>
                      <a:r>
                        <a:rPr lang="en-US" sz="1400" dirty="0">
                          <a:solidFill>
                            <a:srgbClr val="1B2A1F"/>
                          </a:solidFill>
                          <a:latin typeface="Calibri" pitchFamily="34" charset="0"/>
                          <a:ea typeface="Calibri" pitchFamily="34" charset="-122"/>
                          <a:cs typeface="Calibri" pitchFamily="34" charset="-120"/>
                        </a:rPr>
                        <a:t>5e-4 · 64 · 512</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tcPr>
                </a:tc>
                <a:tc>
                  <a:txBody>
                    <a:bodyPr/>
                    <a:lstStyle/>
                    <a:p>
                      <a:pPr marL="0" indent="0">
                        <a:buNone/>
                      </a:pPr>
                      <a:r>
                        <a:rPr lang="en-US" sz="1400" dirty="0">
                          <a:solidFill>
                            <a:srgbClr val="1B2A1F"/>
                          </a:solidFill>
                          <a:latin typeface="Calibri" pitchFamily="34" charset="0"/>
                          <a:ea typeface="Calibri" pitchFamily="34" charset="-122"/>
                          <a:cs typeface="Calibri" pitchFamily="34" charset="-120"/>
                        </a:rPr>
                        <a:t>2e-3 · 32 · 128</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tcPr>
                </a:tc>
                <a:tc>
                  <a:txBody>
                    <a:bodyPr/>
                    <a:lstStyle/>
                    <a:p>
                      <a:pPr marL="0" indent="0">
                        <a:buNone/>
                      </a:pPr>
                      <a:r>
                        <a:rPr lang="en-US" sz="1400" dirty="0">
                          <a:solidFill>
                            <a:srgbClr val="1B2A1F"/>
                          </a:solidFill>
                          <a:latin typeface="Calibri" pitchFamily="34" charset="0"/>
                          <a:ea typeface="Calibri" pitchFamily="34" charset="-122"/>
                          <a:cs typeface="Calibri" pitchFamily="34" charset="-120"/>
                        </a:rPr>
                        <a:t>5e-4 · 64 · 512 (latent 16)</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tcPr>
                </a:tc>
                <a:extLst>
                  <a:ext uri="{0D108BD9-81ED-4DB2-BD59-A6C34878D82A}">
                    <a16:rowId xmlns:a16="http://schemas.microsoft.com/office/drawing/2014/main" val="10003"/>
                  </a:ext>
                </a:extLst>
              </a:tr>
              <a:tr h="566928">
                <a:tc>
                  <a:txBody>
                    <a:bodyPr/>
                    <a:lstStyle/>
                    <a:p>
                      <a:pPr marL="0" indent="0">
                        <a:buNone/>
                      </a:pPr>
                      <a:r>
                        <a:rPr lang="en-US" sz="1400" b="1" dirty="0">
                          <a:solidFill>
                            <a:srgbClr val="1B2A1F"/>
                          </a:solidFill>
                          <a:latin typeface="Calibri" pitchFamily="34" charset="0"/>
                          <a:ea typeface="Calibri" pitchFamily="34" charset="-122"/>
                          <a:cs typeface="Calibri" pitchFamily="34" charset="-120"/>
                        </a:rPr>
                        <a:t>KuaiRand: lr · dim · batch</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solidFill>
                      <a:srgbClr val="EEF5E6"/>
                    </a:solidFill>
                  </a:tcPr>
                </a:tc>
                <a:tc>
                  <a:txBody>
                    <a:bodyPr/>
                    <a:lstStyle/>
                    <a:p>
                      <a:pPr marL="0" indent="0">
                        <a:buNone/>
                      </a:pPr>
                      <a:r>
                        <a:rPr lang="en-US" sz="1400" dirty="0">
                          <a:solidFill>
                            <a:srgbClr val="1B2A1F"/>
                          </a:solidFill>
                          <a:latin typeface="Calibri" pitchFamily="34" charset="0"/>
                          <a:ea typeface="Calibri" pitchFamily="34" charset="-122"/>
                          <a:cs typeface="Calibri" pitchFamily="34" charset="-120"/>
                        </a:rPr>
                        <a:t>5e-5 · 64 · 2048</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tcPr>
                </a:tc>
                <a:tc>
                  <a:txBody>
                    <a:bodyPr/>
                    <a:lstStyle/>
                    <a:p>
                      <a:pPr marL="0" indent="0">
                        <a:buNone/>
                      </a:pPr>
                      <a:r>
                        <a:rPr lang="en-US" sz="1400" dirty="0">
                          <a:solidFill>
                            <a:srgbClr val="1B2A1F"/>
                          </a:solidFill>
                          <a:latin typeface="Calibri" pitchFamily="34" charset="0"/>
                          <a:ea typeface="Calibri" pitchFamily="34" charset="-122"/>
                          <a:cs typeface="Calibri" pitchFamily="34" charset="-120"/>
                        </a:rPr>
                        <a:t>1e-3 · 128 · 8192</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tcPr>
                </a:tc>
                <a:tc>
                  <a:txBody>
                    <a:bodyPr/>
                    <a:lstStyle/>
                    <a:p>
                      <a:pPr marL="0" indent="0">
                        <a:buNone/>
                      </a:pPr>
                      <a:r>
                        <a:rPr lang="en-US" sz="1400" dirty="0">
                          <a:solidFill>
                            <a:srgbClr val="1B2A1F"/>
                          </a:solidFill>
                          <a:latin typeface="Calibri" pitchFamily="34" charset="0"/>
                          <a:ea typeface="Calibri" pitchFamily="34" charset="-122"/>
                          <a:cs typeface="Calibri" pitchFamily="34" charset="-120"/>
                        </a:rPr>
                        <a:t>Bản joint: 2e-3 · 128 · 4096</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tcPr>
                </a:tc>
                <a:extLst>
                  <a:ext uri="{0D108BD9-81ED-4DB2-BD59-A6C34878D82A}">
                    <a16:rowId xmlns:a16="http://schemas.microsoft.com/office/drawing/2014/main" val="10004"/>
                  </a:ext>
                </a:extLst>
              </a:tr>
              <a:tr h="822960">
                <a:tc>
                  <a:txBody>
                    <a:bodyPr/>
                    <a:lstStyle/>
                    <a:p>
                      <a:pPr marL="0" indent="0">
                        <a:buNone/>
                      </a:pPr>
                      <a:r>
                        <a:rPr lang="en-US" sz="1400" b="1" dirty="0">
                          <a:solidFill>
                            <a:srgbClr val="1B2A1F"/>
                          </a:solidFill>
                          <a:latin typeface="Calibri" pitchFamily="34" charset="0"/>
                          <a:ea typeface="Calibri" pitchFamily="34" charset="-122"/>
                          <a:cs typeface="Calibri" pitchFamily="34" charset="-120"/>
                        </a:rPr>
                        <a:t>Riêng mô hình</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solidFill>
                      <a:srgbClr val="EEF5E6"/>
                    </a:solidFill>
                  </a:tcPr>
                </a:tc>
                <a:tc>
                  <a:txBody>
                    <a:bodyPr/>
                    <a:lstStyle/>
                    <a:p>
                      <a:pPr marL="0" indent="0">
                        <a:buNone/>
                      </a:pPr>
                      <a:r>
                        <a:rPr lang="en-US" sz="1400" dirty="0">
                          <a:solidFill>
                            <a:srgbClr val="1B2A1F"/>
                          </a:solidFill>
                          <a:latin typeface="Calibri" pitchFamily="34" charset="0"/>
                          <a:ea typeface="Calibri" pitchFamily="34" charset="-122"/>
                          <a:cs typeface="Calibri" pitchFamily="34" charset="-120"/>
                        </a:rPr>
                        <a:t>wd 1e-6, μ = 0</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tcPr>
                </a:tc>
                <a:tc>
                  <a:txBody>
                    <a:bodyPr/>
                    <a:lstStyle/>
                    <a:p>
                      <a:pPr marL="0" indent="0">
                        <a:buNone/>
                      </a:pPr>
                      <a:r>
                        <a:rPr lang="en-US" sz="1400" dirty="0">
                          <a:solidFill>
                            <a:srgbClr val="1B2A1F"/>
                          </a:solidFill>
                          <a:latin typeface="Calibri" pitchFamily="34" charset="0"/>
                          <a:ea typeface="Calibri" pitchFamily="34" charset="-122"/>
                          <a:cs typeface="Calibri" pitchFamily="34" charset="-120"/>
                        </a:rPr>
                        <a:t>τ = 10 (lọc phương sai), MC-dropout p = 0.5, inv_p ≤ 20</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tcPr>
                </a:tc>
                <a:tc>
                  <a:txBody>
                    <a:bodyPr/>
                    <a:lstStyle/>
                    <a:p>
                      <a:pPr marL="0" indent="0">
                        <a:buNone/>
                      </a:pPr>
                      <a:r>
                        <a:rPr lang="en-US" sz="1400" dirty="0">
                          <a:solidFill>
                            <a:srgbClr val="1B2A1F"/>
                          </a:solidFill>
                          <a:latin typeface="Calibri" pitchFamily="34" charset="0"/>
                          <a:ea typeface="Calibri" pitchFamily="34" charset="-122"/>
                          <a:cs typeface="Calibri" pitchFamily="34" charset="-120"/>
                        </a:rPr>
                        <a:t>wd 1e-6, C = 0.9·C₁ + 0.9·C₂, 2SLS theo item</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Text 1"/>
          <p:cNvSpPr txBox="1"/>
          <p:nvPr/>
        </p:nvSpPr>
        <p:spPr>
          <a:xfrm>
            <a:off x="548640" y="5349240"/>
            <a:ext cx="10972800" cy="365760"/>
          </a:xfrm>
          <a:prstGeom prst="rect">
            <a:avLst/>
          </a:prstGeom>
          <a:noFill/>
          <a:ln/>
        </p:spPr>
        <p:txBody>
          <a:bodyPr wrap="square" lIns="0" tIns="0" rIns="0" bIns="0" rtlCol="0" anchor="t"/>
          <a:lstStyle/>
          <a:p>
            <a:pPr marL="0" indent="0" algn="l">
              <a:buNone/>
            </a:pPr>
            <a:r>
              <a:rPr lang="en-US" sz="1200" dirty="0">
                <a:solidFill>
                  <a:srgbClr val="5C6B5F"/>
                </a:solidFill>
                <a:latin typeface="Calibri" pitchFamily="34" charset="0"/>
                <a:ea typeface="Calibri" pitchFamily="34" charset="-122"/>
                <a:cs typeface="Calibri" pitchFamily="34" charset="-120"/>
              </a:rPr>
              <a:t>GĐ = giai đoạn. IViDR trên KuaiRand mới chạy bản joint (iDCF và IViDR 2 giai đoạn chưa chạy).</a:t>
            </a:r>
            <a:endParaRPr lang="en-US" sz="1200" dirty="0"/>
          </a:p>
        </p:txBody>
      </p:sp>
      <p:sp>
        <p:nvSpPr>
          <p:cNvPr id="25" name="Slide Number Placeholder 0"/>
          <p:cNvSpPr>
            <a:spLocks noGrp="1"/>
          </p:cNvSpPr>
          <p:nvPr>
            <p:ph type="sldNum" sz="quarter" idx="4294967295"/>
          </p:nvPr>
        </p:nvSpPr>
        <p:spPr>
          <a:xfrm>
            <a:off x="10972800" y="644652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B5F"/>
                </a:solidFill>
                <a:latin typeface="Calibri"/>
                <a:ea typeface="Calibri"/>
                <a:cs typeface="Calibri"/>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91672" cy="777240"/>
          </a:xfrm>
          <a:prstGeom prst="rect">
            <a:avLst/>
          </a:prstGeom>
          <a:noFill/>
          <a:ln/>
        </p:spPr>
        <p:txBody>
          <a:bodyPr wrap="square" lIns="0" tIns="0" rIns="0" bIns="0" rtlCol="0" anchor="ctr"/>
          <a:lstStyle/>
          <a:p>
            <a:pPr marL="0" indent="0" algn="l">
              <a:buNone/>
            </a:pPr>
            <a:r>
              <a:rPr lang="en-US" sz="3400" b="1" dirty="0">
                <a:solidFill>
                  <a:srgbClr val="1F4D2B"/>
                </a:solidFill>
                <a:latin typeface="Cambria" pitchFamily="34" charset="0"/>
                <a:ea typeface="Cambria" pitchFamily="34" charset="-122"/>
                <a:cs typeface="Cambria" pitchFamily="34" charset="-120"/>
              </a:rPr>
              <a:t>Phụ lục 2: Đầy đủ chỉ số</a:t>
            </a:r>
            <a:endParaRPr lang="en-US" sz="34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091672" cy="4279392"/>
        </p:xfrm>
        <a:graphic>
          <a:graphicData uri="http://schemas.openxmlformats.org/drawingml/2006/table">
            <a:tbl>
              <a:tblPr/>
              <a:tblGrid>
                <a:gridCol w="137160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gridCol w="192024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gridCol w="1234440">
                  <a:extLst>
                    <a:ext uri="{9D8B030D-6E8A-4147-A177-3AD203B41FA5}">
                      <a16:colId xmlns:a16="http://schemas.microsoft.com/office/drawing/2014/main" val="20005"/>
                    </a:ext>
                  </a:extLst>
                </a:gridCol>
                <a:gridCol w="850392">
                  <a:extLst>
                    <a:ext uri="{9D8B030D-6E8A-4147-A177-3AD203B41FA5}">
                      <a16:colId xmlns:a16="http://schemas.microsoft.com/office/drawing/2014/main" val="20006"/>
                    </a:ext>
                  </a:extLst>
                </a:gridCol>
              </a:tblGrid>
              <a:tr h="475488">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Dataset</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solidFill>
                      <a:srgbClr val="1F4D2B"/>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Mô hình</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solidFill>
                      <a:srgbClr val="1F4D2B"/>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NDCG@5</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solidFill>
                      <a:srgbClr val="1F4D2B"/>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Recall@5</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solidFill>
                      <a:srgbClr val="1F4D2B"/>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Precision@5</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solidFill>
                      <a:srgbClr val="1F4D2B"/>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HitRate@5</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solidFill>
                      <a:srgbClr val="1F4D2B"/>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AUC</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solidFill>
                      <a:srgbClr val="1F4D2B"/>
                    </a:solidFill>
                  </a:tcPr>
                </a:tc>
                <a:extLst>
                  <a:ext uri="{0D108BD9-81ED-4DB2-BD59-A6C34878D82A}">
                    <a16:rowId xmlns:a16="http://schemas.microsoft.com/office/drawing/2014/main" val="10000"/>
                  </a:ext>
                </a:extLst>
              </a:tr>
              <a:tr h="475488">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Coat</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solidFill>
                      <a:srgbClr val="3E7D3A"/>
                    </a:solidFill>
                  </a:tcPr>
                </a:tc>
                <a:tc>
                  <a:txBody>
                    <a:bodyPr/>
                    <a:lstStyle/>
                    <a:p>
                      <a:pPr marL="0" indent="0" algn="ctr">
                        <a:buNone/>
                      </a:pPr>
                      <a:r>
                        <a:rPr lang="en-US" sz="1400" dirty="0">
                          <a:solidFill>
                            <a:srgbClr val="1B2A1F"/>
                          </a:solidFill>
                          <a:latin typeface="Calibri" pitchFamily="34" charset="0"/>
                          <a:ea typeface="Calibri" pitchFamily="34" charset="-122"/>
                          <a:cs typeface="Calibri" pitchFamily="34" charset="-120"/>
                        </a:rPr>
                        <a:t>MF (MSE)</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tcPr>
                </a:tc>
                <a:tc>
                  <a:txBody>
                    <a:bodyPr/>
                    <a:lstStyle/>
                    <a:p>
                      <a:pPr marL="0" indent="0" algn="ctr">
                        <a:buNone/>
                      </a:pPr>
                      <a:r>
                        <a:rPr lang="en-US" sz="1400" dirty="0">
                          <a:solidFill>
                            <a:srgbClr val="1B2A1F"/>
                          </a:solidFill>
                          <a:latin typeface="Calibri" pitchFamily="34" charset="0"/>
                          <a:ea typeface="Calibri" pitchFamily="34" charset="-122"/>
                          <a:cs typeface="Calibri" pitchFamily="34" charset="-120"/>
                        </a:rPr>
                        <a:t>0.5402 ± 0.0118</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tcPr>
                </a:tc>
                <a:tc>
                  <a:txBody>
                    <a:bodyPr/>
                    <a:lstStyle/>
                    <a:p>
                      <a:pPr marL="0" indent="0" algn="ctr">
                        <a:buNone/>
                      </a:pPr>
                      <a:r>
                        <a:rPr lang="en-US" sz="1400" dirty="0">
                          <a:solidFill>
                            <a:srgbClr val="1B2A1F"/>
                          </a:solidFill>
                          <a:latin typeface="Calibri" pitchFamily="34" charset="0"/>
                          <a:ea typeface="Calibri" pitchFamily="34" charset="-122"/>
                          <a:cs typeface="Calibri" pitchFamily="34" charset="-120"/>
                        </a:rPr>
                        <a:t>0.5240 ± 0.0179</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tcPr>
                </a:tc>
                <a:tc>
                  <a:txBody>
                    <a:bodyPr/>
                    <a:lstStyle/>
                    <a:p>
                      <a:pPr marL="0" indent="0" algn="ctr">
                        <a:buNone/>
                      </a:pPr>
                      <a:r>
                        <a:rPr lang="en-US" sz="1400" dirty="0">
                          <a:solidFill>
                            <a:srgbClr val="1B2A1F"/>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tcPr>
                </a:tc>
                <a:tc>
                  <a:txBody>
                    <a:bodyPr/>
                    <a:lstStyle/>
                    <a:p>
                      <a:pPr marL="0" indent="0" algn="ctr">
                        <a:buNone/>
                      </a:pPr>
                      <a:r>
                        <a:rPr lang="en-US" sz="1400" dirty="0">
                          <a:solidFill>
                            <a:srgbClr val="1B2A1F"/>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tcPr>
                </a:tc>
                <a:tc>
                  <a:txBody>
                    <a:bodyPr/>
                    <a:lstStyle/>
                    <a:p>
                      <a:pPr marL="0" indent="0" algn="ctr">
                        <a:buNone/>
                      </a:pPr>
                      <a:r>
                        <a:rPr lang="en-US" sz="1400" dirty="0">
                          <a:solidFill>
                            <a:srgbClr val="1B2A1F"/>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tcPr>
                </a:tc>
                <a:extLst>
                  <a:ext uri="{0D108BD9-81ED-4DB2-BD59-A6C34878D82A}">
                    <a16:rowId xmlns:a16="http://schemas.microsoft.com/office/drawing/2014/main" val="10001"/>
                  </a:ext>
                </a:extLst>
              </a:tr>
              <a:tr h="475488">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Coat</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solidFill>
                      <a:srgbClr val="3E7D3A"/>
                    </a:solidFill>
                  </a:tcPr>
                </a:tc>
                <a:tc>
                  <a:txBody>
                    <a:bodyPr/>
                    <a:lstStyle/>
                    <a:p>
                      <a:pPr marL="0" indent="0" algn="ctr">
                        <a:buNone/>
                      </a:pPr>
                      <a:r>
                        <a:rPr lang="en-US" sz="1400" dirty="0">
                          <a:solidFill>
                            <a:srgbClr val="1B2A1F"/>
                          </a:solidFill>
                          <a:latin typeface="Calibri" pitchFamily="34" charset="0"/>
                          <a:ea typeface="Calibri" pitchFamily="34" charset="-122"/>
                          <a:cs typeface="Calibri" pitchFamily="34" charset="-120"/>
                        </a:rPr>
                        <a:t>iDCF (tham chiếu)</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tcPr>
                </a:tc>
                <a:tc>
                  <a:txBody>
                    <a:bodyPr/>
                    <a:lstStyle/>
                    <a:p>
                      <a:pPr marL="0" indent="0" algn="ctr">
                        <a:buNone/>
                      </a:pPr>
                      <a:r>
                        <a:rPr lang="en-US" sz="1400" dirty="0">
                          <a:solidFill>
                            <a:srgbClr val="1B2A1F"/>
                          </a:solidFill>
                          <a:latin typeface="Calibri" pitchFamily="34" charset="0"/>
                          <a:ea typeface="Calibri" pitchFamily="34" charset="-122"/>
                          <a:cs typeface="Calibri" pitchFamily="34" charset="-120"/>
                        </a:rPr>
                        <a:t>0.5704 ± 0.0124</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tcPr>
                </a:tc>
                <a:tc>
                  <a:txBody>
                    <a:bodyPr/>
                    <a:lstStyle/>
                    <a:p>
                      <a:pPr marL="0" indent="0" algn="ctr">
                        <a:buNone/>
                      </a:pPr>
                      <a:r>
                        <a:rPr lang="en-US" sz="1400" dirty="0">
                          <a:solidFill>
                            <a:srgbClr val="1B2A1F"/>
                          </a:solidFill>
                          <a:latin typeface="Calibri" pitchFamily="34" charset="0"/>
                          <a:ea typeface="Calibri" pitchFamily="34" charset="-122"/>
                          <a:cs typeface="Calibri" pitchFamily="34" charset="-120"/>
                        </a:rPr>
                        <a:t>0.5516 ± 0.0124</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tcPr>
                </a:tc>
                <a:tc>
                  <a:txBody>
                    <a:bodyPr/>
                    <a:lstStyle/>
                    <a:p>
                      <a:pPr marL="0" indent="0" algn="ctr">
                        <a:buNone/>
                      </a:pPr>
                      <a:r>
                        <a:rPr lang="en-US" sz="1400" dirty="0">
                          <a:solidFill>
                            <a:srgbClr val="1B2A1F"/>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tcPr>
                </a:tc>
                <a:tc>
                  <a:txBody>
                    <a:bodyPr/>
                    <a:lstStyle/>
                    <a:p>
                      <a:pPr marL="0" indent="0" algn="ctr">
                        <a:buNone/>
                      </a:pPr>
                      <a:r>
                        <a:rPr lang="en-US" sz="1400" dirty="0">
                          <a:solidFill>
                            <a:srgbClr val="1B2A1F"/>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tcPr>
                </a:tc>
                <a:tc>
                  <a:txBody>
                    <a:bodyPr/>
                    <a:lstStyle/>
                    <a:p>
                      <a:pPr marL="0" indent="0" algn="ctr">
                        <a:buNone/>
                      </a:pPr>
                      <a:r>
                        <a:rPr lang="en-US" sz="1400" dirty="0">
                          <a:solidFill>
                            <a:srgbClr val="1B2A1F"/>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tcPr>
                </a:tc>
                <a:extLst>
                  <a:ext uri="{0D108BD9-81ED-4DB2-BD59-A6C34878D82A}">
                    <a16:rowId xmlns:a16="http://schemas.microsoft.com/office/drawing/2014/main" val="10002"/>
                  </a:ext>
                </a:extLst>
              </a:tr>
              <a:tr h="475488">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Coat</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solidFill>
                      <a:srgbClr val="3E7D3A"/>
                    </a:solidFill>
                  </a:tcPr>
                </a:tc>
                <a:tc>
                  <a:txBody>
                    <a:bodyPr/>
                    <a:lstStyle/>
                    <a:p>
                      <a:pPr marL="0" indent="0" algn="ctr">
                        <a:buNone/>
                      </a:pPr>
                      <a:r>
                        <a:rPr lang="en-US" sz="1400" dirty="0">
                          <a:solidFill>
                            <a:srgbClr val="1B2A1F"/>
                          </a:solidFill>
                          <a:latin typeface="Calibri" pitchFamily="34" charset="0"/>
                          <a:ea typeface="Calibri" pitchFamily="34" charset="-122"/>
                          <a:cs typeface="Calibri" pitchFamily="34" charset="-120"/>
                        </a:rPr>
                        <a:t>IViDR 2 giai đoạn</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tcPr>
                </a:tc>
                <a:tc>
                  <a:txBody>
                    <a:bodyPr/>
                    <a:lstStyle/>
                    <a:p>
                      <a:pPr marL="0" indent="0" algn="ctr">
                        <a:buNone/>
                      </a:pPr>
                      <a:r>
                        <a:rPr lang="en-US" sz="1400" dirty="0">
                          <a:solidFill>
                            <a:srgbClr val="1B2A1F"/>
                          </a:solidFill>
                          <a:latin typeface="Calibri" pitchFamily="34" charset="0"/>
                          <a:ea typeface="Calibri" pitchFamily="34" charset="-122"/>
                          <a:cs typeface="Calibri" pitchFamily="34" charset="-120"/>
                        </a:rPr>
                        <a:t>0.5712 ± 0.0129</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tcPr>
                </a:tc>
                <a:tc>
                  <a:txBody>
                    <a:bodyPr/>
                    <a:lstStyle/>
                    <a:p>
                      <a:pPr marL="0" indent="0" algn="ctr">
                        <a:buNone/>
                      </a:pPr>
                      <a:r>
                        <a:rPr lang="en-US" sz="1400" dirty="0">
                          <a:solidFill>
                            <a:srgbClr val="1B2A1F"/>
                          </a:solidFill>
                          <a:latin typeface="Calibri" pitchFamily="34" charset="0"/>
                          <a:ea typeface="Calibri" pitchFamily="34" charset="-122"/>
                          <a:cs typeface="Calibri" pitchFamily="34" charset="-120"/>
                        </a:rPr>
                        <a:t>0.5549 ± 0.0157</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tcPr>
                </a:tc>
                <a:tc>
                  <a:txBody>
                    <a:bodyPr/>
                    <a:lstStyle/>
                    <a:p>
                      <a:pPr marL="0" indent="0" algn="ctr">
                        <a:buNone/>
                      </a:pPr>
                      <a:r>
                        <a:rPr lang="en-US" sz="1400" dirty="0">
                          <a:solidFill>
                            <a:srgbClr val="1B2A1F"/>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tcPr>
                </a:tc>
                <a:tc>
                  <a:txBody>
                    <a:bodyPr/>
                    <a:lstStyle/>
                    <a:p>
                      <a:pPr marL="0" indent="0" algn="ctr">
                        <a:buNone/>
                      </a:pPr>
                      <a:r>
                        <a:rPr lang="en-US" sz="1400" dirty="0">
                          <a:solidFill>
                            <a:srgbClr val="1B2A1F"/>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tcPr>
                </a:tc>
                <a:tc>
                  <a:txBody>
                    <a:bodyPr/>
                    <a:lstStyle/>
                    <a:p>
                      <a:pPr marL="0" indent="0" algn="ctr">
                        <a:buNone/>
                      </a:pPr>
                      <a:r>
                        <a:rPr lang="en-US" sz="1400" dirty="0">
                          <a:solidFill>
                            <a:srgbClr val="1B2A1F"/>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tcPr>
                </a:tc>
                <a:extLst>
                  <a:ext uri="{0D108BD9-81ED-4DB2-BD59-A6C34878D82A}">
                    <a16:rowId xmlns:a16="http://schemas.microsoft.com/office/drawing/2014/main" val="10003"/>
                  </a:ext>
                </a:extLst>
              </a:tr>
              <a:tr h="475488">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Coat</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solidFill>
                      <a:srgbClr val="3E7D3A"/>
                    </a:solidFill>
                  </a:tcPr>
                </a:tc>
                <a:tc>
                  <a:txBody>
                    <a:bodyPr/>
                    <a:lstStyle/>
                    <a:p>
                      <a:pPr marL="0" indent="0" algn="ctr">
                        <a:buNone/>
                      </a:pPr>
                      <a:r>
                        <a:rPr lang="en-US" sz="1400" dirty="0">
                          <a:solidFill>
                            <a:srgbClr val="1B2A1F"/>
                          </a:solidFill>
                          <a:latin typeface="Calibri" pitchFamily="34" charset="0"/>
                          <a:ea typeface="Calibri" pitchFamily="34" charset="-122"/>
                          <a:cs typeface="Calibri" pitchFamily="34" charset="-120"/>
                        </a:rPr>
                        <a:t>IViDR joint (cũ)</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tcPr>
                </a:tc>
                <a:tc>
                  <a:txBody>
                    <a:bodyPr/>
                    <a:lstStyle/>
                    <a:p>
                      <a:pPr marL="0" indent="0" algn="ctr">
                        <a:buNone/>
                      </a:pPr>
                      <a:r>
                        <a:rPr lang="en-US" sz="1400" dirty="0">
                          <a:solidFill>
                            <a:srgbClr val="1B2A1F"/>
                          </a:solidFill>
                          <a:latin typeface="Calibri" pitchFamily="34" charset="0"/>
                          <a:ea typeface="Calibri" pitchFamily="34" charset="-122"/>
                          <a:cs typeface="Calibri" pitchFamily="34" charset="-120"/>
                        </a:rPr>
                        <a:t>0.5440 ± 0.0147</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tcPr>
                </a:tc>
                <a:tc>
                  <a:txBody>
                    <a:bodyPr/>
                    <a:lstStyle/>
                    <a:p>
                      <a:pPr marL="0" indent="0" algn="ctr">
                        <a:buNone/>
                      </a:pPr>
                      <a:r>
                        <a:rPr lang="en-US" sz="1400" dirty="0">
                          <a:solidFill>
                            <a:srgbClr val="1B2A1F"/>
                          </a:solidFill>
                          <a:latin typeface="Calibri" pitchFamily="34" charset="0"/>
                          <a:ea typeface="Calibri" pitchFamily="34" charset="-122"/>
                          <a:cs typeface="Calibri" pitchFamily="34" charset="-120"/>
                        </a:rPr>
                        <a:t>0.5463 ± 0.0193</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tcPr>
                </a:tc>
                <a:tc>
                  <a:txBody>
                    <a:bodyPr/>
                    <a:lstStyle/>
                    <a:p>
                      <a:pPr marL="0" indent="0" algn="ctr">
                        <a:buNone/>
                      </a:pPr>
                      <a:r>
                        <a:rPr lang="en-US" sz="1400" dirty="0">
                          <a:solidFill>
                            <a:srgbClr val="1B2A1F"/>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tcPr>
                </a:tc>
                <a:tc>
                  <a:txBody>
                    <a:bodyPr/>
                    <a:lstStyle/>
                    <a:p>
                      <a:pPr marL="0" indent="0" algn="ctr">
                        <a:buNone/>
                      </a:pPr>
                      <a:r>
                        <a:rPr lang="en-US" sz="1400" dirty="0">
                          <a:solidFill>
                            <a:srgbClr val="1B2A1F"/>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tcPr>
                </a:tc>
                <a:tc>
                  <a:txBody>
                    <a:bodyPr/>
                    <a:lstStyle/>
                    <a:p>
                      <a:pPr marL="0" indent="0" algn="ctr">
                        <a:buNone/>
                      </a:pPr>
                      <a:r>
                        <a:rPr lang="en-US" sz="1400" dirty="0">
                          <a:solidFill>
                            <a:srgbClr val="1B2A1F"/>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tcPr>
                </a:tc>
                <a:extLst>
                  <a:ext uri="{0D108BD9-81ED-4DB2-BD59-A6C34878D82A}">
                    <a16:rowId xmlns:a16="http://schemas.microsoft.com/office/drawing/2014/main" val="10004"/>
                  </a:ext>
                </a:extLst>
              </a:tr>
              <a:tr h="475488">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Coat</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solidFill>
                      <a:srgbClr val="3E7D3A"/>
                    </a:solidFill>
                  </a:tcPr>
                </a:tc>
                <a:tc>
                  <a:txBody>
                    <a:bodyPr/>
                    <a:lstStyle/>
                    <a:p>
                      <a:pPr marL="0" indent="0" algn="ctr">
                        <a:buNone/>
                      </a:pPr>
                      <a:r>
                        <a:rPr lang="en-US" sz="1400" dirty="0">
                          <a:solidFill>
                            <a:srgbClr val="1B2A1F"/>
                          </a:solidFill>
                          <a:latin typeface="Calibri" pitchFamily="34" charset="0"/>
                          <a:ea typeface="Calibri" pitchFamily="34" charset="-122"/>
                          <a:cs typeface="Calibri" pitchFamily="34" charset="-120"/>
                        </a:rPr>
                        <a:t>DR-BIAS + CDR</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tcPr>
                </a:tc>
                <a:tc>
                  <a:txBody>
                    <a:bodyPr/>
                    <a:lstStyle/>
                    <a:p>
                      <a:pPr marL="0" indent="0" algn="ctr">
                        <a:buNone/>
                      </a:pPr>
                      <a:r>
                        <a:rPr lang="en-US" sz="1400" dirty="0">
                          <a:solidFill>
                            <a:srgbClr val="1B2A1F"/>
                          </a:solidFill>
                          <a:latin typeface="Calibri" pitchFamily="34" charset="0"/>
                          <a:ea typeface="Calibri" pitchFamily="34" charset="-122"/>
                          <a:cs typeface="Calibri" pitchFamily="34" charset="-120"/>
                        </a:rPr>
                        <a:t>0.5087 ± 0.0297</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tcPr>
                </a:tc>
                <a:tc>
                  <a:txBody>
                    <a:bodyPr/>
                    <a:lstStyle/>
                    <a:p>
                      <a:pPr marL="0" indent="0" algn="ctr">
                        <a:buNone/>
                      </a:pPr>
                      <a:r>
                        <a:rPr lang="en-US" sz="1400" dirty="0">
                          <a:solidFill>
                            <a:srgbClr val="1B2A1F"/>
                          </a:solidFill>
                          <a:latin typeface="Calibri" pitchFamily="34" charset="0"/>
                          <a:ea typeface="Calibri" pitchFamily="34" charset="-122"/>
                          <a:cs typeface="Calibri" pitchFamily="34" charset="-120"/>
                        </a:rPr>
                        <a:t>0.5141 ± 0.0274</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tcPr>
                </a:tc>
                <a:tc>
                  <a:txBody>
                    <a:bodyPr/>
                    <a:lstStyle/>
                    <a:p>
                      <a:pPr marL="0" indent="0" algn="ctr">
                        <a:buNone/>
                      </a:pPr>
                      <a:r>
                        <a:rPr lang="en-US" sz="1400" dirty="0">
                          <a:solidFill>
                            <a:srgbClr val="1B2A1F"/>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tcPr>
                </a:tc>
                <a:tc>
                  <a:txBody>
                    <a:bodyPr/>
                    <a:lstStyle/>
                    <a:p>
                      <a:pPr marL="0" indent="0" algn="ctr">
                        <a:buNone/>
                      </a:pPr>
                      <a:r>
                        <a:rPr lang="en-US" sz="1400" dirty="0">
                          <a:solidFill>
                            <a:srgbClr val="1B2A1F"/>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tcPr>
                </a:tc>
                <a:tc>
                  <a:txBody>
                    <a:bodyPr/>
                    <a:lstStyle/>
                    <a:p>
                      <a:pPr marL="0" indent="0" algn="ctr">
                        <a:buNone/>
                      </a:pPr>
                      <a:r>
                        <a:rPr lang="en-US" sz="1400" dirty="0">
                          <a:solidFill>
                            <a:srgbClr val="1B2A1F"/>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tcPr>
                </a:tc>
                <a:extLst>
                  <a:ext uri="{0D108BD9-81ED-4DB2-BD59-A6C34878D82A}">
                    <a16:rowId xmlns:a16="http://schemas.microsoft.com/office/drawing/2014/main" val="10005"/>
                  </a:ext>
                </a:extLst>
              </a:tr>
              <a:tr h="475488">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KuaiRand</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solidFill>
                      <a:srgbClr val="E07B1F"/>
                    </a:solidFill>
                  </a:tcPr>
                </a:tc>
                <a:tc>
                  <a:txBody>
                    <a:bodyPr/>
                    <a:lstStyle/>
                    <a:p>
                      <a:pPr marL="0" indent="0" algn="ctr">
                        <a:buNone/>
                      </a:pPr>
                      <a:r>
                        <a:rPr lang="en-US" sz="1400" dirty="0">
                          <a:solidFill>
                            <a:srgbClr val="1B2A1F"/>
                          </a:solidFill>
                          <a:latin typeface="Calibri" pitchFamily="34" charset="0"/>
                          <a:ea typeface="Calibri" pitchFamily="34" charset="-122"/>
                          <a:cs typeface="Calibri" pitchFamily="34" charset="-120"/>
                        </a:rPr>
                        <a:t>MF (MSE)</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tcPr>
                </a:tc>
                <a:tc>
                  <a:txBody>
                    <a:bodyPr/>
                    <a:lstStyle/>
                    <a:p>
                      <a:pPr marL="0" indent="0" algn="ctr">
                        <a:buNone/>
                      </a:pPr>
                      <a:r>
                        <a:rPr lang="en-US" sz="1400" dirty="0">
                          <a:solidFill>
                            <a:srgbClr val="1B2A1F"/>
                          </a:solidFill>
                          <a:latin typeface="Calibri" pitchFamily="34" charset="0"/>
                          <a:ea typeface="Calibri" pitchFamily="34" charset="-122"/>
                          <a:cs typeface="Calibri" pitchFamily="34" charset="-120"/>
                        </a:rPr>
                        <a:t>0.3744</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tcPr>
                </a:tc>
                <a:tc>
                  <a:txBody>
                    <a:bodyPr/>
                    <a:lstStyle/>
                    <a:p>
                      <a:pPr marL="0" indent="0" algn="ctr">
                        <a:buNone/>
                      </a:pPr>
                      <a:r>
                        <a:rPr lang="en-US" sz="1400" dirty="0">
                          <a:solidFill>
                            <a:srgbClr val="1B2A1F"/>
                          </a:solidFill>
                          <a:latin typeface="Calibri" pitchFamily="34" charset="0"/>
                          <a:ea typeface="Calibri" pitchFamily="34" charset="-122"/>
                          <a:cs typeface="Calibri" pitchFamily="34" charset="-120"/>
                        </a:rPr>
                        <a:t>0.3246</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tcPr>
                </a:tc>
                <a:tc>
                  <a:txBody>
                    <a:bodyPr/>
                    <a:lstStyle/>
                    <a:p>
                      <a:pPr marL="0" indent="0" algn="ctr">
                        <a:buNone/>
                      </a:pPr>
                      <a:r>
                        <a:rPr lang="en-US" sz="1400" dirty="0">
                          <a:solidFill>
                            <a:srgbClr val="1B2A1F"/>
                          </a:solidFill>
                          <a:latin typeface="Calibri" pitchFamily="34" charset="0"/>
                          <a:ea typeface="Calibri" pitchFamily="34" charset="-122"/>
                          <a:cs typeface="Calibri" pitchFamily="34" charset="-120"/>
                        </a:rPr>
                        <a:t>0.2873</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tcPr>
                </a:tc>
                <a:tc>
                  <a:txBody>
                    <a:bodyPr/>
                    <a:lstStyle/>
                    <a:p>
                      <a:pPr marL="0" indent="0" algn="ctr">
                        <a:buNone/>
                      </a:pPr>
                      <a:r>
                        <a:rPr lang="en-US" sz="1400" dirty="0">
                          <a:solidFill>
                            <a:srgbClr val="1B2A1F"/>
                          </a:solidFill>
                          <a:latin typeface="Calibri" pitchFamily="34" charset="0"/>
                          <a:ea typeface="Calibri" pitchFamily="34" charset="-122"/>
                          <a:cs typeface="Calibri" pitchFamily="34" charset="-120"/>
                        </a:rPr>
                        <a:t>0.7493</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tcPr>
                </a:tc>
                <a:tc>
                  <a:txBody>
                    <a:bodyPr/>
                    <a:lstStyle/>
                    <a:p>
                      <a:pPr marL="0" indent="0" algn="ctr">
                        <a:buNone/>
                      </a:pPr>
                      <a:r>
                        <a:rPr lang="en-US" sz="1400" dirty="0">
                          <a:solidFill>
                            <a:srgbClr val="1B2A1F"/>
                          </a:solidFill>
                          <a:latin typeface="Calibri" pitchFamily="34" charset="0"/>
                          <a:ea typeface="Calibri" pitchFamily="34" charset="-122"/>
                          <a:cs typeface="Calibri" pitchFamily="34" charset="-120"/>
                        </a:rPr>
                        <a:t>0.5897</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tcPr>
                </a:tc>
                <a:extLst>
                  <a:ext uri="{0D108BD9-81ED-4DB2-BD59-A6C34878D82A}">
                    <a16:rowId xmlns:a16="http://schemas.microsoft.com/office/drawing/2014/main" val="10006"/>
                  </a:ext>
                </a:extLst>
              </a:tr>
              <a:tr h="475488">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KuaiRand</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solidFill>
                      <a:srgbClr val="E07B1F"/>
                    </a:solidFill>
                  </a:tcPr>
                </a:tc>
                <a:tc>
                  <a:txBody>
                    <a:bodyPr/>
                    <a:lstStyle/>
                    <a:p>
                      <a:pPr marL="0" indent="0" algn="ctr">
                        <a:buNone/>
                      </a:pPr>
                      <a:r>
                        <a:rPr lang="en-US" sz="1400" dirty="0">
                          <a:solidFill>
                            <a:srgbClr val="1B2A1F"/>
                          </a:solidFill>
                          <a:latin typeface="Calibri" pitchFamily="34" charset="0"/>
                          <a:ea typeface="Calibri" pitchFamily="34" charset="-122"/>
                          <a:cs typeface="Calibri" pitchFamily="34" charset="-120"/>
                        </a:rPr>
                        <a:t>DR-BIAS + CDR</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tcPr>
                </a:tc>
                <a:tc>
                  <a:txBody>
                    <a:bodyPr/>
                    <a:lstStyle/>
                    <a:p>
                      <a:pPr marL="0" indent="0" algn="ctr">
                        <a:buNone/>
                      </a:pPr>
                      <a:r>
                        <a:rPr lang="en-US" sz="1400" dirty="0">
                          <a:solidFill>
                            <a:srgbClr val="1B2A1F"/>
                          </a:solidFill>
                          <a:latin typeface="Calibri" pitchFamily="34" charset="0"/>
                          <a:ea typeface="Calibri" pitchFamily="34" charset="-122"/>
                          <a:cs typeface="Calibri" pitchFamily="34" charset="-120"/>
                        </a:rPr>
                        <a:t>0.3459</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tcPr>
                </a:tc>
                <a:tc>
                  <a:txBody>
                    <a:bodyPr/>
                    <a:lstStyle/>
                    <a:p>
                      <a:pPr marL="0" indent="0" algn="ctr">
                        <a:buNone/>
                      </a:pPr>
                      <a:r>
                        <a:rPr lang="en-US" sz="1400" dirty="0">
                          <a:solidFill>
                            <a:srgbClr val="1B2A1F"/>
                          </a:solidFill>
                          <a:latin typeface="Calibri" pitchFamily="34" charset="0"/>
                          <a:ea typeface="Calibri" pitchFamily="34" charset="-122"/>
                          <a:cs typeface="Calibri" pitchFamily="34" charset="-120"/>
                        </a:rPr>
                        <a:t>0.2990</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tcPr>
                </a:tc>
                <a:tc>
                  <a:txBody>
                    <a:bodyPr/>
                    <a:lstStyle/>
                    <a:p>
                      <a:pPr marL="0" indent="0" algn="ctr">
                        <a:buNone/>
                      </a:pPr>
                      <a:r>
                        <a:rPr lang="en-US" sz="1400" dirty="0">
                          <a:solidFill>
                            <a:srgbClr val="1B2A1F"/>
                          </a:solidFill>
                          <a:latin typeface="Calibri" pitchFamily="34" charset="0"/>
                          <a:ea typeface="Calibri" pitchFamily="34" charset="-122"/>
                          <a:cs typeface="Calibri" pitchFamily="34" charset="-120"/>
                        </a:rPr>
                        <a:t>0.2694</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tcPr>
                </a:tc>
                <a:tc>
                  <a:txBody>
                    <a:bodyPr/>
                    <a:lstStyle/>
                    <a:p>
                      <a:pPr marL="0" indent="0" algn="ctr">
                        <a:buNone/>
                      </a:pPr>
                      <a:r>
                        <a:rPr lang="en-US" sz="1400" dirty="0">
                          <a:solidFill>
                            <a:srgbClr val="1B2A1F"/>
                          </a:solidFill>
                          <a:latin typeface="Calibri" pitchFamily="34" charset="0"/>
                          <a:ea typeface="Calibri" pitchFamily="34" charset="-122"/>
                          <a:cs typeface="Calibri" pitchFamily="34" charset="-120"/>
                        </a:rPr>
                        <a:t>0.7102</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tcPr>
                </a:tc>
                <a:tc>
                  <a:txBody>
                    <a:bodyPr/>
                    <a:lstStyle/>
                    <a:p>
                      <a:pPr marL="0" indent="0" algn="ctr">
                        <a:buNone/>
                      </a:pPr>
                      <a:r>
                        <a:rPr lang="en-US" sz="1400" dirty="0">
                          <a:solidFill>
                            <a:srgbClr val="1B2A1F"/>
                          </a:solidFill>
                          <a:latin typeface="Calibri" pitchFamily="34" charset="0"/>
                          <a:ea typeface="Calibri" pitchFamily="34" charset="-122"/>
                          <a:cs typeface="Calibri" pitchFamily="34" charset="-120"/>
                        </a:rPr>
                        <a:t>0.5609</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tcPr>
                </a:tc>
                <a:extLst>
                  <a:ext uri="{0D108BD9-81ED-4DB2-BD59-A6C34878D82A}">
                    <a16:rowId xmlns:a16="http://schemas.microsoft.com/office/drawing/2014/main" val="10007"/>
                  </a:ext>
                </a:extLst>
              </a:tr>
              <a:tr h="475488">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KuaiRand</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solidFill>
                      <a:srgbClr val="E07B1F"/>
                    </a:solidFill>
                  </a:tcPr>
                </a:tc>
                <a:tc>
                  <a:txBody>
                    <a:bodyPr/>
                    <a:lstStyle/>
                    <a:p>
                      <a:pPr marL="0" indent="0" algn="ctr">
                        <a:buNone/>
                      </a:pPr>
                      <a:r>
                        <a:rPr lang="en-US" sz="1400" dirty="0">
                          <a:solidFill>
                            <a:srgbClr val="1B2A1F"/>
                          </a:solidFill>
                          <a:latin typeface="Calibri" pitchFamily="34" charset="0"/>
                          <a:ea typeface="Calibri" pitchFamily="34" charset="-122"/>
                          <a:cs typeface="Calibri" pitchFamily="34" charset="-120"/>
                        </a:rPr>
                        <a:t>IViDR joint</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tcPr>
                </a:tc>
                <a:tc>
                  <a:txBody>
                    <a:bodyPr/>
                    <a:lstStyle/>
                    <a:p>
                      <a:pPr marL="0" indent="0" algn="ctr">
                        <a:buNone/>
                      </a:pPr>
                      <a:r>
                        <a:rPr lang="en-US" sz="1400" dirty="0">
                          <a:solidFill>
                            <a:srgbClr val="1B2A1F"/>
                          </a:solidFill>
                          <a:latin typeface="Calibri" pitchFamily="34" charset="0"/>
                          <a:ea typeface="Calibri" pitchFamily="34" charset="-122"/>
                          <a:cs typeface="Calibri" pitchFamily="34" charset="-120"/>
                        </a:rPr>
                        <a:t>0.3630</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tcPr>
                </a:tc>
                <a:tc>
                  <a:txBody>
                    <a:bodyPr/>
                    <a:lstStyle/>
                    <a:p>
                      <a:pPr marL="0" indent="0" algn="ctr">
                        <a:buNone/>
                      </a:pPr>
                      <a:r>
                        <a:rPr lang="en-US" sz="1400" dirty="0">
                          <a:solidFill>
                            <a:srgbClr val="1B2A1F"/>
                          </a:solidFill>
                          <a:latin typeface="Calibri" pitchFamily="34" charset="0"/>
                          <a:ea typeface="Calibri" pitchFamily="34" charset="-122"/>
                          <a:cs typeface="Calibri" pitchFamily="34" charset="-120"/>
                        </a:rPr>
                        <a:t>0.3191</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tcPr>
                </a:tc>
                <a:tc>
                  <a:txBody>
                    <a:bodyPr/>
                    <a:lstStyle/>
                    <a:p>
                      <a:pPr marL="0" indent="0" algn="ctr">
                        <a:buNone/>
                      </a:pPr>
                      <a:r>
                        <a:rPr lang="en-US" sz="1400" dirty="0">
                          <a:solidFill>
                            <a:srgbClr val="1B2A1F"/>
                          </a:solidFill>
                          <a:latin typeface="Calibri" pitchFamily="34" charset="0"/>
                          <a:ea typeface="Calibri" pitchFamily="34" charset="-122"/>
                          <a:cs typeface="Calibri" pitchFamily="34" charset="-120"/>
                        </a:rPr>
                        <a:t>0.2782</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tcPr>
                </a:tc>
                <a:tc>
                  <a:txBody>
                    <a:bodyPr/>
                    <a:lstStyle/>
                    <a:p>
                      <a:pPr marL="0" indent="0" algn="ctr">
                        <a:buNone/>
                      </a:pPr>
                      <a:r>
                        <a:rPr lang="en-US" sz="1400" dirty="0">
                          <a:solidFill>
                            <a:srgbClr val="1B2A1F"/>
                          </a:solidFill>
                          <a:latin typeface="Calibri" pitchFamily="34" charset="0"/>
                          <a:ea typeface="Calibri" pitchFamily="34" charset="-122"/>
                          <a:cs typeface="Calibri" pitchFamily="34" charset="-120"/>
                        </a:rPr>
                        <a:t>0.7364</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tcPr>
                </a:tc>
                <a:tc>
                  <a:txBody>
                    <a:bodyPr/>
                    <a:lstStyle/>
                    <a:p>
                      <a:pPr marL="0" indent="0" algn="ctr">
                        <a:buNone/>
                      </a:pPr>
                      <a:r>
                        <a:rPr lang="en-US" sz="1400" dirty="0">
                          <a:solidFill>
                            <a:srgbClr val="1B2A1F"/>
                          </a:solidFill>
                          <a:latin typeface="Calibri" pitchFamily="34" charset="0"/>
                          <a:ea typeface="Calibri" pitchFamily="34" charset="-122"/>
                          <a:cs typeface="Calibri" pitchFamily="34" charset="-120"/>
                        </a:rPr>
                        <a:t>0.5884</a:t>
                      </a:r>
                      <a:endParaRPr lang="en-US" sz="1400" dirty="0">
                        <a:latin typeface="Calibri" charset="0"/>
                        <a:ea typeface="Calibri" charset="0"/>
                        <a:cs typeface="Calibri" charset="0"/>
                      </a:endParaRPr>
                    </a:p>
                  </a:txBody>
                  <a:tcPr marL="64008" marR="64008" marT="64008" marB="64008" anchor="ctr">
                    <a:lnL w="9525" cap="flat" cmpd="sng" algn="ctr">
                      <a:solidFill>
                        <a:srgbClr val="DCE8CF"/>
                      </a:solidFill>
                      <a:prstDash val="solid"/>
                      <a:round/>
                      <a:headEnd type="none" w="med" len="med"/>
                      <a:tailEnd type="none" w="med" len="med"/>
                    </a:lnL>
                    <a:lnR w="9525" cap="flat" cmpd="sng" algn="ctr">
                      <a:solidFill>
                        <a:srgbClr val="DCE8CF"/>
                      </a:solidFill>
                      <a:prstDash val="solid"/>
                      <a:round/>
                      <a:headEnd type="none" w="med" len="med"/>
                      <a:tailEnd type="none" w="med" len="med"/>
                    </a:lnR>
                    <a:lnT w="9525" cap="flat" cmpd="sng" algn="ctr">
                      <a:solidFill>
                        <a:srgbClr val="DCE8CF"/>
                      </a:solidFill>
                      <a:prstDash val="solid"/>
                      <a:round/>
                      <a:headEnd type="none" w="med" len="med"/>
                      <a:tailEnd type="none" w="med" len="med"/>
                    </a:lnT>
                    <a:lnB w="9525" cap="flat" cmpd="sng" algn="ctr">
                      <a:solidFill>
                        <a:srgbClr val="DCE8CF"/>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5" name="Text 1"/>
          <p:cNvSpPr txBox="1"/>
          <p:nvPr/>
        </p:nvSpPr>
        <p:spPr>
          <a:xfrm>
            <a:off x="548640" y="5669280"/>
            <a:ext cx="10972800" cy="365760"/>
          </a:xfrm>
          <a:prstGeom prst="rect">
            <a:avLst/>
          </a:prstGeom>
          <a:noFill/>
          <a:ln/>
        </p:spPr>
        <p:txBody>
          <a:bodyPr wrap="square" lIns="0" tIns="0" rIns="0" bIns="0" rtlCol="0" anchor="t"/>
          <a:lstStyle/>
          <a:p>
            <a:pPr marL="0" indent="0" algn="l">
              <a:buNone/>
            </a:pPr>
            <a:r>
              <a:rPr lang="en-US" sz="1200" dirty="0">
                <a:solidFill>
                  <a:srgbClr val="5C6B5F"/>
                </a:solidFill>
                <a:latin typeface="Calibri" pitchFamily="34" charset="0"/>
                <a:ea typeface="Calibri" pitchFamily="34" charset="-122"/>
                <a:cs typeface="Calibri" pitchFamily="34" charset="-120"/>
              </a:rPr>
              <a:t>Coat: 10 seed (42–51), mean ± std. KuaiRand: 1 seed (42). Popularity: Coat 0.3511, KuaiRand 0.3578.</a:t>
            </a:r>
            <a:endParaRPr lang="en-US" sz="1200" dirty="0"/>
          </a:p>
        </p:txBody>
      </p:sp>
      <p:sp>
        <p:nvSpPr>
          <p:cNvPr id="25" name="Slide Number Placeholder 0"/>
          <p:cNvSpPr>
            <a:spLocks noGrp="1"/>
          </p:cNvSpPr>
          <p:nvPr>
            <p:ph type="sldNum" sz="quarter" idx="4294967295"/>
          </p:nvPr>
        </p:nvSpPr>
        <p:spPr>
          <a:xfrm>
            <a:off x="10972800" y="644652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B5F"/>
                </a:solidFill>
                <a:latin typeface="Calibri"/>
                <a:ea typeface="Calibri"/>
                <a:cs typeface="Calibri"/>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91672" cy="777240"/>
          </a:xfrm>
          <a:prstGeom prst="rect">
            <a:avLst/>
          </a:prstGeom>
          <a:noFill/>
          <a:ln/>
        </p:spPr>
        <p:txBody>
          <a:bodyPr wrap="square" lIns="0" tIns="0" rIns="0" bIns="0" rtlCol="0" anchor="ctr"/>
          <a:lstStyle/>
          <a:p>
            <a:pPr marL="0" indent="0" algn="l">
              <a:buNone/>
            </a:pPr>
            <a:r>
              <a:rPr lang="en-US" sz="3400" b="1" dirty="0">
                <a:solidFill>
                  <a:srgbClr val="1F4D2B"/>
                </a:solidFill>
                <a:latin typeface="Cambria" pitchFamily="34" charset="0"/>
                <a:ea typeface="Cambria" pitchFamily="34" charset="-122"/>
                <a:cs typeface="Cambria" pitchFamily="34" charset="-120"/>
              </a:rPr>
              <a:t>Phụ lục 3: Chi tiết chia dữ liệu</a:t>
            </a:r>
            <a:endParaRPr lang="en-US" sz="3400" dirty="0"/>
          </a:p>
        </p:txBody>
      </p:sp>
      <p:sp>
        <p:nvSpPr>
          <p:cNvPr id="4" name="sp1_bg"/>
          <p:cNvSpPr/>
          <p:nvPr/>
        </p:nvSpPr>
        <p:spPr>
          <a:xfrm>
            <a:off x="548640" y="1280160"/>
            <a:ext cx="5440680" cy="3108960"/>
          </a:xfrm>
          <a:prstGeom prst="roundRect">
            <a:avLst>
              <a:gd name="adj" fmla="val 2353"/>
            </a:avLst>
          </a:prstGeom>
          <a:solidFill>
            <a:srgbClr val="EEF5E6"/>
          </a:solidFill>
          <a:ln w="9525">
            <a:solidFill>
              <a:srgbClr val="DCE8CF"/>
            </a:solidFill>
            <a:prstDash val="solid"/>
          </a:ln>
        </p:spPr>
      </p:sp>
      <p:sp>
        <p:nvSpPr>
          <p:cNvPr id="5" name="sp1_head"/>
          <p:cNvSpPr txBox="1"/>
          <p:nvPr/>
        </p:nvSpPr>
        <p:spPr>
          <a:xfrm>
            <a:off x="731520" y="1389888"/>
            <a:ext cx="5074920" cy="365760"/>
          </a:xfrm>
          <a:prstGeom prst="rect">
            <a:avLst/>
          </a:prstGeom>
          <a:noFill/>
          <a:ln/>
        </p:spPr>
        <p:txBody>
          <a:bodyPr wrap="square" lIns="0" tIns="0" rIns="0" bIns="0" rtlCol="0" anchor="t"/>
          <a:lstStyle/>
          <a:p>
            <a:pPr marL="0" indent="0" algn="l">
              <a:buNone/>
            </a:pPr>
            <a:r>
              <a:rPr lang="en-US" sz="1600" b="1" dirty="0">
                <a:solidFill>
                  <a:srgbClr val="3E7D3A"/>
                </a:solidFill>
                <a:latin typeface="Calibri" pitchFamily="34" charset="0"/>
                <a:ea typeface="Calibri" pitchFamily="34" charset="-122"/>
                <a:cs typeface="Calibri" pitchFamily="34" charset="-120"/>
              </a:rPr>
              <a:t>Coat</a:t>
            </a:r>
            <a:endParaRPr lang="en-US" sz="1600" dirty="0"/>
          </a:p>
        </p:txBody>
      </p:sp>
      <p:sp>
        <p:nvSpPr>
          <p:cNvPr id="6" name="sp1_body"/>
          <p:cNvSpPr txBox="1"/>
          <p:nvPr/>
        </p:nvSpPr>
        <p:spPr>
          <a:xfrm>
            <a:off x="731520" y="1783080"/>
            <a:ext cx="5074920" cy="2514600"/>
          </a:xfrm>
          <a:prstGeom prst="rect">
            <a:avLst/>
          </a:prstGeom>
          <a:noFill/>
          <a:ln/>
        </p:spPr>
        <p:txBody>
          <a:bodyPr wrap="square" lIns="0" tIns="0" rIns="0" bIns="0" rtlCol="0" anchor="t"/>
          <a:lstStyle/>
          <a:p>
            <a:pPr marL="342900" indent="-342900" algn="l">
              <a:spcAft>
                <a:spcPts val="400"/>
              </a:spcAft>
              <a:buSzPct val="100000"/>
              <a:buChar char="•"/>
            </a:pPr>
            <a:r>
              <a:rPr lang="en-US" sz="1600" dirty="0">
                <a:solidFill>
                  <a:srgbClr val="1B2A1F"/>
                </a:solidFill>
                <a:latin typeface="Calibri" pitchFamily="34" charset="0"/>
                <a:ea typeface="Calibri" pitchFamily="34" charset="-122"/>
                <a:cs typeface="Calibri" pitchFamily="34" charset="-120"/>
              </a:rPr>
              <a:t>87 user validation (1,392 đánh giá)</a:t>
            </a:r>
            <a:endParaRPr lang="en-US" sz="1600" dirty="0"/>
          </a:p>
          <a:p>
            <a:pPr marL="342900" indent="-342900" algn="l">
              <a:spcAft>
                <a:spcPts val="400"/>
              </a:spcAft>
              <a:buSzPct val="100000"/>
              <a:buChar char="•"/>
            </a:pPr>
            <a:r>
              <a:rPr lang="en-US" sz="1600" dirty="0">
                <a:solidFill>
                  <a:srgbClr val="1B2A1F"/>
                </a:solidFill>
                <a:latin typeface="Calibri" pitchFamily="34" charset="0"/>
                <a:ea typeface="Calibri" pitchFamily="34" charset="-122"/>
                <a:cs typeface="Calibri" pitchFamily="34" charset="-120"/>
              </a:rPr>
              <a:t>203 user test (3,248 đánh giá)</a:t>
            </a:r>
            <a:endParaRPr lang="en-US" sz="1600" dirty="0"/>
          </a:p>
          <a:p>
            <a:pPr marL="342900" indent="-342900" algn="l">
              <a:spcAft>
                <a:spcPts val="400"/>
              </a:spcAft>
              <a:buSzPct val="100000"/>
              <a:buChar char="•"/>
            </a:pPr>
            <a:r>
              <a:rPr lang="en-US" sz="1600" dirty="0">
                <a:solidFill>
                  <a:srgbClr val="1B2A1F"/>
                </a:solidFill>
                <a:latin typeface="Calibri" pitchFamily="34" charset="0"/>
                <a:ea typeface="Calibri" pitchFamily="34" charset="-122"/>
                <a:cs typeface="Calibri" pitchFamily="34" charset="-120"/>
              </a:rPr>
              <a:t>Test: 16 candidate/user, tỷ lệ dương 0.193</a:t>
            </a:r>
            <a:endParaRPr lang="en-US" sz="1600" dirty="0"/>
          </a:p>
          <a:p>
            <a:pPr marL="342900" indent="-342900" algn="l">
              <a:spcAft>
                <a:spcPts val="400"/>
              </a:spcAft>
              <a:buSzPct val="100000"/>
              <a:buChar char="•"/>
            </a:pPr>
            <a:r>
              <a:rPr lang="en-US" sz="1600" dirty="0">
                <a:solidFill>
                  <a:srgbClr val="1B2A1F"/>
                </a:solidFill>
                <a:latin typeface="Calibri" pitchFamily="34" charset="0"/>
                <a:ea typeface="Calibri" pitchFamily="34" charset="-122"/>
                <a:cs typeface="Calibri" pitchFamily="34" charset="-120"/>
              </a:rPr>
              <a:t>36 user test không có dương tính: loại khỏi chỉ số trung bình</a:t>
            </a:r>
            <a:endParaRPr lang="en-US" sz="1600" dirty="0"/>
          </a:p>
          <a:p>
            <a:pPr marL="342900" indent="-342900" algn="l">
              <a:spcAft>
                <a:spcPts val="400"/>
              </a:spcAft>
              <a:buSzPct val="100000"/>
              <a:buChar char="•"/>
            </a:pPr>
            <a:r>
              <a:rPr lang="en-US" sz="1600" dirty="0">
                <a:solidFill>
                  <a:srgbClr val="1B2A1F"/>
                </a:solidFill>
                <a:latin typeface="Calibri" pitchFamily="34" charset="0"/>
                <a:ea typeface="Calibri" pitchFamily="34" charset="-122"/>
                <a:cs typeface="Calibri" pitchFamily="34" charset="-120"/>
              </a:rPr>
              <a:t>Giao nhau train/random: 366 cặp (247 ở test), công bố, không loại bỏ</a:t>
            </a:r>
            <a:endParaRPr lang="en-US" sz="1600" dirty="0"/>
          </a:p>
        </p:txBody>
      </p:sp>
      <p:sp>
        <p:nvSpPr>
          <p:cNvPr id="7" name="sp2_bg"/>
          <p:cNvSpPr/>
          <p:nvPr/>
        </p:nvSpPr>
        <p:spPr>
          <a:xfrm>
            <a:off x="6199632" y="1280160"/>
            <a:ext cx="5440680" cy="3108960"/>
          </a:xfrm>
          <a:prstGeom prst="roundRect">
            <a:avLst>
              <a:gd name="adj" fmla="val 2353"/>
            </a:avLst>
          </a:prstGeom>
          <a:solidFill>
            <a:srgbClr val="EEF5E6"/>
          </a:solidFill>
          <a:ln w="9525">
            <a:solidFill>
              <a:srgbClr val="DCE8CF"/>
            </a:solidFill>
            <a:prstDash val="solid"/>
          </a:ln>
        </p:spPr>
      </p:sp>
      <p:sp>
        <p:nvSpPr>
          <p:cNvPr id="8" name="sp2_head"/>
          <p:cNvSpPr txBox="1"/>
          <p:nvPr/>
        </p:nvSpPr>
        <p:spPr>
          <a:xfrm>
            <a:off x="6382512" y="1389888"/>
            <a:ext cx="5074920" cy="365760"/>
          </a:xfrm>
          <a:prstGeom prst="rect">
            <a:avLst/>
          </a:prstGeom>
          <a:noFill/>
          <a:ln/>
        </p:spPr>
        <p:txBody>
          <a:bodyPr wrap="square" lIns="0" tIns="0" rIns="0" bIns="0" rtlCol="0" anchor="t"/>
          <a:lstStyle/>
          <a:p>
            <a:pPr marL="0" indent="0" algn="l">
              <a:buNone/>
            </a:pPr>
            <a:r>
              <a:rPr lang="en-US" sz="1600" b="1" dirty="0">
                <a:solidFill>
                  <a:srgbClr val="E07B1F"/>
                </a:solidFill>
                <a:latin typeface="Calibri" pitchFamily="34" charset="0"/>
                <a:ea typeface="Calibri" pitchFamily="34" charset="-122"/>
                <a:cs typeface="Calibri" pitchFamily="34" charset="-120"/>
              </a:rPr>
              <a:t>KuaiRand-Pure</a:t>
            </a:r>
            <a:endParaRPr lang="en-US" sz="1600" dirty="0"/>
          </a:p>
        </p:txBody>
      </p:sp>
      <p:sp>
        <p:nvSpPr>
          <p:cNvPr id="9" name="sp2_body"/>
          <p:cNvSpPr txBox="1"/>
          <p:nvPr/>
        </p:nvSpPr>
        <p:spPr>
          <a:xfrm>
            <a:off x="6382512" y="1783080"/>
            <a:ext cx="5074920" cy="2514600"/>
          </a:xfrm>
          <a:prstGeom prst="rect">
            <a:avLst/>
          </a:prstGeom>
          <a:noFill/>
          <a:ln/>
        </p:spPr>
        <p:txBody>
          <a:bodyPr wrap="square" lIns="0" tIns="0" rIns="0" bIns="0" rtlCol="0" anchor="t"/>
          <a:lstStyle/>
          <a:p>
            <a:pPr marL="342900" indent="-342900" algn="l">
              <a:spcAft>
                <a:spcPts val="400"/>
              </a:spcAft>
              <a:buSzPct val="100000"/>
              <a:buChar char="•"/>
            </a:pPr>
            <a:r>
              <a:rPr lang="en-US" sz="1600" dirty="0">
                <a:solidFill>
                  <a:srgbClr val="1B2A1F"/>
                </a:solidFill>
                <a:latin typeface="Calibri" pitchFamily="34" charset="0"/>
                <a:ea typeface="Calibri" pitchFamily="34" charset="-122"/>
                <a:cs typeface="Calibri" pitchFamily="34" charset="-120"/>
              </a:rPr>
              <a:t>7,060 user validation (283,437 dòng)</a:t>
            </a:r>
            <a:endParaRPr lang="en-US" sz="1600" dirty="0"/>
          </a:p>
          <a:p>
            <a:pPr marL="342900" indent="-342900" algn="l">
              <a:spcAft>
                <a:spcPts val="400"/>
              </a:spcAft>
              <a:buSzPct val="100000"/>
              <a:buChar char="•"/>
            </a:pPr>
            <a:r>
              <a:rPr lang="en-US" sz="1600" dirty="0">
                <a:solidFill>
                  <a:srgbClr val="1B2A1F"/>
                </a:solidFill>
                <a:latin typeface="Calibri" pitchFamily="34" charset="0"/>
                <a:ea typeface="Calibri" pitchFamily="34" charset="-122"/>
                <a:cs typeface="Calibri" pitchFamily="34" charset="-120"/>
              </a:rPr>
              <a:t>16,473 user test (671,377 dòng)</a:t>
            </a:r>
            <a:endParaRPr lang="en-US" sz="1600" dirty="0"/>
          </a:p>
          <a:p>
            <a:pPr marL="342900" indent="-342900" algn="l">
              <a:spcAft>
                <a:spcPts val="400"/>
              </a:spcAft>
              <a:buSzPct val="100000"/>
              <a:buChar char="•"/>
            </a:pPr>
            <a:r>
              <a:rPr lang="en-US" sz="1600" dirty="0">
                <a:solidFill>
                  <a:srgbClr val="1B2A1F"/>
                </a:solidFill>
                <a:latin typeface="Calibri" pitchFamily="34" charset="0"/>
                <a:ea typeface="Calibri" pitchFamily="34" charset="-122"/>
                <a:cs typeface="Calibri" pitchFamily="34" charset="-120"/>
              </a:rPr>
              <a:t>Candidate/user: p10 = 10, p50 = 20, p90 = 93</a:t>
            </a:r>
            <a:endParaRPr lang="en-US" sz="1600" dirty="0"/>
          </a:p>
          <a:p>
            <a:pPr marL="342900" indent="-342900" algn="l">
              <a:spcAft>
                <a:spcPts val="400"/>
              </a:spcAft>
              <a:buSzPct val="100000"/>
              <a:buChar char="•"/>
            </a:pPr>
            <a:r>
              <a:rPr lang="en-US" sz="1600" dirty="0">
                <a:solidFill>
                  <a:srgbClr val="1B2A1F"/>
                </a:solidFill>
                <a:latin typeface="Calibri" pitchFamily="34" charset="0"/>
                <a:ea typeface="Calibri" pitchFamily="34" charset="-122"/>
                <a:cs typeface="Calibri" pitchFamily="34" charset="-120"/>
              </a:rPr>
              <a:t>2,971 user test không có dương tính</a:t>
            </a:r>
            <a:endParaRPr lang="en-US" sz="1600" dirty="0"/>
          </a:p>
          <a:p>
            <a:pPr marL="342900" indent="-342900" algn="l">
              <a:spcAft>
                <a:spcPts val="400"/>
              </a:spcAft>
              <a:buSzPct val="100000"/>
              <a:buChar char="•"/>
            </a:pPr>
            <a:r>
              <a:rPr lang="en-US" sz="1600" dirty="0">
                <a:solidFill>
                  <a:srgbClr val="1B2A1F"/>
                </a:solidFill>
                <a:latin typeface="Calibri" pitchFamily="34" charset="0"/>
                <a:ea typeface="Calibri" pitchFamily="34" charset="-122"/>
                <a:cs typeface="Calibri" pitchFamily="34" charset="-120"/>
              </a:rPr>
              <a:t>Chia user 30/70 (seed 1234)</a:t>
            </a:r>
            <a:endParaRPr lang="en-US" sz="1600" dirty="0"/>
          </a:p>
        </p:txBody>
      </p:sp>
      <p:sp>
        <p:nvSpPr>
          <p:cNvPr id="10" name="sp3_bg"/>
          <p:cNvSpPr/>
          <p:nvPr/>
        </p:nvSpPr>
        <p:spPr>
          <a:xfrm>
            <a:off x="548640" y="4572000"/>
            <a:ext cx="11091672" cy="1645920"/>
          </a:xfrm>
          <a:prstGeom prst="roundRect">
            <a:avLst>
              <a:gd name="adj" fmla="val 4444"/>
            </a:avLst>
          </a:prstGeom>
          <a:solidFill>
            <a:srgbClr val="EEF5E6"/>
          </a:solidFill>
          <a:ln w="9525">
            <a:solidFill>
              <a:srgbClr val="DCE8CF"/>
            </a:solidFill>
            <a:prstDash val="solid"/>
          </a:ln>
        </p:spPr>
      </p:sp>
      <p:sp>
        <p:nvSpPr>
          <p:cNvPr id="11" name="sp3_head"/>
          <p:cNvSpPr txBox="1"/>
          <p:nvPr/>
        </p:nvSpPr>
        <p:spPr>
          <a:xfrm>
            <a:off x="731520" y="4681728"/>
            <a:ext cx="10725912" cy="365760"/>
          </a:xfrm>
          <a:prstGeom prst="rect">
            <a:avLst/>
          </a:prstGeom>
          <a:noFill/>
          <a:ln/>
        </p:spPr>
        <p:txBody>
          <a:bodyPr wrap="square" lIns="0" tIns="0" rIns="0" bIns="0" rtlCol="0" anchor="t"/>
          <a:lstStyle/>
          <a:p>
            <a:pPr marL="0" indent="0" algn="l">
              <a:buNone/>
            </a:pPr>
            <a:r>
              <a:rPr lang="en-US" sz="1600" b="1" dirty="0">
                <a:solidFill>
                  <a:srgbClr val="1F4D2B"/>
                </a:solidFill>
                <a:latin typeface="Calibri" pitchFamily="34" charset="0"/>
                <a:ea typeface="Calibri" pitchFamily="34" charset="-122"/>
                <a:cs typeface="Calibri" pitchFamily="34" charset="-120"/>
              </a:rPr>
              <a:t>Baseline tham chiếu (NDCG@5)</a:t>
            </a:r>
            <a:endParaRPr lang="en-US" sz="1600" dirty="0"/>
          </a:p>
        </p:txBody>
      </p:sp>
      <p:sp>
        <p:nvSpPr>
          <p:cNvPr id="12" name="sp3_body"/>
          <p:cNvSpPr txBox="1"/>
          <p:nvPr/>
        </p:nvSpPr>
        <p:spPr>
          <a:xfrm>
            <a:off x="731520" y="5074920"/>
            <a:ext cx="10725912" cy="1051560"/>
          </a:xfrm>
          <a:prstGeom prst="rect">
            <a:avLst/>
          </a:prstGeom>
          <a:noFill/>
          <a:ln/>
        </p:spPr>
        <p:txBody>
          <a:bodyPr wrap="square" lIns="0" tIns="0" rIns="0" bIns="0" rtlCol="0" anchor="t"/>
          <a:lstStyle/>
          <a:p>
            <a:pPr marL="342900" indent="-342900" algn="l">
              <a:spcAft>
                <a:spcPts val="400"/>
              </a:spcAft>
              <a:buSzPct val="100000"/>
              <a:buChar char="•"/>
            </a:pPr>
            <a:r>
              <a:rPr lang="en-US" sz="1400" dirty="0">
                <a:solidFill>
                  <a:srgbClr val="1B2A1F"/>
                </a:solidFill>
                <a:latin typeface="Calibri" pitchFamily="34" charset="0"/>
                <a:ea typeface="Calibri" pitchFamily="34" charset="-122"/>
                <a:cs typeface="Calibri" pitchFamily="34" charset="-120"/>
              </a:rPr>
              <a:t>Coat: Random 0.2986, Popularity 0.3511</a:t>
            </a:r>
            <a:endParaRPr lang="en-US" sz="1400" dirty="0"/>
          </a:p>
          <a:p>
            <a:pPr marL="342900" indent="-342900" algn="l">
              <a:spcAft>
                <a:spcPts val="400"/>
              </a:spcAft>
              <a:buSzPct val="100000"/>
              <a:buChar char="•"/>
            </a:pPr>
            <a:r>
              <a:rPr lang="en-US" sz="1400" dirty="0">
                <a:solidFill>
                  <a:srgbClr val="1B2A1F"/>
                </a:solidFill>
                <a:latin typeface="Calibri" pitchFamily="34" charset="0"/>
                <a:ea typeface="Calibri" pitchFamily="34" charset="-122"/>
                <a:cs typeface="Calibri" pitchFamily="34" charset="-120"/>
              </a:rPr>
              <a:t>KuaiRand: Random 0.2595, Popularity 0.3578</a:t>
            </a:r>
            <a:endParaRPr lang="en-US" sz="1400" dirty="0"/>
          </a:p>
        </p:txBody>
      </p:sp>
      <p:sp>
        <p:nvSpPr>
          <p:cNvPr id="25" name="Slide Number Placeholder 0"/>
          <p:cNvSpPr>
            <a:spLocks noGrp="1"/>
          </p:cNvSpPr>
          <p:nvPr>
            <p:ph type="sldNum" sz="quarter" idx="4294967295"/>
          </p:nvPr>
        </p:nvSpPr>
        <p:spPr>
          <a:xfrm>
            <a:off x="10972800" y="644652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B5F"/>
                </a:solidFill>
                <a:latin typeface="Calibri"/>
                <a:ea typeface="Calibri"/>
                <a:cs typeface="Calibri"/>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91672" cy="777240"/>
          </a:xfrm>
          <a:prstGeom prst="rect">
            <a:avLst/>
          </a:prstGeom>
          <a:noFill/>
          <a:ln/>
        </p:spPr>
        <p:txBody>
          <a:bodyPr wrap="square" lIns="0" tIns="0" rIns="0" bIns="0" rtlCol="0" anchor="ctr"/>
          <a:lstStyle/>
          <a:p>
            <a:pPr marL="0" indent="0" algn="l">
              <a:buNone/>
            </a:pPr>
            <a:r>
              <a:rPr lang="en-US" sz="3400" b="1" dirty="0">
                <a:solidFill>
                  <a:srgbClr val="1F4D2B"/>
                </a:solidFill>
                <a:latin typeface="Cambria" pitchFamily="34" charset="0"/>
                <a:ea typeface="Cambria" pitchFamily="34" charset="-122"/>
                <a:cs typeface="Cambria" pitchFamily="34" charset="-120"/>
              </a:rPr>
              <a:t>Phụ lục 4: Câu hỏi thường gặp</a:t>
            </a:r>
            <a:endParaRPr lang="en-US" sz="3400" dirty="0"/>
          </a:p>
        </p:txBody>
      </p:sp>
      <p:sp>
        <p:nvSpPr>
          <p:cNvPr id="4" name="qa0_bg"/>
          <p:cNvSpPr/>
          <p:nvPr/>
        </p:nvSpPr>
        <p:spPr>
          <a:xfrm>
            <a:off x="548640" y="1280160"/>
            <a:ext cx="5440680" cy="2286000"/>
          </a:xfrm>
          <a:prstGeom prst="roundRect">
            <a:avLst>
              <a:gd name="adj" fmla="val 3200"/>
            </a:avLst>
          </a:prstGeom>
          <a:solidFill>
            <a:srgbClr val="EEF5E6"/>
          </a:solidFill>
          <a:ln w="9525">
            <a:solidFill>
              <a:srgbClr val="DCE8CF"/>
            </a:solidFill>
            <a:prstDash val="solid"/>
          </a:ln>
        </p:spPr>
      </p:sp>
      <p:sp>
        <p:nvSpPr>
          <p:cNvPr id="5" name="qa0_head"/>
          <p:cNvSpPr txBox="1"/>
          <p:nvPr/>
        </p:nvSpPr>
        <p:spPr>
          <a:xfrm>
            <a:off x="731520" y="1389888"/>
            <a:ext cx="5074920" cy="365760"/>
          </a:xfrm>
          <a:prstGeom prst="rect">
            <a:avLst/>
          </a:prstGeom>
          <a:noFill/>
          <a:ln/>
        </p:spPr>
        <p:txBody>
          <a:bodyPr wrap="square" lIns="0" tIns="0" rIns="0" bIns="0" rtlCol="0" anchor="t"/>
          <a:lstStyle/>
          <a:p>
            <a:pPr marL="0" indent="0" algn="l">
              <a:buNone/>
            </a:pPr>
            <a:r>
              <a:rPr lang="en-US" sz="1600" b="1" dirty="0">
                <a:solidFill>
                  <a:srgbClr val="1F4D2B"/>
                </a:solidFill>
                <a:latin typeface="Calibri" pitchFamily="34" charset="0"/>
                <a:ea typeface="Calibri" pitchFamily="34" charset="-122"/>
                <a:cs typeface="Calibri" pitchFamily="34" charset="-120"/>
              </a:rPr>
              <a:t>Vì sao kết quả thấp hơn bài báo?</a:t>
            </a:r>
            <a:endParaRPr lang="en-US" sz="1600" dirty="0"/>
          </a:p>
        </p:txBody>
      </p:sp>
      <p:sp>
        <p:nvSpPr>
          <p:cNvPr id="6" name="qa0_body"/>
          <p:cNvSpPr txBox="1"/>
          <p:nvPr/>
        </p:nvSpPr>
        <p:spPr>
          <a:xfrm>
            <a:off x="731520" y="1783080"/>
            <a:ext cx="5074920" cy="1691640"/>
          </a:xfrm>
          <a:prstGeom prst="rect">
            <a:avLst/>
          </a:prstGeom>
          <a:noFill/>
          <a:ln/>
        </p:spPr>
        <p:txBody>
          <a:bodyPr wrap="square" lIns="0" tIns="0" rIns="0" bIns="0" rtlCol="0" anchor="t"/>
          <a:lstStyle/>
          <a:p>
            <a:pPr marL="0" indent="0" algn="l">
              <a:buNone/>
            </a:pPr>
            <a:r>
              <a:rPr lang="en-US" sz="1600" dirty="0">
                <a:solidFill>
                  <a:srgbClr val="1B2A1F"/>
                </a:solidFill>
                <a:latin typeface="Calibri" pitchFamily="34" charset="0"/>
                <a:ea typeface="Calibri" pitchFamily="34" charset="-122"/>
                <a:cs typeface="Calibri" pitchFamily="34" charset="-120"/>
              </a:rPr>
              <a:t>Chủ yếu do hàm loss của MF (BCE → MSE: +0.076) và giao thức chấm điểm CDR khác (rating ≥ 3, random đã 0.46). Với đúng cấu hình, MF khớp bài báo.</a:t>
            </a:r>
            <a:endParaRPr lang="en-US" sz="1600" dirty="0"/>
          </a:p>
        </p:txBody>
      </p:sp>
      <p:sp>
        <p:nvSpPr>
          <p:cNvPr id="7" name="qa1_bg"/>
          <p:cNvSpPr/>
          <p:nvPr/>
        </p:nvSpPr>
        <p:spPr>
          <a:xfrm>
            <a:off x="6199632" y="1280160"/>
            <a:ext cx="5440680" cy="2286000"/>
          </a:xfrm>
          <a:prstGeom prst="roundRect">
            <a:avLst>
              <a:gd name="adj" fmla="val 3200"/>
            </a:avLst>
          </a:prstGeom>
          <a:solidFill>
            <a:srgbClr val="EEF5E6"/>
          </a:solidFill>
          <a:ln w="9525">
            <a:solidFill>
              <a:srgbClr val="DCE8CF"/>
            </a:solidFill>
            <a:prstDash val="solid"/>
          </a:ln>
        </p:spPr>
      </p:sp>
      <p:sp>
        <p:nvSpPr>
          <p:cNvPr id="8" name="qa1_head"/>
          <p:cNvSpPr txBox="1"/>
          <p:nvPr/>
        </p:nvSpPr>
        <p:spPr>
          <a:xfrm>
            <a:off x="6382512" y="1389888"/>
            <a:ext cx="5074920" cy="365760"/>
          </a:xfrm>
          <a:prstGeom prst="rect">
            <a:avLst/>
          </a:prstGeom>
          <a:noFill/>
          <a:ln/>
        </p:spPr>
        <p:txBody>
          <a:bodyPr wrap="square" lIns="0" tIns="0" rIns="0" bIns="0" rtlCol="0" anchor="t"/>
          <a:lstStyle/>
          <a:p>
            <a:pPr marL="0" indent="0" algn="l">
              <a:buNone/>
            </a:pPr>
            <a:r>
              <a:rPr lang="en-US" sz="1600" b="1" dirty="0">
                <a:solidFill>
                  <a:srgbClr val="1F4D2B"/>
                </a:solidFill>
                <a:latin typeface="Calibri" pitchFamily="34" charset="0"/>
                <a:ea typeface="Calibri" pitchFamily="34" charset="-122"/>
                <a:cs typeface="Calibri" pitchFamily="34" charset="-120"/>
              </a:rPr>
              <a:t>Vì sao CDR kém MF trên Coat?</a:t>
            </a:r>
            <a:endParaRPr lang="en-US" sz="1600" dirty="0"/>
          </a:p>
        </p:txBody>
      </p:sp>
      <p:sp>
        <p:nvSpPr>
          <p:cNvPr id="9" name="qa1_body"/>
          <p:cNvSpPr txBox="1"/>
          <p:nvPr/>
        </p:nvSpPr>
        <p:spPr>
          <a:xfrm>
            <a:off x="6382512" y="1783080"/>
            <a:ext cx="5074920" cy="1691640"/>
          </a:xfrm>
          <a:prstGeom prst="rect">
            <a:avLst/>
          </a:prstGeom>
          <a:noFill/>
          <a:ln/>
        </p:spPr>
        <p:txBody>
          <a:bodyPr wrap="square" lIns="0" tIns="0" rIns="0" bIns="0" rtlCol="0" anchor="t"/>
          <a:lstStyle/>
          <a:p>
            <a:pPr marL="0" indent="0" algn="l">
              <a:buNone/>
            </a:pPr>
            <a:r>
              <a:rPr lang="en-US" sz="1600" dirty="0">
                <a:solidFill>
                  <a:srgbClr val="1B2A1F"/>
                </a:solidFill>
                <a:latin typeface="Calibri" pitchFamily="34" charset="0"/>
                <a:ea typeface="Calibri" pitchFamily="34" charset="-122"/>
                <a:cs typeface="Calibri" pitchFamily="34" charset="-120"/>
              </a:rPr>
              <a:t>Khung CDR dùng sai số BCE nên chịu cùng điểm yếu của BCE; điểm tốt nhất đến từ khởi tạo MF-MSE (epoch 1). Bản port đúng mã tác giả cũng chỉ đạt 0.482, nên không phải lỗi cài đặt.</a:t>
            </a:r>
            <a:endParaRPr lang="en-US" sz="1600" dirty="0"/>
          </a:p>
        </p:txBody>
      </p:sp>
      <p:sp>
        <p:nvSpPr>
          <p:cNvPr id="10" name="qa2_bg"/>
          <p:cNvSpPr/>
          <p:nvPr/>
        </p:nvSpPr>
        <p:spPr>
          <a:xfrm>
            <a:off x="548640" y="3749040"/>
            <a:ext cx="5440680" cy="2286000"/>
          </a:xfrm>
          <a:prstGeom prst="roundRect">
            <a:avLst>
              <a:gd name="adj" fmla="val 3200"/>
            </a:avLst>
          </a:prstGeom>
          <a:solidFill>
            <a:srgbClr val="EEF5E6"/>
          </a:solidFill>
          <a:ln w="9525">
            <a:solidFill>
              <a:srgbClr val="DCE8CF"/>
            </a:solidFill>
            <a:prstDash val="solid"/>
          </a:ln>
        </p:spPr>
      </p:sp>
      <p:sp>
        <p:nvSpPr>
          <p:cNvPr id="11" name="qa2_head"/>
          <p:cNvSpPr txBox="1"/>
          <p:nvPr/>
        </p:nvSpPr>
        <p:spPr>
          <a:xfrm>
            <a:off x="731520" y="3858768"/>
            <a:ext cx="5074920" cy="365760"/>
          </a:xfrm>
          <a:prstGeom prst="rect">
            <a:avLst/>
          </a:prstGeom>
          <a:noFill/>
          <a:ln/>
        </p:spPr>
        <p:txBody>
          <a:bodyPr wrap="square" lIns="0" tIns="0" rIns="0" bIns="0" rtlCol="0" anchor="t"/>
          <a:lstStyle/>
          <a:p>
            <a:pPr marL="0" indent="0" algn="l">
              <a:buNone/>
            </a:pPr>
            <a:r>
              <a:rPr lang="en-US" sz="1600" b="1" dirty="0">
                <a:solidFill>
                  <a:srgbClr val="1F4D2B"/>
                </a:solidFill>
                <a:latin typeface="Calibri" pitchFamily="34" charset="0"/>
                <a:ea typeface="Calibri" pitchFamily="34" charset="-122"/>
                <a:cs typeface="Calibri" pitchFamily="34" charset="-120"/>
              </a:rPr>
              <a:t>IViDR có thật sự khử thiên lệch?</a:t>
            </a:r>
            <a:endParaRPr lang="en-US" sz="1600" dirty="0"/>
          </a:p>
        </p:txBody>
      </p:sp>
      <p:sp>
        <p:nvSpPr>
          <p:cNvPr id="12" name="qa2_body"/>
          <p:cNvSpPr txBox="1"/>
          <p:nvPr/>
        </p:nvSpPr>
        <p:spPr>
          <a:xfrm>
            <a:off x="731520" y="4251960"/>
            <a:ext cx="5074920" cy="1691640"/>
          </a:xfrm>
          <a:prstGeom prst="rect">
            <a:avLst/>
          </a:prstGeom>
          <a:noFill/>
          <a:ln/>
        </p:spPr>
        <p:txBody>
          <a:bodyPr wrap="square" lIns="0" tIns="0" rIns="0" bIns="0" rtlCol="0" anchor="t"/>
          <a:lstStyle/>
          <a:p>
            <a:pPr marL="0" indent="0" algn="l">
              <a:buNone/>
            </a:pPr>
            <a:r>
              <a:rPr lang="en-US" sz="1600" dirty="0">
                <a:solidFill>
                  <a:srgbClr val="1B2A1F"/>
                </a:solidFill>
                <a:latin typeface="Calibri" pitchFamily="34" charset="0"/>
                <a:ea typeface="Calibri" pitchFamily="34" charset="-122"/>
                <a:cs typeface="Calibri" pitchFamily="34" charset="-120"/>
              </a:rPr>
              <a:t>Bản 2 giai đoạn hơn MF +0.031 (p = 0.002, thắng 10/10 seed) nhưng chỉ hơn iDCF +0.0009 (p = 0.28): lợi thế đến từ kiến trúc iDCF, nhánh IV địa phương chưa đóng góp thêm.</a:t>
            </a:r>
            <a:endParaRPr lang="en-US" sz="1600" dirty="0"/>
          </a:p>
        </p:txBody>
      </p:sp>
      <p:sp>
        <p:nvSpPr>
          <p:cNvPr id="13" name="qa3_bg"/>
          <p:cNvSpPr/>
          <p:nvPr/>
        </p:nvSpPr>
        <p:spPr>
          <a:xfrm>
            <a:off x="6199632" y="3749040"/>
            <a:ext cx="5440680" cy="2286000"/>
          </a:xfrm>
          <a:prstGeom prst="roundRect">
            <a:avLst>
              <a:gd name="adj" fmla="val 3200"/>
            </a:avLst>
          </a:prstGeom>
          <a:solidFill>
            <a:srgbClr val="EEF5E6"/>
          </a:solidFill>
          <a:ln w="9525">
            <a:solidFill>
              <a:srgbClr val="DCE8CF"/>
            </a:solidFill>
            <a:prstDash val="solid"/>
          </a:ln>
        </p:spPr>
      </p:sp>
      <p:sp>
        <p:nvSpPr>
          <p:cNvPr id="14" name="qa3_head"/>
          <p:cNvSpPr txBox="1"/>
          <p:nvPr/>
        </p:nvSpPr>
        <p:spPr>
          <a:xfrm>
            <a:off x="6382512" y="3858768"/>
            <a:ext cx="5074920" cy="365760"/>
          </a:xfrm>
          <a:prstGeom prst="rect">
            <a:avLst/>
          </a:prstGeom>
          <a:noFill/>
          <a:ln/>
        </p:spPr>
        <p:txBody>
          <a:bodyPr wrap="square" lIns="0" tIns="0" rIns="0" bIns="0" rtlCol="0" anchor="t"/>
          <a:lstStyle/>
          <a:p>
            <a:pPr marL="0" indent="0" algn="l">
              <a:buNone/>
            </a:pPr>
            <a:r>
              <a:rPr lang="en-US" sz="1600" b="1" dirty="0">
                <a:solidFill>
                  <a:srgbClr val="1F4D2B"/>
                </a:solidFill>
                <a:latin typeface="Calibri" pitchFamily="34" charset="0"/>
                <a:ea typeface="Calibri" pitchFamily="34" charset="-122"/>
                <a:cs typeface="Calibri" pitchFamily="34" charset="-120"/>
              </a:rPr>
              <a:t>IViDR đã triển khai chưa?</a:t>
            </a:r>
            <a:endParaRPr lang="en-US" sz="1600" dirty="0"/>
          </a:p>
        </p:txBody>
      </p:sp>
      <p:sp>
        <p:nvSpPr>
          <p:cNvPr id="15" name="qa3_body"/>
          <p:cNvSpPr txBox="1"/>
          <p:nvPr/>
        </p:nvSpPr>
        <p:spPr>
          <a:xfrm>
            <a:off x="6382512" y="4251960"/>
            <a:ext cx="5074920" cy="1691640"/>
          </a:xfrm>
          <a:prstGeom prst="rect">
            <a:avLst/>
          </a:prstGeom>
          <a:noFill/>
          <a:ln/>
        </p:spPr>
        <p:txBody>
          <a:bodyPr wrap="square" lIns="0" tIns="0" rIns="0" bIns="0" rtlCol="0" anchor="t"/>
          <a:lstStyle/>
          <a:p>
            <a:pPr marL="0" indent="0" algn="l">
              <a:buNone/>
            </a:pPr>
            <a:r>
              <a:rPr lang="en-US" sz="1600" dirty="0">
                <a:solidFill>
                  <a:srgbClr val="1B2A1F"/>
                </a:solidFill>
                <a:latin typeface="Calibri" pitchFamily="34" charset="0"/>
                <a:ea typeface="Calibri" pitchFamily="34" charset="-122"/>
                <a:cs typeface="Calibri" pitchFamily="34" charset="-120"/>
              </a:rPr>
              <a:t>Chưa: API phục vụ MF và CDR, IViDR fallback về MF. Bài báo không công bố code nên nhánh IV theo giả định.</a:t>
            </a:r>
            <a:endParaRPr lang="en-US" sz="1600" dirty="0"/>
          </a:p>
        </p:txBody>
      </p:sp>
      <p:sp>
        <p:nvSpPr>
          <p:cNvPr id="25" name="Slide Number Placeholder 0"/>
          <p:cNvSpPr>
            <a:spLocks noGrp="1"/>
          </p:cNvSpPr>
          <p:nvPr>
            <p:ph type="sldNum" sz="quarter" idx="4294967295"/>
          </p:nvPr>
        </p:nvSpPr>
        <p:spPr>
          <a:xfrm>
            <a:off x="10972800" y="644652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B5F"/>
                </a:solidFill>
                <a:latin typeface="Calibri"/>
                <a:ea typeface="Calibri"/>
                <a:cs typeface="Calibri"/>
              </a:defRPr>
            </a:lvl1pPr>
          </a:lstStyle>
          <a:p>
            <a:pPr algn="r"/>
            <a:fld id="{F7021451-1387-4CA6-816F-3879F97B5CBC}" type="slidenum">
              <a:rPr lang="en-US" b="0"/>
              <a:t>24</a:t>
            </a:fld>
            <a:endParaRPr lang="en-US"/>
          </a:p>
        </p:txBody>
      </p:sp>
    </p:spTree>
  </p:cSld>
  <p:clrMapOvr>
    <a:masterClrMapping/>
  </p:clrMapOvr>
</p:sld>
</file>

<file path=ppt/theme/theme1.xml><?xml version="1.0" encoding="utf-8"?>
<a:theme xmlns:a="http://schemas.openxmlformats.org/drawingml/2006/main" name="TopTop Forest">
  <a:themeElements>
    <a:clrScheme name="TopTop Forest">
      <a:dk1>
        <a:srgbClr val="1B2A1F"/>
      </a:dk1>
      <a:lt1>
        <a:srgbClr val="FFFFFF"/>
      </a:lt1>
      <a:dk2>
        <a:srgbClr val="1F4D2B"/>
      </a:dk2>
      <a:lt2>
        <a:srgbClr val="EEF5E6"/>
      </a:lt2>
      <a:accent1>
        <a:srgbClr val="3E7D3A"/>
      </a:accent1>
      <a:accent2>
        <a:srgbClr val="2E6FA3"/>
      </a:accent2>
      <a:accent3>
        <a:srgbClr val="E07B1F"/>
      </a:accent3>
      <a:accent4>
        <a:srgbClr val="6B4FA0"/>
      </a:accent4>
      <a:accent5>
        <a:srgbClr val="8DB255"/>
      </a:accent5>
      <a:accent6>
        <a:srgbClr val="B3382C"/>
      </a:accent6>
      <a:hlink>
        <a:srgbClr val="2E6FA3"/>
      </a:hlink>
      <a:folHlink>
        <a:srgbClr val="6B4FA0"/>
      </a:folHlink>
    </a:clrScheme>
    <a:fontScheme name="TopTop Fores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4710</Words>
  <Application>Microsoft Office PowerPoint</Application>
  <PresentationFormat>Widescreen</PresentationFormat>
  <Paragraphs>530</Paragraphs>
  <Slides>24</Slides>
  <Notes>24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Arial</vt:lpstr>
      <vt:lpstr>Calibri</vt:lpstr>
      <vt:lpstr>Cambria</vt:lpstr>
      <vt:lpstr>TopTop Forest</vt:lpstr>
      <vt:lpstr>PowerPoint Presentation</vt:lpstr>
      <vt:lpstr>Bối cảnh: video nông sản bị chìm</vt:lpstr>
      <vt:lpstr>Vì sao CF truyền thống bị đánh lừa</vt:lpstr>
      <vt:lpstr>Mục tiêu và câu hỏi nghiên cứu</vt:lpstr>
      <vt:lpstr>Hai dataset: Coat và KuaiRand-Pure</vt:lpstr>
      <vt:lpstr>Quy trình tiền xử lý</vt:lpstr>
      <vt:lpstr>Bằng chứng thiên lệch trong dữ liệu</vt:lpstr>
      <vt:lpstr>Công cụ và thư viện sử dụng</vt:lpstr>
      <vt:lpstr>Giao thức đánh giá công bằng</vt:lpstr>
      <vt:lpstr>Mô hình 1: Matrix Factorization (baseline)</vt:lpstr>
      <vt:lpstr>Mô hình 2: DR-BIAS + CDR</vt:lpstr>
      <vt:lpstr>Mô hình 3: IViDR (IV + iVAE, 2 giai đoạn)</vt:lpstr>
      <vt:lpstr>So sánh ba mô hình</vt:lpstr>
      <vt:lpstr>Mỗi mô hình can thiệp ở đâu?</vt:lpstr>
      <vt:lpstr>Chi phí huấn luyện (KuaiRand, CPU)</vt:lpstr>
      <vt:lpstr>Kết quả trên Coat (10 seed)</vt:lpstr>
      <vt:lpstr>Kết quả trên KuaiRand-Pure</vt:lpstr>
      <vt:lpstr>Vì sao thấp hơn bài báo?</vt:lpstr>
      <vt:lpstr>Hệ thống gợi ý cho app TopTop</vt:lpstr>
      <vt:lpstr>Kết luận và hướng phát triển</vt:lpstr>
      <vt:lpstr>Phụ lục 1: Siêu tham số chính</vt:lpstr>
      <vt:lpstr>Phụ lục 2: Đầy đủ chỉ số</vt:lpstr>
      <vt:lpstr>Phụ lục 3: Chi tiết chia dữ liệu</vt:lpstr>
      <vt:lpstr>Phụ lục 4: Câu hỏi thường gặp</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Hệ gợi ý video ngắn nông sản – MF, DR-BIAS+CDR, IViDR</dc:title>
  <dc:subject>Đồ án chuyên ngành – Đại học Đà Lạt</dc:subject>
  <dc:creator>Phùng Nguyễn Hoài Bo, Vũ Thế Huỳnh</dc:creator>
  <cp:lastModifiedBy>Phùng Nguyễn Hoài bo</cp:lastModifiedBy>
  <cp:revision>2</cp:revision>
  <dcterms:created xsi:type="dcterms:W3CDTF">2026-10-16T00:44:22Z</dcterms:created>
  <dcterms:modified xsi:type="dcterms:W3CDTF">2026-10-16T01:21:50Z</dcterms:modified>
</cp:coreProperties>
</file>